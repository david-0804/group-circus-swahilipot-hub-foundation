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1"/>
    <p:sldId id="256" r:id="rId2"/>
    <p:sldId id="257" r:id="rId3"/>
    <p:sldId id="258" r:id="rId4"/>
    <p:sldId id="259" r:id="rId5"/>
    <p:sldId id="260" r:id="rId6"/>
    <p:sldId id="261" r:id="rId7"/>
    <p:sldId id="262" r:id="rId8"/>
    <p:sldId id="263" r:id="rId9"/>
    <p:sldId id="264" r:id="rId10"/>
    <p:sldId id="265" r:id="rId11"/>
    <p:sldId id="267" r:id="rId18"/>
    <p:sldId id="268" r:id="rId19"/>
    <p:sldId id="269" r:id="rId20"/>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Enhancements</c:v>
                </c:pt>
              </c:strCache>
            </c:strRef>
          </c:tx>
          <c:spPr>
            <a:solidFill>
              <a:srgbClr val="1E40AF"/>
            </a:solidFill>
            <a:effectLst/>
          </c:spPr>
          <c:invertIfNegative val="0"/>
          <c:dLbls>
            <c:numFmt formatCode="#,##0" sourceLinked="0"/>
            <c:txPr>
              <a:bodyPr/>
              <a:lstStyle/>
              <a:p>
                <a:pPr>
                  <a:defRPr b="0" i="0" strike="noStrike" sz="1200" u="none">
                    <a:solidFill>
                      <a:srgbClr val="13233F"/>
                    </a:solidFill>
                    <a:latin typeface="Arial"/>
                  </a:defRPr>
                </a:pPr>
              </a:p>
            </c:txPr>
            <c:showLegendKey val="0"/>
            <c:showVal val="1"/>
            <c:showCatName val="0"/>
            <c:showSerName val="0"/>
            <c:showPercent val="0"/>
            <c:showBubbleSize val="0"/>
            <c:showLeaderLines val="0"/>
          </c:dLbls>
          <c:cat>
            <c:multiLvlStrRef>
              <c:f>Sheet1!$A$2:$A$8</c:f>
              <c:multiLvlStrCache>
                <c:ptCount val="7"/>
                <c:lvl>
                  <c:pt idx="0">
                    <c:v>Internship</c:v>
                  </c:pt>
                  <c:pt idx="1">
                    <c:v>Broadcast</c:v>
                  </c:pt>
                  <c:pt idx="2">
                    <c:v>FM Ops</c:v>
                  </c:pt>
                  <c:pt idx="3">
                    <c:v>Newsroom</c:v>
                  </c:pt>
                  <c:pt idx="4">
                    <c:v>Security</c:v>
                  </c:pt>
                  <c:pt idx="5">
                    <c:v>Analytics</c:v>
                  </c:pt>
                  <c:pt idx="6">
                    <c:v>Infrastructure</c:v>
                  </c:pt>
                </c:lvl>
              </c:multiLvlStrCache>
            </c:multiLvlStrRef>
          </c:cat>
          <c:val>
            <c:numRef>
              <c:f>Sheet1!$B$2:$B$8</c:f>
              <c:numCache>
                <c:formatCode>General</c:formatCode>
                <c:ptCount val="7"/>
                <c:pt idx="0">
                  <c:v>7</c:v>
                </c:pt>
                <c:pt idx="1">
                  <c:v>5</c:v>
                </c:pt>
                <c:pt idx="2">
                  <c:v>3</c:v>
                </c:pt>
                <c:pt idx="3">
                  <c:v>5</c:v>
                </c:pt>
                <c:pt idx="4">
                  <c:v>5</c:v>
                </c:pt>
                <c:pt idx="5">
                  <c:v>5</c:v>
                </c:pt>
                <c:pt idx="6">
                  <c:v>6</c:v>
                </c:pt>
              </c:numCache>
            </c:numRef>
          </c:val>
        </c:ser>
        <c:dLbls>
          <c:numFmt formatCode="#,##0" sourceLinked="0"/>
          <c:txPr>
            <a:bodyPr/>
            <a:lstStyle/>
            <a:p>
              <a:pPr>
                <a:defRPr b="0" i="0" strike="noStrike" sz="1200" u="none">
                  <a:solidFill>
                    <a:srgbClr val="13233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Liberation Sans"/>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E5EC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Liberation Sans"/>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swahilipot_logo.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swahilipot_logo.png"/></Relationships>
</file>

<file path=ppt/slides/_rels/slide3.xml.rels><?xml version="1.0" encoding="UTF-8"?><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swahilipot_logo.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swahilipot_logo.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swahilipot_logo.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swahilipot_logo.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swahilipot_logo.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swahilipot_logo.png"/></Relationships>
</file>

<file path=ppt/slides/_rels/slide9.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swahilipot_logo.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swahilipot_logo.png"/></Relationships>
</file>

<file path=ppt/slides/_rels/slide11.xml.rels><?xml version="1.0" encoding="UTF-8"?><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swahilipot_logo.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wahilipot_logo.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wahilipot_logo.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wahilipot_logo.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wahilipot_logo.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assets/swahilipot_cover_hero.jpg"/>
          <p:cNvPicPr>
            <a:picLocks noChangeAspect="1"/>
          </p:cNvPicPr>
          <p:nvPr/>
        </p:nvPicPr>
        <p:blipFill>
          <a:blip r:embed="rId1"/>
          <a:srcRect l="389" r="389"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72A">
              <a:alpha val="58000"/>
            </a:srgbClr>
          </a:solidFill>
          <a:ln w="12700">
            <a:solidFill>
              <a:srgbClr val="0F172A">
                <a:alpha val="0"/>
              </a:srgbClr>
            </a:solidFill>
            <a:prstDash val="solid"/>
          </a:ln>
        </p:spPr>
      </p:sp>
      <p:sp>
        <p:nvSpPr>
          <p:cNvPr id="4" name="Shape 1"/>
          <p:cNvSpPr/>
          <p:nvPr/>
        </p:nvSpPr>
        <p:spPr>
          <a:xfrm>
            <a:off x="530352" y="640080"/>
            <a:ext cx="5257800" cy="4041648"/>
          </a:xfrm>
          <a:prstGeom prst="rect">
            <a:avLst/>
          </a:prstGeom>
          <a:solidFill>
            <a:srgbClr val="0F172A">
              <a:alpha val="60000"/>
            </a:srgbClr>
          </a:solidFill>
          <a:ln w="12700">
            <a:solidFill>
              <a:srgbClr val="FFFFFF">
                <a:alpha val="18000"/>
              </a:srgbClr>
            </a:solidFill>
            <a:prstDash val="solid"/>
          </a:ln>
        </p:spPr>
      </p:sp>
      <p:sp>
        <p:nvSpPr>
          <p:cNvPr id="5" name="Shape 2"/>
          <p:cNvSpPr/>
          <p:nvPr/>
        </p:nvSpPr>
        <p:spPr>
          <a:xfrm>
            <a:off x="822960" y="932688"/>
            <a:ext cx="2670048" cy="310896"/>
          </a:xfrm>
          <a:prstGeom prst="roundRect">
            <a:avLst>
              <a:gd name="adj" fmla="val 23529"/>
            </a:avLst>
          </a:prstGeom>
          <a:solidFill>
            <a:srgbClr val="284B8C"/>
          </a:solidFill>
          <a:ln w="12700">
            <a:solidFill>
              <a:srgbClr val="284B8C">
                <a:alpha val="0"/>
              </a:srgbClr>
            </a:solidFill>
            <a:prstDash val="solid"/>
          </a:ln>
        </p:spPr>
      </p:sp>
      <p:sp>
        <p:nvSpPr>
          <p:cNvPr id="6" name="Text 3"/>
          <p:cNvSpPr/>
          <p:nvPr/>
        </p:nvSpPr>
        <p:spPr>
          <a:xfrm>
            <a:off x="932688" y="982980"/>
            <a:ext cx="2450592"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Liberation Mono" pitchFamily="34" charset="0"/>
                <a:ea typeface="Liberation Mono" pitchFamily="34" charset="-122"/>
                <a:cs typeface="Liberation Mono" pitchFamily="34" charset="-120"/>
              </a:rPr>
              <a:t>ENHANCEMENT &amp; IMPROVEMENT REPORT</a:t>
            </a:r>
            <a:endParaRPr lang="en-US" sz="850" dirty="0"/>
          </a:p>
        </p:txBody>
      </p:sp>
      <p:sp>
        <p:nvSpPr>
          <p:cNvPr id="7" name="Text 4"/>
          <p:cNvSpPr/>
          <p:nvPr/>
        </p:nvSpPr>
        <p:spPr>
          <a:xfrm>
            <a:off x="841248" y="1389888"/>
            <a:ext cx="4389120" cy="1371600"/>
          </a:xfrm>
          <a:prstGeom prst="rect">
            <a:avLst/>
          </a:prstGeom>
          <a:noFill/>
          <a:ln/>
        </p:spPr>
        <p:txBody>
          <a:bodyPr wrap="square" lIns="0" tIns="0" rIns="0" bIns="0" rtlCol="0" anchor="ctr">
            <a:normAutofit/>
          </a:bodyPr>
          <a:lstStyle/>
          <a:p>
            <a:pPr indent="0" marL="0">
              <a:buNone/>
            </a:pPr>
            <a:r>
              <a:rPr lang="en-US" sz="2597" b="1" dirty="0">
                <a:solidFill>
                  <a:srgbClr val="FFFFFF"/>
                </a:solidFill>
                <a:latin typeface="Liberation Sans" pitchFamily="34" charset="0"/>
                <a:ea typeface="Liberation Sans" pitchFamily="34" charset="-122"/>
                <a:cs typeface="Liberation Sans" pitchFamily="34" charset="-120"/>
              </a:rPr>
              <a:t>Swahilipot</a:t>
            </a:r>
            <a:endParaRPr lang="en-US" sz="2597" dirty="0"/>
          </a:p>
          <a:p>
            <a:pPr indent="0" marL="0">
              <a:buNone/>
            </a:pPr>
            <a:r>
              <a:rPr lang="en-US" sz="2597" b="1" dirty="0">
                <a:solidFill>
                  <a:srgbClr val="FFFFFF"/>
                </a:solidFill>
                <a:latin typeface="Liberation Sans" pitchFamily="34" charset="0"/>
                <a:ea typeface="Liberation Sans" pitchFamily="34" charset="-122"/>
                <a:cs typeface="Liberation Sans" pitchFamily="34" charset="-120"/>
              </a:rPr>
              <a:t>Management System</a:t>
            </a:r>
            <a:endParaRPr lang="en-US" sz="2597" dirty="0"/>
          </a:p>
        </p:txBody>
      </p:sp>
      <p:sp>
        <p:nvSpPr>
          <p:cNvPr id="8" name="Text 5"/>
          <p:cNvSpPr/>
          <p:nvPr/>
        </p:nvSpPr>
        <p:spPr>
          <a:xfrm>
            <a:off x="868680" y="2926080"/>
            <a:ext cx="4297680" cy="914400"/>
          </a:xfrm>
          <a:prstGeom prst="rect">
            <a:avLst/>
          </a:prstGeom>
          <a:noFill/>
          <a:ln/>
        </p:spPr>
        <p:txBody>
          <a:bodyPr wrap="square" lIns="0" tIns="0" rIns="0" bIns="0" rtlCol="0" anchor="t"/>
          <a:lstStyle/>
          <a:p>
            <a:pPr indent="0" marL="0">
              <a:buNone/>
            </a:pPr>
            <a:r>
              <a:rPr lang="en-US" sz="1200" dirty="0">
                <a:solidFill>
                  <a:srgbClr val="E5EEFF"/>
                </a:solidFill>
                <a:latin typeface="Liberation Sans" pitchFamily="34" charset="0"/>
                <a:ea typeface="Liberation Sans" pitchFamily="34" charset="-122"/>
                <a:cs typeface="Liberation Sans" pitchFamily="34" charset="-120"/>
              </a:rPr>
              <a:t>A polished executive presentation of the major upgrades delivered across internship management, media operations, FM monitoring, newsroom workflows, security, reporting, and platform scalability.</a:t>
            </a:r>
            <a:endParaRPr lang="en-US" sz="1200" dirty="0"/>
          </a:p>
        </p:txBody>
      </p:sp>
      <p:sp>
        <p:nvSpPr>
          <p:cNvPr id="9" name="Text 6"/>
          <p:cNvSpPr/>
          <p:nvPr/>
        </p:nvSpPr>
        <p:spPr>
          <a:xfrm>
            <a:off x="868680" y="4160520"/>
            <a:ext cx="4389120" cy="256032"/>
          </a:xfrm>
          <a:prstGeom prst="rect">
            <a:avLst/>
          </a:prstGeom>
          <a:noFill/>
          <a:ln/>
        </p:spPr>
        <p:txBody>
          <a:bodyPr wrap="square" lIns="0" tIns="0" rIns="0" bIns="0" rtlCol="0" anchor="ctr"/>
          <a:lstStyle/>
          <a:p>
            <a:pPr indent="0" marL="0">
              <a:buNone/>
            </a:pPr>
            <a:r>
              <a:rPr lang="en-US" sz="1000" dirty="0">
                <a:solidFill>
                  <a:srgbClr val="D6E8FF"/>
                </a:solidFill>
                <a:latin typeface="Liberation Mono" pitchFamily="34" charset="0"/>
                <a:ea typeface="Liberation Mono" pitchFamily="34" charset="-122"/>
                <a:cs typeface="Liberation Mono" pitchFamily="34" charset="-120"/>
              </a:rPr>
              <a:t>Platform modernization with stronger control, visibility, and scale.</a:t>
            </a:r>
            <a:endParaRPr lang="en-US" sz="1000" dirty="0"/>
          </a:p>
        </p:txBody>
      </p:sp>
      <p:sp>
        <p:nvSpPr>
          <p:cNvPr id="10" name="Shape 7"/>
          <p:cNvSpPr/>
          <p:nvPr/>
        </p:nvSpPr>
        <p:spPr>
          <a:xfrm>
            <a:off x="841248" y="4892040"/>
            <a:ext cx="1005840" cy="786384"/>
          </a:xfrm>
          <a:prstGeom prst="roundRect">
            <a:avLst>
              <a:gd name="adj" fmla="val 1395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Text 8"/>
          <p:cNvSpPr/>
          <p:nvPr/>
        </p:nvSpPr>
        <p:spPr>
          <a:xfrm>
            <a:off x="969264" y="4983480"/>
            <a:ext cx="749808" cy="256032"/>
          </a:xfrm>
          <a:prstGeom prst="rect">
            <a:avLst/>
          </a:prstGeom>
          <a:noFill/>
          <a:ln/>
        </p:spPr>
        <p:txBody>
          <a:bodyPr wrap="square" lIns="0" tIns="0" rIns="0" bIns="0" rtlCol="0" anchor="ctr"/>
          <a:lstStyle/>
          <a:p>
            <a:pPr algn="ctr" indent="0" marL="0">
              <a:buNone/>
            </a:pPr>
            <a:r>
              <a:rPr lang="en-US" sz="1800" b="1" dirty="0">
                <a:solidFill>
                  <a:srgbClr val="F59E0B"/>
                </a:solidFill>
                <a:latin typeface="Liberation Sans" pitchFamily="34" charset="0"/>
                <a:ea typeface="Liberation Sans" pitchFamily="34" charset="-122"/>
                <a:cs typeface="Liberation Sans" pitchFamily="34" charset="-120"/>
              </a:rPr>
              <a:t>100m</a:t>
            </a:r>
            <a:endParaRPr lang="en-US" sz="1800" dirty="0"/>
          </a:p>
        </p:txBody>
      </p:sp>
      <p:sp>
        <p:nvSpPr>
          <p:cNvPr id="12" name="Text 9"/>
          <p:cNvSpPr/>
          <p:nvPr/>
        </p:nvSpPr>
        <p:spPr>
          <a:xfrm>
            <a:off x="969264" y="5276088"/>
            <a:ext cx="749808" cy="182880"/>
          </a:xfrm>
          <a:prstGeom prst="rect">
            <a:avLst/>
          </a:prstGeom>
          <a:noFill/>
          <a:ln/>
        </p:spPr>
        <p:txBody>
          <a:bodyPr wrap="square" lIns="0" tIns="0" rIns="0" bIns="0" rtlCol="0" anchor="ctr"/>
          <a:lstStyle/>
          <a:p>
            <a:pPr algn="ctr" indent="0" marL="0">
              <a:buNone/>
            </a:pPr>
            <a:r>
              <a:rPr lang="en-US" sz="850" dirty="0">
                <a:solidFill>
                  <a:srgbClr val="FFFFFF"/>
                </a:solidFill>
                <a:latin typeface="Liberation Sans" pitchFamily="34" charset="0"/>
                <a:ea typeface="Liberation Sans" pitchFamily="34" charset="-122"/>
                <a:cs typeface="Liberation Sans" pitchFamily="34" charset="-120"/>
              </a:rPr>
              <a:t>Geofence control</a:t>
            </a:r>
            <a:endParaRPr lang="en-US" sz="850" dirty="0"/>
          </a:p>
        </p:txBody>
      </p:sp>
      <p:sp>
        <p:nvSpPr>
          <p:cNvPr id="13" name="Shape 10"/>
          <p:cNvSpPr/>
          <p:nvPr/>
        </p:nvSpPr>
        <p:spPr>
          <a:xfrm>
            <a:off x="1920240" y="4892040"/>
            <a:ext cx="1005840" cy="786384"/>
          </a:xfrm>
          <a:prstGeom prst="roundRect">
            <a:avLst>
              <a:gd name="adj" fmla="val 1395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4" name="Text 11"/>
          <p:cNvSpPr/>
          <p:nvPr/>
        </p:nvSpPr>
        <p:spPr>
          <a:xfrm>
            <a:off x="2048256" y="4983480"/>
            <a:ext cx="749808" cy="256032"/>
          </a:xfrm>
          <a:prstGeom prst="rect">
            <a:avLst/>
          </a:prstGeom>
          <a:noFill/>
          <a:ln/>
        </p:spPr>
        <p:txBody>
          <a:bodyPr wrap="square" lIns="0" tIns="0" rIns="0" bIns="0" rtlCol="0" anchor="ctr"/>
          <a:lstStyle/>
          <a:p>
            <a:pPr algn="ctr" indent="0" marL="0">
              <a:buNone/>
            </a:pPr>
            <a:r>
              <a:rPr lang="en-US" sz="1800" b="1" dirty="0">
                <a:solidFill>
                  <a:srgbClr val="F59E0B"/>
                </a:solidFill>
                <a:latin typeface="Liberation Sans" pitchFamily="34" charset="0"/>
                <a:ea typeface="Liberation Sans" pitchFamily="34" charset="-122"/>
                <a:cs typeface="Liberation Sans" pitchFamily="34" charset="-120"/>
              </a:rPr>
              <a:t>5 min</a:t>
            </a:r>
            <a:endParaRPr lang="en-US" sz="1800" dirty="0"/>
          </a:p>
        </p:txBody>
      </p:sp>
      <p:sp>
        <p:nvSpPr>
          <p:cNvPr id="15" name="Text 12"/>
          <p:cNvSpPr/>
          <p:nvPr/>
        </p:nvSpPr>
        <p:spPr>
          <a:xfrm>
            <a:off x="2048256" y="5276088"/>
            <a:ext cx="749808" cy="182880"/>
          </a:xfrm>
          <a:prstGeom prst="rect">
            <a:avLst/>
          </a:prstGeom>
          <a:noFill/>
          <a:ln/>
        </p:spPr>
        <p:txBody>
          <a:bodyPr wrap="square" lIns="0" tIns="0" rIns="0" bIns="0" rtlCol="0" anchor="ctr"/>
          <a:lstStyle/>
          <a:p>
            <a:pPr algn="ctr" indent="0" marL="0">
              <a:buNone/>
            </a:pPr>
            <a:r>
              <a:rPr lang="en-US" sz="850" dirty="0">
                <a:solidFill>
                  <a:srgbClr val="FFFFFF"/>
                </a:solidFill>
                <a:latin typeface="Liberation Sans" pitchFamily="34" charset="0"/>
                <a:ea typeface="Liberation Sans" pitchFamily="34" charset="-122"/>
                <a:cs typeface="Liberation Sans" pitchFamily="34" charset="-120"/>
              </a:rPr>
              <a:t>Heartbeat checks</a:t>
            </a:r>
            <a:endParaRPr lang="en-US" sz="850" dirty="0"/>
          </a:p>
        </p:txBody>
      </p:sp>
      <p:sp>
        <p:nvSpPr>
          <p:cNvPr id="16" name="Shape 13"/>
          <p:cNvSpPr/>
          <p:nvPr/>
        </p:nvSpPr>
        <p:spPr>
          <a:xfrm>
            <a:off x="2999232" y="4892040"/>
            <a:ext cx="1005840" cy="786384"/>
          </a:xfrm>
          <a:prstGeom prst="roundRect">
            <a:avLst>
              <a:gd name="adj" fmla="val 1395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7" name="Text 14"/>
          <p:cNvSpPr/>
          <p:nvPr/>
        </p:nvSpPr>
        <p:spPr>
          <a:xfrm>
            <a:off x="3127248" y="4983480"/>
            <a:ext cx="749808" cy="256032"/>
          </a:xfrm>
          <a:prstGeom prst="rect">
            <a:avLst/>
          </a:prstGeom>
          <a:noFill/>
          <a:ln/>
        </p:spPr>
        <p:txBody>
          <a:bodyPr wrap="square" lIns="0" tIns="0" rIns="0" bIns="0" rtlCol="0" anchor="ctr"/>
          <a:lstStyle/>
          <a:p>
            <a:pPr algn="ctr" indent="0" marL="0">
              <a:buNone/>
            </a:pPr>
            <a:r>
              <a:rPr lang="en-US" sz="1800" b="1" dirty="0">
                <a:solidFill>
                  <a:srgbClr val="F59E0B"/>
                </a:solidFill>
                <a:latin typeface="Liberation Sans" pitchFamily="34" charset="0"/>
                <a:ea typeface="Liberation Sans" pitchFamily="34" charset="-122"/>
                <a:cs typeface="Liberation Sans" pitchFamily="34" charset="-120"/>
              </a:rPr>
              <a:t>30/7</a:t>
            </a:r>
            <a:endParaRPr lang="en-US" sz="1800" dirty="0"/>
          </a:p>
        </p:txBody>
      </p:sp>
      <p:sp>
        <p:nvSpPr>
          <p:cNvPr id="18" name="Text 15"/>
          <p:cNvSpPr/>
          <p:nvPr/>
        </p:nvSpPr>
        <p:spPr>
          <a:xfrm>
            <a:off x="3127248" y="5276088"/>
            <a:ext cx="749808" cy="182880"/>
          </a:xfrm>
          <a:prstGeom prst="rect">
            <a:avLst/>
          </a:prstGeom>
          <a:noFill/>
          <a:ln/>
        </p:spPr>
        <p:txBody>
          <a:bodyPr wrap="square" lIns="0" tIns="0" rIns="0" bIns="0" rtlCol="0" anchor="ctr"/>
          <a:lstStyle/>
          <a:p>
            <a:pPr algn="ctr" indent="0" marL="0">
              <a:buNone/>
            </a:pPr>
            <a:r>
              <a:rPr lang="en-US" sz="850" dirty="0">
                <a:solidFill>
                  <a:srgbClr val="FFFFFF"/>
                </a:solidFill>
                <a:latin typeface="Liberation Sans" pitchFamily="34" charset="0"/>
                <a:ea typeface="Liberation Sans" pitchFamily="34" charset="-122"/>
                <a:cs typeface="Liberation Sans" pitchFamily="34" charset="-120"/>
              </a:rPr>
              <a:t>Expiry alerts</a:t>
            </a:r>
            <a:endParaRPr lang="en-US" sz="850" dirty="0"/>
          </a:p>
        </p:txBody>
      </p:sp>
      <p:sp>
        <p:nvSpPr>
          <p:cNvPr id="19" name="Shape 16"/>
          <p:cNvSpPr/>
          <p:nvPr/>
        </p:nvSpPr>
        <p:spPr>
          <a:xfrm>
            <a:off x="4078224" y="4892040"/>
            <a:ext cx="1005840" cy="786384"/>
          </a:xfrm>
          <a:prstGeom prst="roundRect">
            <a:avLst>
              <a:gd name="adj" fmla="val 1395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0" name="Text 17"/>
          <p:cNvSpPr/>
          <p:nvPr/>
        </p:nvSpPr>
        <p:spPr>
          <a:xfrm>
            <a:off x="4206240" y="4983480"/>
            <a:ext cx="749808" cy="256032"/>
          </a:xfrm>
          <a:prstGeom prst="rect">
            <a:avLst/>
          </a:prstGeom>
          <a:noFill/>
          <a:ln/>
        </p:spPr>
        <p:txBody>
          <a:bodyPr wrap="square" lIns="0" tIns="0" rIns="0" bIns="0" rtlCol="0" anchor="ctr"/>
          <a:lstStyle/>
          <a:p>
            <a:pPr algn="ctr" indent="0" marL="0">
              <a:buNone/>
            </a:pPr>
            <a:r>
              <a:rPr lang="en-US" sz="1800" b="1" dirty="0">
                <a:solidFill>
                  <a:srgbClr val="F59E0B"/>
                </a:solidFill>
                <a:latin typeface="Liberation Sans" pitchFamily="34" charset="0"/>
                <a:ea typeface="Liberation Sans" pitchFamily="34" charset="-122"/>
                <a:cs typeface="Liberation Sans" pitchFamily="34" charset="-120"/>
              </a:rPr>
              <a:t>100k+</a:t>
            </a:r>
            <a:endParaRPr lang="en-US" sz="1800" dirty="0"/>
          </a:p>
        </p:txBody>
      </p:sp>
      <p:sp>
        <p:nvSpPr>
          <p:cNvPr id="21" name="Text 18"/>
          <p:cNvSpPr/>
          <p:nvPr/>
        </p:nvSpPr>
        <p:spPr>
          <a:xfrm>
            <a:off x="4206240" y="5276088"/>
            <a:ext cx="749808" cy="182880"/>
          </a:xfrm>
          <a:prstGeom prst="rect">
            <a:avLst/>
          </a:prstGeom>
          <a:noFill/>
          <a:ln/>
        </p:spPr>
        <p:txBody>
          <a:bodyPr wrap="square" lIns="0" tIns="0" rIns="0" bIns="0" rtlCol="0" anchor="ctr"/>
          <a:lstStyle/>
          <a:p>
            <a:pPr algn="ctr" indent="0" marL="0">
              <a:buNone/>
            </a:pPr>
            <a:r>
              <a:rPr lang="en-US" sz="850" dirty="0">
                <a:solidFill>
                  <a:srgbClr val="FFFFFF"/>
                </a:solidFill>
                <a:latin typeface="Liberation Sans" pitchFamily="34" charset="0"/>
                <a:ea typeface="Liberation Sans" pitchFamily="34" charset="-122"/>
                <a:cs typeface="Liberation Sans" pitchFamily="34" charset="-120"/>
              </a:rPr>
              <a:t>Concurrent users</a:t>
            </a:r>
            <a:endParaRPr lang="en-US" sz="850" dirty="0"/>
          </a:p>
        </p:txBody>
      </p:sp>
      <p:sp>
        <p:nvSpPr>
          <p:cNvPr id="24"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25" name="Swahilipot Logo"/>
          <p:cNvPicPr>
            <a:picLocks noChangeAspect="1"/>
          </p:cNvPicPr>
          <p:nvPr/>
        </p:nvPicPr>
        <p:blipFill>
          <a:blip r:embed="rId4"/>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4"/>
                                  </p:tgtEl>
                                  <p:attrNameLst>
                                    <p:attrName>style.visibility</p:attrName>
                                  </p:attrNameLst>
                                </p:cBhvr>
                                <p:to>
                                  <p:strVal val="visible"/>
                                </p:to>
                              </p:set>
                              <p:anim calcmode="lin" valueType="num">
                                <p:cBhvr>
                                  <p:cTn id="103" dur="500"/>
                                  <p:tgtEl>
                                    <p:spTgt spid="4"/>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5"/>
                                  </p:tgtEl>
                                  <p:attrNameLst>
                                    <p:attrName>style.visibility</p:attrName>
                                  </p:attrNameLst>
                                </p:cBhvr>
                                <p:to>
                                  <p:strVal val="visible"/>
                                </p:to>
                              </p:set>
                              <p:anim calcmode="lin" valueType="num">
                                <p:cBhvr>
                                  <p:cTn id="106" dur="500"/>
                                  <p:tgtEl>
                                    <p:spTgt spid="5"/>
                                  </p:tgtEl>
                                  <p:attrNameLst>
                                    <p:attrName>style.opacity</p:attrName>
                                  </p:attrNameLst>
                                </p:cBhvr>
                                <p:tavLst>
                                  <p:tav tm="0">
                                    <p:val>
                                      <p:fltVal val="0"/>
                                    </p:val>
                                  </p:tav>
                                  <p:tav tm="100000">
                                    <p:val>
                                      <p:fltVal val="1"/>
                                    </p:val>
                                  </p:tav>
                                </p:tavLst>
                              </p:anim>
                              <p:set>
                                <p:cBhvr>
                                  <p:cTn id="107" dur="1" fill="hold">
                                    <p:stCondLst>
                                      <p:cond delay="0"/>
                                    </p:stCondLst>
                                  </p:cTn>
                                  <p:tgtEl>
                                    <p:spTgt spid="6"/>
                                  </p:tgtEl>
                                  <p:attrNameLst>
                                    <p:attrName>style.visibility</p:attrName>
                                  </p:attrNameLst>
                                </p:cBhvr>
                                <p:to>
                                  <p:strVal val="visible"/>
                                </p:to>
                              </p:set>
                              <p:anim calcmode="lin" valueType="num">
                                <p:cBhvr>
                                  <p:cTn id="108" dur="500"/>
                                  <p:tgtEl>
                                    <p:spTgt spid="6"/>
                                  </p:tgtEl>
                                  <p:attrNameLst>
                                    <p:attrName>style.opacity</p:attrName>
                                  </p:attrNameLst>
                                </p:cBhvr>
                                <p:tavLst>
                                  <p:tav tm="0">
                                    <p:val>
                                      <p:fltVal val="0"/>
                                    </p:val>
                                  </p:tav>
                                  <p:tav tm="100000">
                                    <p:val>
                                      <p:fltVal val="1"/>
                                    </p:val>
                                  </p:tav>
                                </p:tavLst>
                              </p:anim>
                            </p:childTnLst>
                          </p:cTn>
                        </p:par>
                        <p:par>
                          <p:cTn id="109" presetID="10" presetClass="entr" presetSubtype="0" fill="hold" grpId="0" nodeType="afterEffect">
                            <p:stCondLst>
                              <p:cond delay="450"/>
                            </p:stCondLst>
                            <p:childTnLst>
                              <p:set>
                                <p:cBhvr>
                                  <p:cTn id="110" dur="1" fill="hold">
                                    <p:stCondLst>
                                      <p:cond delay="0"/>
                                    </p:stCondLst>
                                  </p:cTn>
                                  <p:tgtEl>
                                    <p:spTgt spid="7"/>
                                  </p:tgtEl>
                                  <p:attrNameLst>
                                    <p:attrName>style.visibility</p:attrName>
                                  </p:attrNameLst>
                                </p:cBhvr>
                                <p:to>
                                  <p:strVal val="visible"/>
                                </p:to>
                              </p:set>
                              <p:anim calcmode="lin" valueType="num">
                                <p:cBhvr>
                                  <p:cTn id="111" dur="500"/>
                                  <p:tgtEl>
                                    <p:spTgt spid="7"/>
                                  </p:tgtEl>
                                  <p:attrNameLst>
                                    <p:attrName>style.opacity</p:attrName>
                                  </p:attrNameLst>
                                </p:cBhvr>
                                <p:tavLst>
                                  <p:tav tm="0">
                                    <p:val>
                                      <p:fltVal val="0"/>
                                    </p:val>
                                  </p:tav>
                                  <p:tav tm="100000">
                                    <p:val>
                                      <p:fltVal val="1"/>
                                    </p:val>
                                  </p:tav>
                                </p:tavLst>
                              </p:anim>
                            </p:childTnLst>
                          </p:cTn>
                        </p:par>
                        <p:par>
                          <p:cTn id="112" presetID="10" presetClass="entr" presetSubtype="0" fill="hold" grpId="0" nodeType="afterEffect">
                            <p:stCondLst>
                              <p:cond delay="600"/>
                            </p:stCondLst>
                            <p:childTnLst>
                              <p:set>
                                <p:cBhvr>
                                  <p:cTn id="113" dur="1" fill="hold">
                                    <p:stCondLst>
                                      <p:cond delay="0"/>
                                    </p:stCondLst>
                                  </p:cTn>
                                  <p:tgtEl>
                                    <p:spTgt spid="8"/>
                                  </p:tgtEl>
                                  <p:attrNameLst>
                                    <p:attrName>style.visibility</p:attrName>
                                  </p:attrNameLst>
                                </p:cBhvr>
                                <p:to>
                                  <p:strVal val="visible"/>
                                </p:to>
                              </p:set>
                              <p:anim calcmode="lin" valueType="num">
                                <p:cBhvr>
                                  <p:cTn id="114" dur="500"/>
                                  <p:tgtEl>
                                    <p:spTgt spid="8"/>
                                  </p:tgtEl>
                                  <p:attrNameLst>
                                    <p:attrName>style.opacity</p:attrName>
                                  </p:attrNameLst>
                                </p:cBhvr>
                                <p:tavLst>
                                  <p:tav tm="0">
                                    <p:val>
                                      <p:fltVal val="0"/>
                                    </p:val>
                                  </p:tav>
                                  <p:tav tm="100000">
                                    <p:val>
                                      <p:fltVal val="1"/>
                                    </p:val>
                                  </p:tav>
                                </p:tavLst>
                              </p:anim>
                            </p:childTnLst>
                          </p:cTn>
                        </p:par>
                        <p:par>
                          <p:cTn id="115" presetID="10" presetClass="entr" presetSubtype="0" fill="hold" grpId="0" nodeType="afterEffect">
                            <p:stCondLst>
                              <p:cond delay="750"/>
                            </p:stCondLst>
                            <p:childTnLst>
                              <p:set>
                                <p:cBhvr>
                                  <p:cTn id="116" dur="1" fill="hold">
                                    <p:stCondLst>
                                      <p:cond delay="0"/>
                                    </p:stCondLst>
                                  </p:cTn>
                                  <p:tgtEl>
                                    <p:spTgt spid="9"/>
                                  </p:tgtEl>
                                  <p:attrNameLst>
                                    <p:attrName>style.visibility</p:attrName>
                                  </p:attrNameLst>
                                </p:cBhvr>
                                <p:to>
                                  <p:strVal val="visible"/>
                                </p:to>
                              </p:set>
                              <p:anim calcmode="lin" valueType="num">
                                <p:cBhvr>
                                  <p:cTn id="117" dur="500"/>
                                  <p:tgtEl>
                                    <p:spTgt spid="9"/>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900"/>
                            </p:stCondLst>
                            <p:childTnLst>
                              <p:set>
                                <p:cBhvr>
                                  <p:cTn id="119" dur="1" fill="hold">
                                    <p:stCondLst>
                                      <p:cond delay="0"/>
                                    </p:stCondLst>
                                  </p:cTn>
                                  <p:tgtEl>
                                    <p:spTgt spid="10"/>
                                  </p:tgtEl>
                                  <p:attrNameLst>
                                    <p:attrName>style.visibility</p:attrName>
                                  </p:attrNameLst>
                                </p:cBhvr>
                                <p:to>
                                  <p:strVal val="visible"/>
                                </p:to>
                              </p:set>
                              <p:anim calcmode="lin" valueType="num">
                                <p:cBhvr>
                                  <p:cTn id="120" dur="500"/>
                                  <p:tgtEl>
                                    <p:spTgt spid="10"/>
                                  </p:tgtEl>
                                  <p:attrNameLst>
                                    <p:attrName>style.opacity</p:attrName>
                                  </p:attrNameLst>
                                </p:cBhvr>
                                <p:tavLst>
                                  <p:tav tm="0">
                                    <p:val>
                                      <p:fltVal val="0"/>
                                    </p:val>
                                  </p:tav>
                                  <p:tav tm="100000">
                                    <p:val>
                                      <p:fltVal val="1"/>
                                    </p:val>
                                  </p:tav>
                                </p:tavLst>
                              </p:anim>
                              <p:set>
                                <p:cBhvr>
                                  <p:cTn id="121" dur="1" fill="hold">
                                    <p:stCondLst>
                                      <p:cond delay="0"/>
                                    </p:stCondLst>
                                  </p:cTn>
                                  <p:tgtEl>
                                    <p:spTgt spid="11"/>
                                  </p:tgtEl>
                                  <p:attrNameLst>
                                    <p:attrName>style.visibility</p:attrName>
                                  </p:attrNameLst>
                                </p:cBhvr>
                                <p:to>
                                  <p:strVal val="visible"/>
                                </p:to>
                              </p:set>
                              <p:anim calcmode="lin" valueType="num">
                                <p:cBhvr>
                                  <p:cTn id="122" dur="500"/>
                                  <p:tgtEl>
                                    <p:spTgt spid="11"/>
                                  </p:tgtEl>
                                  <p:attrNameLst>
                                    <p:attrName>style.opacity</p:attrName>
                                  </p:attrNameLst>
                                </p:cBhvr>
                                <p:tavLst>
                                  <p:tav tm="0">
                                    <p:val>
                                      <p:fltVal val="0"/>
                                    </p:val>
                                  </p:tav>
                                  <p:tav tm="100000">
                                    <p:val>
                                      <p:fltVal val="1"/>
                                    </p:val>
                                  </p:tav>
                                </p:tavLst>
                              </p:anim>
                              <p:set>
                                <p:cBhvr>
                                  <p:cTn id="123" dur="1" fill="hold">
                                    <p:stCondLst>
                                      <p:cond delay="0"/>
                                    </p:stCondLst>
                                  </p:cTn>
                                  <p:tgtEl>
                                    <p:spTgt spid="12"/>
                                  </p:tgtEl>
                                  <p:attrNameLst>
                                    <p:attrName>style.visibility</p:attrName>
                                  </p:attrNameLst>
                                </p:cBhvr>
                                <p:to>
                                  <p:strVal val="visible"/>
                                </p:to>
                              </p:set>
                              <p:anim calcmode="lin" valueType="num">
                                <p:cBhvr>
                                  <p:cTn id="124" dur="500"/>
                                  <p:tgtEl>
                                    <p:spTgt spid="12"/>
                                  </p:tgtEl>
                                  <p:attrNameLst>
                                    <p:attrName>style.opacity</p:attrName>
                                  </p:attrNameLst>
                                </p:cBhvr>
                                <p:tavLst>
                                  <p:tav tm="0">
                                    <p:val>
                                      <p:fltVal val="0"/>
                                    </p:val>
                                  </p:tav>
                                  <p:tav tm="100000">
                                    <p:val>
                                      <p:fltVal val="1"/>
                                    </p:val>
                                  </p:tav>
                                </p:tavLst>
                              </p:anim>
                            </p:childTnLst>
                          </p:cTn>
                        </p:par>
                        <p:par>
                          <p:cTn id="125" presetID="10" presetClass="entr" presetSubtype="0" fill="hold" grpId="0" nodeType="afterEffect">
                            <p:stCondLst>
                              <p:cond delay="1050"/>
                            </p:stCondLst>
                            <p:childTnLst>
                              <p:set>
                                <p:cBhvr>
                                  <p:cTn id="126" dur="1" fill="hold">
                                    <p:stCondLst>
                                      <p:cond delay="0"/>
                                    </p:stCondLst>
                                  </p:cTn>
                                  <p:tgtEl>
                                    <p:spTgt spid="13"/>
                                  </p:tgtEl>
                                  <p:attrNameLst>
                                    <p:attrName>style.visibility</p:attrName>
                                  </p:attrNameLst>
                                </p:cBhvr>
                                <p:to>
                                  <p:strVal val="visible"/>
                                </p:to>
                              </p:set>
                              <p:anim calcmode="lin" valueType="num">
                                <p:cBhvr>
                                  <p:cTn id="127" dur="500"/>
                                  <p:tgtEl>
                                    <p:spTgt spid="13"/>
                                  </p:tgtEl>
                                  <p:attrNameLst>
                                    <p:attrName>style.opacity</p:attrName>
                                  </p:attrNameLst>
                                </p:cBhvr>
                                <p:tavLst>
                                  <p:tav tm="0">
                                    <p:val>
                                      <p:fltVal val="0"/>
                                    </p:val>
                                  </p:tav>
                                  <p:tav tm="100000">
                                    <p:val>
                                      <p:fltVal val="1"/>
                                    </p:val>
                                  </p:tav>
                                </p:tavLst>
                              </p:anim>
                              <p:set>
                                <p:cBhvr>
                                  <p:cTn id="128" dur="1" fill="hold">
                                    <p:stCondLst>
                                      <p:cond delay="0"/>
                                    </p:stCondLst>
                                  </p:cTn>
                                  <p:tgtEl>
                                    <p:spTgt spid="14"/>
                                  </p:tgtEl>
                                  <p:attrNameLst>
                                    <p:attrName>style.visibility</p:attrName>
                                  </p:attrNameLst>
                                </p:cBhvr>
                                <p:to>
                                  <p:strVal val="visible"/>
                                </p:to>
                              </p:set>
                              <p:anim calcmode="lin" valueType="num">
                                <p:cBhvr>
                                  <p:cTn id="129" dur="500"/>
                                  <p:tgtEl>
                                    <p:spTgt spid="14"/>
                                  </p:tgtEl>
                                  <p:attrNameLst>
                                    <p:attrName>style.opacity</p:attrName>
                                  </p:attrNameLst>
                                </p:cBhvr>
                                <p:tavLst>
                                  <p:tav tm="0">
                                    <p:val>
                                      <p:fltVal val="0"/>
                                    </p:val>
                                  </p:tav>
                                  <p:tav tm="100000">
                                    <p:val>
                                      <p:fltVal val="1"/>
                                    </p:val>
                                  </p:tav>
                                </p:tavLst>
                              </p:anim>
                              <p:set>
                                <p:cBhvr>
                                  <p:cTn id="130" dur="1" fill="hold">
                                    <p:stCondLst>
                                      <p:cond delay="0"/>
                                    </p:stCondLst>
                                  </p:cTn>
                                  <p:tgtEl>
                                    <p:spTgt spid="15"/>
                                  </p:tgtEl>
                                  <p:attrNameLst>
                                    <p:attrName>style.visibility</p:attrName>
                                  </p:attrNameLst>
                                </p:cBhvr>
                                <p:to>
                                  <p:strVal val="visible"/>
                                </p:to>
                              </p:set>
                              <p:anim calcmode="lin" valueType="num">
                                <p:cBhvr>
                                  <p:cTn id="131" dur="500"/>
                                  <p:tgtEl>
                                    <p:spTgt spid="15"/>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1200"/>
                            </p:stCondLst>
                            <p:childTnLst>
                              <p:set>
                                <p:cBhvr>
                                  <p:cTn id="133" dur="1" fill="hold">
                                    <p:stCondLst>
                                      <p:cond delay="0"/>
                                    </p:stCondLst>
                                  </p:cTn>
                                  <p:tgtEl>
                                    <p:spTgt spid="16"/>
                                  </p:tgtEl>
                                  <p:attrNameLst>
                                    <p:attrName>style.visibility</p:attrName>
                                  </p:attrNameLst>
                                </p:cBhvr>
                                <p:to>
                                  <p:strVal val="visible"/>
                                </p:to>
                              </p:set>
                              <p:anim calcmode="lin" valueType="num">
                                <p:cBhvr>
                                  <p:cTn id="134" dur="500"/>
                                  <p:tgtEl>
                                    <p:spTgt spid="16"/>
                                  </p:tgtEl>
                                  <p:attrNameLst>
                                    <p:attrName>style.opacity</p:attrName>
                                  </p:attrNameLst>
                                </p:cBhvr>
                                <p:tavLst>
                                  <p:tav tm="0">
                                    <p:val>
                                      <p:fltVal val="0"/>
                                    </p:val>
                                  </p:tav>
                                  <p:tav tm="100000">
                                    <p:val>
                                      <p:fltVal val="1"/>
                                    </p:val>
                                  </p:tav>
                                </p:tavLst>
                              </p:anim>
                              <p:set>
                                <p:cBhvr>
                                  <p:cTn id="135" dur="1" fill="hold">
                                    <p:stCondLst>
                                      <p:cond delay="0"/>
                                    </p:stCondLst>
                                  </p:cTn>
                                  <p:tgtEl>
                                    <p:spTgt spid="17"/>
                                  </p:tgtEl>
                                  <p:attrNameLst>
                                    <p:attrName>style.visibility</p:attrName>
                                  </p:attrNameLst>
                                </p:cBhvr>
                                <p:to>
                                  <p:strVal val="visible"/>
                                </p:to>
                              </p:set>
                              <p:anim calcmode="lin" valueType="num">
                                <p:cBhvr>
                                  <p:cTn id="136" dur="500"/>
                                  <p:tgtEl>
                                    <p:spTgt spid="17"/>
                                  </p:tgtEl>
                                  <p:attrNameLst>
                                    <p:attrName>style.opacity</p:attrName>
                                  </p:attrNameLst>
                                </p:cBhvr>
                                <p:tavLst>
                                  <p:tav tm="0">
                                    <p:val>
                                      <p:fltVal val="0"/>
                                    </p:val>
                                  </p:tav>
                                  <p:tav tm="100000">
                                    <p:val>
                                      <p:fltVal val="1"/>
                                    </p:val>
                                  </p:tav>
                                </p:tavLst>
                              </p:anim>
                              <p:set>
                                <p:cBhvr>
                                  <p:cTn id="137" dur="1" fill="hold">
                                    <p:stCondLst>
                                      <p:cond delay="0"/>
                                    </p:stCondLst>
                                  </p:cTn>
                                  <p:tgtEl>
                                    <p:spTgt spid="18"/>
                                  </p:tgtEl>
                                  <p:attrNameLst>
                                    <p:attrName>style.visibility</p:attrName>
                                  </p:attrNameLst>
                                </p:cBhvr>
                                <p:to>
                                  <p:strVal val="visible"/>
                                </p:to>
                              </p:set>
                              <p:anim calcmode="lin" valueType="num">
                                <p:cBhvr>
                                  <p:cTn id="138" dur="500"/>
                                  <p:tgtEl>
                                    <p:spTgt spid="18"/>
                                  </p:tgtEl>
                                  <p:attrNameLst>
                                    <p:attrName>style.opacity</p:attrName>
                                  </p:attrNameLst>
                                </p:cBhvr>
                                <p:tavLst>
                                  <p:tav tm="0">
                                    <p:val>
                                      <p:fltVal val="0"/>
                                    </p:val>
                                  </p:tav>
                                  <p:tav tm="100000">
                                    <p:val>
                                      <p:fltVal val="1"/>
                                    </p:val>
                                  </p:tav>
                                </p:tavLst>
                              </p:anim>
                            </p:childTnLst>
                          </p:cTn>
                        </p:par>
                        <p:par>
                          <p:cTn id="139" presetID="10" presetClass="entr" presetSubtype="0" fill="hold" grpId="0" nodeType="afterEffect">
                            <p:stCondLst>
                              <p:cond delay="1350"/>
                            </p:stCondLst>
                            <p:childTnLst>
                              <p:set>
                                <p:cBhvr>
                                  <p:cTn id="140" dur="1" fill="hold">
                                    <p:stCondLst>
                                      <p:cond delay="0"/>
                                    </p:stCondLst>
                                  </p:cTn>
                                  <p:tgtEl>
                                    <p:spTgt spid="19"/>
                                  </p:tgtEl>
                                  <p:attrNameLst>
                                    <p:attrName>style.visibility</p:attrName>
                                  </p:attrNameLst>
                                </p:cBhvr>
                                <p:to>
                                  <p:strVal val="visible"/>
                                </p:to>
                              </p:set>
                              <p:anim calcmode="lin" valueType="num">
                                <p:cBhvr>
                                  <p:cTn id="141" dur="500"/>
                                  <p:tgtEl>
                                    <p:spTgt spid="19"/>
                                  </p:tgtEl>
                                  <p:attrNameLst>
                                    <p:attrName>style.opacity</p:attrName>
                                  </p:attrNameLst>
                                </p:cBhvr>
                                <p:tavLst>
                                  <p:tav tm="0">
                                    <p:val>
                                      <p:fltVal val="0"/>
                                    </p:val>
                                  </p:tav>
                                  <p:tav tm="100000">
                                    <p:val>
                                      <p:fltVal val="1"/>
                                    </p:val>
                                  </p:tav>
                                </p:tavLst>
                              </p:anim>
                              <p:set>
                                <p:cBhvr>
                                  <p:cTn id="142" dur="1" fill="hold">
                                    <p:stCondLst>
                                      <p:cond delay="0"/>
                                    </p:stCondLst>
                                  </p:cTn>
                                  <p:tgtEl>
                                    <p:spTgt spid="20"/>
                                  </p:tgtEl>
                                  <p:attrNameLst>
                                    <p:attrName>style.visibility</p:attrName>
                                  </p:attrNameLst>
                                </p:cBhvr>
                                <p:to>
                                  <p:strVal val="visible"/>
                                </p:to>
                              </p:set>
                              <p:anim calcmode="lin" valueType="num">
                                <p:cBhvr>
                                  <p:cTn id="143" dur="500"/>
                                  <p:tgtEl>
                                    <p:spTgt spid="20"/>
                                  </p:tgtEl>
                                  <p:attrNameLst>
                                    <p:attrName>style.opacity</p:attrName>
                                  </p:attrNameLst>
                                </p:cBhvr>
                                <p:tavLst>
                                  <p:tav tm="0">
                                    <p:val>
                                      <p:fltVal val="0"/>
                                    </p:val>
                                  </p:tav>
                                  <p:tav tm="100000">
                                    <p:val>
                                      <p:fltVal val="1"/>
                                    </p:val>
                                  </p:tav>
                                </p:tavLst>
                              </p:anim>
                              <p:set>
                                <p:cBhvr>
                                  <p:cTn id="144" dur="1" fill="hold">
                                    <p:stCondLst>
                                      <p:cond delay="0"/>
                                    </p:stCondLst>
                                  </p:cTn>
                                  <p:tgtEl>
                                    <p:spTgt spid="21"/>
                                  </p:tgtEl>
                                  <p:attrNameLst>
                                    <p:attrName>style.visibility</p:attrName>
                                  </p:attrNameLst>
                                </p:cBhvr>
                                <p:to>
                                  <p:strVal val="visible"/>
                                </p:to>
                              </p:set>
                              <p:anim calcmode="lin" valueType="num">
                                <p:cBhvr>
                                  <p:cTn id="145" dur="500"/>
                                  <p:tgtEl>
                                    <p:spTgt spid="21"/>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Presentation Roadmap</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A concise view of the release story before we move into the module-level improvements.</a:t>
            </a:r>
            <a:endParaRPr lang="en-US" sz="1050" dirty="0"/>
          </a:p>
        </p:txBody>
      </p:sp>
      <p:sp>
        <p:nvSpPr>
          <p:cNvPr id="5" name="Shape 3"/>
          <p:cNvSpPr/>
          <p:nvPr/>
        </p:nvSpPr>
        <p:spPr>
          <a:xfrm>
            <a:off x="749808" y="141732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14400" y="1581912"/>
            <a:ext cx="420624" cy="420624"/>
          </a:xfrm>
          <a:prstGeom prst="ellipse">
            <a:avLst/>
          </a:prstGeom>
          <a:solidFill>
            <a:srgbClr val="EAF2FF"/>
          </a:solidFill>
          <a:ln w="12700">
            <a:solidFill>
              <a:srgbClr val="3B82F6"/>
            </a:solidFill>
            <a:prstDash val="solid"/>
          </a:ln>
        </p:spPr>
      </p:sp>
      <p:sp>
        <p:nvSpPr>
          <p:cNvPr id="7" name="Text 5"/>
          <p:cNvSpPr/>
          <p:nvPr/>
        </p:nvSpPr>
        <p:spPr>
          <a:xfrm>
            <a:off x="914400" y="169164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01</a:t>
            </a:r>
            <a:endParaRPr lang="en-US" sz="820" dirty="0"/>
          </a:p>
        </p:txBody>
      </p:sp>
      <p:sp>
        <p:nvSpPr>
          <p:cNvPr id="8" name="Text 6"/>
          <p:cNvSpPr/>
          <p:nvPr/>
        </p:nvSpPr>
        <p:spPr>
          <a:xfrm>
            <a:off x="1444752" y="161848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Platform overview</a:t>
            </a:r>
            <a:endParaRPr lang="en-US" sz="1400" dirty="0"/>
          </a:p>
        </p:txBody>
      </p:sp>
      <p:sp>
        <p:nvSpPr>
          <p:cNvPr id="9" name="Text 7"/>
          <p:cNvSpPr/>
          <p:nvPr/>
        </p:nvSpPr>
        <p:spPr>
          <a:xfrm>
            <a:off x="932688" y="216712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Why this release matters and the operational shift it creates.</a:t>
            </a:r>
            <a:endParaRPr lang="en-US" sz="960" dirty="0"/>
          </a:p>
        </p:txBody>
      </p:sp>
      <p:sp>
        <p:nvSpPr>
          <p:cNvPr id="10" name="Shape 8"/>
          <p:cNvSpPr/>
          <p:nvPr/>
        </p:nvSpPr>
        <p:spPr>
          <a:xfrm>
            <a:off x="4005072" y="141732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9"/>
          <p:cNvSpPr/>
          <p:nvPr/>
        </p:nvSpPr>
        <p:spPr>
          <a:xfrm>
            <a:off x="4169664" y="1581912"/>
            <a:ext cx="420624" cy="420624"/>
          </a:xfrm>
          <a:prstGeom prst="ellipse">
            <a:avLst/>
          </a:prstGeom>
          <a:solidFill>
            <a:srgbClr val="EAF2FF"/>
          </a:solidFill>
          <a:ln w="12700">
            <a:solidFill>
              <a:srgbClr val="3B82F6"/>
            </a:solidFill>
            <a:prstDash val="solid"/>
          </a:ln>
        </p:spPr>
      </p:sp>
      <p:sp>
        <p:nvSpPr>
          <p:cNvPr id="12" name="Text 10"/>
          <p:cNvSpPr/>
          <p:nvPr/>
        </p:nvSpPr>
        <p:spPr>
          <a:xfrm>
            <a:off x="4169664" y="169164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02</a:t>
            </a:r>
            <a:endParaRPr lang="en-US" sz="820" dirty="0"/>
          </a:p>
        </p:txBody>
      </p:sp>
      <p:sp>
        <p:nvSpPr>
          <p:cNvPr id="13" name="Text 11"/>
          <p:cNvSpPr/>
          <p:nvPr/>
        </p:nvSpPr>
        <p:spPr>
          <a:xfrm>
            <a:off x="4700016" y="161848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Core modules</a:t>
            </a:r>
            <a:endParaRPr lang="en-US" sz="1400" dirty="0"/>
          </a:p>
        </p:txBody>
      </p:sp>
      <p:sp>
        <p:nvSpPr>
          <p:cNvPr id="14" name="Text 12"/>
          <p:cNvSpPr/>
          <p:nvPr/>
        </p:nvSpPr>
        <p:spPr>
          <a:xfrm>
            <a:off x="4187952" y="216712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Internship, media, FM operations, and newsroom workflow improvements.</a:t>
            </a:r>
            <a:endParaRPr lang="en-US" sz="960" dirty="0"/>
          </a:p>
        </p:txBody>
      </p:sp>
      <p:sp>
        <p:nvSpPr>
          <p:cNvPr id="15" name="Shape 13"/>
          <p:cNvSpPr/>
          <p:nvPr/>
        </p:nvSpPr>
        <p:spPr>
          <a:xfrm>
            <a:off x="7260336" y="141732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6" name="Shape 14"/>
          <p:cNvSpPr/>
          <p:nvPr/>
        </p:nvSpPr>
        <p:spPr>
          <a:xfrm>
            <a:off x="7424928" y="1581912"/>
            <a:ext cx="420624" cy="420624"/>
          </a:xfrm>
          <a:prstGeom prst="ellipse">
            <a:avLst/>
          </a:prstGeom>
          <a:solidFill>
            <a:srgbClr val="EAF2FF"/>
          </a:solidFill>
          <a:ln w="12700">
            <a:solidFill>
              <a:srgbClr val="3B82F6"/>
            </a:solidFill>
            <a:prstDash val="solid"/>
          </a:ln>
        </p:spPr>
      </p:sp>
      <p:sp>
        <p:nvSpPr>
          <p:cNvPr id="17" name="Text 15"/>
          <p:cNvSpPr/>
          <p:nvPr/>
        </p:nvSpPr>
        <p:spPr>
          <a:xfrm>
            <a:off x="7424928" y="169164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03</a:t>
            </a:r>
            <a:endParaRPr lang="en-US" sz="820" dirty="0"/>
          </a:p>
        </p:txBody>
      </p:sp>
      <p:sp>
        <p:nvSpPr>
          <p:cNvPr id="18" name="Text 16"/>
          <p:cNvSpPr/>
          <p:nvPr/>
        </p:nvSpPr>
        <p:spPr>
          <a:xfrm>
            <a:off x="7955280" y="161848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Control layer</a:t>
            </a:r>
            <a:endParaRPr lang="en-US" sz="1400" dirty="0"/>
          </a:p>
        </p:txBody>
      </p:sp>
      <p:sp>
        <p:nvSpPr>
          <p:cNvPr id="19" name="Text 17"/>
          <p:cNvSpPr/>
          <p:nvPr/>
        </p:nvSpPr>
        <p:spPr>
          <a:xfrm>
            <a:off x="7443216" y="216712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Security, governance, and auditability built into daily operations.</a:t>
            </a:r>
            <a:endParaRPr lang="en-US" sz="960" dirty="0"/>
          </a:p>
        </p:txBody>
      </p:sp>
      <p:sp>
        <p:nvSpPr>
          <p:cNvPr id="20" name="Shape 18"/>
          <p:cNvSpPr/>
          <p:nvPr/>
        </p:nvSpPr>
        <p:spPr>
          <a:xfrm>
            <a:off x="749808" y="374904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Shape 19"/>
          <p:cNvSpPr/>
          <p:nvPr/>
        </p:nvSpPr>
        <p:spPr>
          <a:xfrm>
            <a:off x="914400" y="3913632"/>
            <a:ext cx="420624" cy="420624"/>
          </a:xfrm>
          <a:prstGeom prst="ellipse">
            <a:avLst/>
          </a:prstGeom>
          <a:solidFill>
            <a:srgbClr val="EAF2FF"/>
          </a:solidFill>
          <a:ln w="12700">
            <a:solidFill>
              <a:srgbClr val="3B82F6"/>
            </a:solidFill>
            <a:prstDash val="solid"/>
          </a:ln>
        </p:spPr>
      </p:sp>
      <p:sp>
        <p:nvSpPr>
          <p:cNvPr id="22" name="Text 20"/>
          <p:cNvSpPr/>
          <p:nvPr/>
        </p:nvSpPr>
        <p:spPr>
          <a:xfrm>
            <a:off x="914400" y="402336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04</a:t>
            </a:r>
            <a:endParaRPr lang="en-US" sz="820" dirty="0"/>
          </a:p>
        </p:txBody>
      </p:sp>
      <p:sp>
        <p:nvSpPr>
          <p:cNvPr id="23" name="Text 21"/>
          <p:cNvSpPr/>
          <p:nvPr/>
        </p:nvSpPr>
        <p:spPr>
          <a:xfrm>
            <a:off x="1444752" y="395020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Insight layer</a:t>
            </a:r>
            <a:endParaRPr lang="en-US" sz="1400" dirty="0"/>
          </a:p>
        </p:txBody>
      </p:sp>
      <p:sp>
        <p:nvSpPr>
          <p:cNvPr id="24" name="Text 22"/>
          <p:cNvSpPr/>
          <p:nvPr/>
        </p:nvSpPr>
        <p:spPr>
          <a:xfrm>
            <a:off x="932688" y="449884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Analytics, KPI visibility, and stronger executive reporting.</a:t>
            </a:r>
            <a:endParaRPr lang="en-US" sz="960" dirty="0"/>
          </a:p>
        </p:txBody>
      </p:sp>
      <p:sp>
        <p:nvSpPr>
          <p:cNvPr id="25" name="Shape 23"/>
          <p:cNvSpPr/>
          <p:nvPr/>
        </p:nvSpPr>
        <p:spPr>
          <a:xfrm>
            <a:off x="4005072" y="374904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6" name="Shape 24"/>
          <p:cNvSpPr/>
          <p:nvPr/>
        </p:nvSpPr>
        <p:spPr>
          <a:xfrm>
            <a:off x="4169664" y="3913632"/>
            <a:ext cx="420624" cy="420624"/>
          </a:xfrm>
          <a:prstGeom prst="ellipse">
            <a:avLst/>
          </a:prstGeom>
          <a:solidFill>
            <a:srgbClr val="EAF2FF"/>
          </a:solidFill>
          <a:ln w="12700">
            <a:solidFill>
              <a:srgbClr val="3B82F6"/>
            </a:solidFill>
            <a:prstDash val="solid"/>
          </a:ln>
        </p:spPr>
      </p:sp>
      <p:sp>
        <p:nvSpPr>
          <p:cNvPr id="27" name="Text 25"/>
          <p:cNvSpPr/>
          <p:nvPr/>
        </p:nvSpPr>
        <p:spPr>
          <a:xfrm>
            <a:off x="4169664" y="402336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05</a:t>
            </a:r>
            <a:endParaRPr lang="en-US" sz="820" dirty="0"/>
          </a:p>
        </p:txBody>
      </p:sp>
      <p:sp>
        <p:nvSpPr>
          <p:cNvPr id="28" name="Text 26"/>
          <p:cNvSpPr/>
          <p:nvPr/>
        </p:nvSpPr>
        <p:spPr>
          <a:xfrm>
            <a:off x="4700016" y="395020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Scale readiness</a:t>
            </a:r>
            <a:endParaRPr lang="en-US" sz="1400" dirty="0"/>
          </a:p>
        </p:txBody>
      </p:sp>
      <p:sp>
        <p:nvSpPr>
          <p:cNvPr id="29" name="Text 27"/>
          <p:cNvSpPr/>
          <p:nvPr/>
        </p:nvSpPr>
        <p:spPr>
          <a:xfrm>
            <a:off x="4187952" y="449884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Infrastructure upgrades that support enterprise reliability and growth.</a:t>
            </a:r>
            <a:endParaRPr lang="en-US" sz="960" dirty="0"/>
          </a:p>
        </p:txBody>
      </p:sp>
      <p:sp>
        <p:nvSpPr>
          <p:cNvPr id="30" name="Shape 28"/>
          <p:cNvSpPr/>
          <p:nvPr/>
        </p:nvSpPr>
        <p:spPr>
          <a:xfrm>
            <a:off x="7260336" y="3749040"/>
            <a:ext cx="2834640" cy="1783080"/>
          </a:xfrm>
          <a:prstGeom prst="roundRect">
            <a:avLst>
              <a:gd name="adj" fmla="val 615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1" name="Shape 29"/>
          <p:cNvSpPr/>
          <p:nvPr/>
        </p:nvSpPr>
        <p:spPr>
          <a:xfrm>
            <a:off x="7424928" y="3913632"/>
            <a:ext cx="420624" cy="420624"/>
          </a:xfrm>
          <a:prstGeom prst="ellipse">
            <a:avLst/>
          </a:prstGeom>
          <a:solidFill>
            <a:srgbClr val="EAF2FF"/>
          </a:solidFill>
          <a:ln w="12700">
            <a:solidFill>
              <a:srgbClr val="3B82F6"/>
            </a:solidFill>
            <a:prstDash val="solid"/>
          </a:ln>
        </p:spPr>
      </p:sp>
      <p:sp>
        <p:nvSpPr>
          <p:cNvPr id="32" name="Text 30"/>
          <p:cNvSpPr/>
          <p:nvPr/>
        </p:nvSpPr>
        <p:spPr>
          <a:xfrm>
            <a:off x="7424928" y="4023360"/>
            <a:ext cx="420624" cy="128016"/>
          </a:xfrm>
          <a:prstGeom prst="rect">
            <a:avLst/>
          </a:prstGeom>
          <a:noFill/>
          <a:ln/>
        </p:spPr>
        <p:txBody>
          <a:bodyPr wrap="square" lIns="0" tIns="0" rIns="0" bIns="0" rtlCol="0" anchor="ctr"/>
          <a:lstStyle/>
          <a:p>
            <a:pPr algn="ctr" indent="0" marL="0">
              <a:buNone/>
            </a:pPr>
            <a:r>
              <a:rPr lang="en-US" sz="820" b="1" dirty="0">
                <a:solidFill>
                  <a:srgbClr val="1E40AF"/>
                </a:solidFill>
                <a:latin typeface="Liberation Mono" pitchFamily="34" charset="0"/>
                <a:ea typeface="Liberation Mono" pitchFamily="34" charset="-122"/>
                <a:cs typeface="Liberation Mono" pitchFamily="34" charset="-120"/>
              </a:rPr>
              <a:t>06</a:t>
            </a:r>
            <a:endParaRPr lang="en-US" sz="820" dirty="0"/>
          </a:p>
        </p:txBody>
      </p:sp>
      <p:sp>
        <p:nvSpPr>
          <p:cNvPr id="33" name="Text 31"/>
          <p:cNvSpPr/>
          <p:nvPr/>
        </p:nvSpPr>
        <p:spPr>
          <a:xfrm>
            <a:off x="7955280" y="3950208"/>
            <a:ext cx="1874520" cy="256032"/>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Business value</a:t>
            </a:r>
            <a:endParaRPr lang="en-US" sz="1400" dirty="0"/>
          </a:p>
        </p:txBody>
      </p:sp>
      <p:sp>
        <p:nvSpPr>
          <p:cNvPr id="34" name="Text 32"/>
          <p:cNvSpPr/>
          <p:nvPr/>
        </p:nvSpPr>
        <p:spPr>
          <a:xfrm>
            <a:off x="7443216" y="4498848"/>
            <a:ext cx="2468880" cy="749808"/>
          </a:xfrm>
          <a:prstGeom prst="rect">
            <a:avLst/>
          </a:prstGeom>
          <a:noFill/>
          <a:ln/>
        </p:spPr>
        <p:txBody>
          <a:bodyPr wrap="square" lIns="0" tIns="0" rIns="0" bIns="0" rtlCol="0" anchor="ctr"/>
          <a:lstStyle/>
          <a:p>
            <a:pPr indent="0" marL="0">
              <a:buNone/>
            </a:pPr>
            <a:r>
              <a:rPr lang="en-US" sz="960" dirty="0">
                <a:solidFill>
                  <a:srgbClr val="475569"/>
                </a:solidFill>
                <a:latin typeface="Liberation Sans" pitchFamily="34" charset="0"/>
                <a:ea typeface="Liberation Sans" pitchFamily="34" charset="-122"/>
                <a:cs typeface="Liberation Sans" pitchFamily="34" charset="-120"/>
              </a:rPr>
              <a:t>What these changes mean for accountability, speed, and resilience.</a:t>
            </a:r>
            <a:endParaRPr lang="en-US" sz="960" dirty="0"/>
          </a:p>
        </p:txBody>
      </p:sp>
      <p:sp>
        <p:nvSpPr>
          <p:cNvPr id="35" name="Shape 33"/>
          <p:cNvSpPr/>
          <p:nvPr/>
        </p:nvSpPr>
        <p:spPr>
          <a:xfrm>
            <a:off x="548640" y="6446520"/>
            <a:ext cx="11064240" cy="0"/>
          </a:xfrm>
          <a:prstGeom prst="line">
            <a:avLst/>
          </a:prstGeom>
          <a:noFill/>
          <a:ln w="12700">
            <a:solidFill>
              <a:srgbClr val="C8D8F0"/>
            </a:solidFill>
            <a:prstDash val="solid"/>
          </a:ln>
        </p:spPr>
      </p:sp>
      <p:sp>
        <p:nvSpPr>
          <p:cNvPr id="36" name="Text 34"/>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7" name="Text 35"/>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2</a:t>
            </a:r>
            <a:endParaRPr lang="en-US" sz="850" dirty="0"/>
          </a:p>
        </p:txBody>
      </p:sp>
      <p:sp>
        <p:nvSpPr>
          <p:cNvPr id="40"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41"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45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60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5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5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5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500"/>
                                  <p:tgtEl>
                                    <p:spTgt spid="9"/>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750"/>
                            </p:stCondLst>
                            <p:childTnLst>
                              <p:set>
                                <p:cBhvr>
                                  <p:cTn id="122" dur="1" fill="hold">
                                    <p:stCondLst>
                                      <p:cond delay="0"/>
                                    </p:stCondLst>
                                  </p:cTn>
                                  <p:tgtEl>
                                    <p:spTgt spid="10"/>
                                  </p:tgtEl>
                                  <p:attrNameLst>
                                    <p:attrName>style.visibility</p:attrName>
                                  </p:attrNameLst>
                                </p:cBhvr>
                                <p:to>
                                  <p:strVal val="visible"/>
                                </p:to>
                              </p:set>
                              <p:anim calcmode="lin" valueType="num">
                                <p:cBhvr>
                                  <p:cTn id="123" dur="500"/>
                                  <p:tgtEl>
                                    <p:spTgt spid="10"/>
                                  </p:tgtEl>
                                  <p:attrNameLst>
                                    <p:attrName>style.opacity</p:attrName>
                                  </p:attrNameLst>
                                </p:cBhvr>
                                <p:tavLst>
                                  <p:tav tm="0">
                                    <p:val>
                                      <p:fltVal val="0"/>
                                    </p:val>
                                  </p:tav>
                                  <p:tav tm="100000">
                                    <p:val>
                                      <p:fltVal val="1"/>
                                    </p:val>
                                  </p:tav>
                                </p:tavLst>
                              </p:anim>
                              <p:set>
                                <p:cBhvr>
                                  <p:cTn id="124" dur="1" fill="hold">
                                    <p:stCondLst>
                                      <p:cond delay="0"/>
                                    </p:stCondLst>
                                  </p:cTn>
                                  <p:tgtEl>
                                    <p:spTgt spid="11"/>
                                  </p:tgtEl>
                                  <p:attrNameLst>
                                    <p:attrName>style.visibility</p:attrName>
                                  </p:attrNameLst>
                                </p:cBhvr>
                                <p:to>
                                  <p:strVal val="visible"/>
                                </p:to>
                              </p:set>
                              <p:anim calcmode="lin" valueType="num">
                                <p:cBhvr>
                                  <p:cTn id="125" dur="500"/>
                                  <p:tgtEl>
                                    <p:spTgt spid="11"/>
                                  </p:tgtEl>
                                  <p:attrNameLst>
                                    <p:attrName>style.opacity</p:attrName>
                                  </p:attrNameLst>
                                </p:cBhvr>
                                <p:tavLst>
                                  <p:tav tm="0">
                                    <p:val>
                                      <p:fltVal val="0"/>
                                    </p:val>
                                  </p:tav>
                                  <p:tav tm="100000">
                                    <p:val>
                                      <p:fltVal val="1"/>
                                    </p:val>
                                  </p:tav>
                                </p:tavLst>
                              </p:anim>
                              <p:set>
                                <p:cBhvr>
                                  <p:cTn id="126" dur="1" fill="hold">
                                    <p:stCondLst>
                                      <p:cond delay="0"/>
                                    </p:stCondLst>
                                  </p:cTn>
                                  <p:tgtEl>
                                    <p:spTgt spid="12"/>
                                  </p:tgtEl>
                                  <p:attrNameLst>
                                    <p:attrName>style.visibility</p:attrName>
                                  </p:attrNameLst>
                                </p:cBhvr>
                                <p:to>
                                  <p:strVal val="visible"/>
                                </p:to>
                              </p:set>
                              <p:anim calcmode="lin" valueType="num">
                                <p:cBhvr>
                                  <p:cTn id="127" dur="500"/>
                                  <p:tgtEl>
                                    <p:spTgt spid="12"/>
                                  </p:tgtEl>
                                  <p:attrNameLst>
                                    <p:attrName>style.opacity</p:attrName>
                                  </p:attrNameLst>
                                </p:cBhvr>
                                <p:tavLst>
                                  <p:tav tm="0">
                                    <p:val>
                                      <p:fltVal val="0"/>
                                    </p:val>
                                  </p:tav>
                                  <p:tav tm="100000">
                                    <p:val>
                                      <p:fltVal val="1"/>
                                    </p:val>
                                  </p:tav>
                                </p:tavLst>
                              </p:anim>
                              <p:set>
                                <p:cBhvr>
                                  <p:cTn id="128" dur="1" fill="hold">
                                    <p:stCondLst>
                                      <p:cond delay="0"/>
                                    </p:stCondLst>
                                  </p:cTn>
                                  <p:tgtEl>
                                    <p:spTgt spid="13"/>
                                  </p:tgtEl>
                                  <p:attrNameLst>
                                    <p:attrName>style.visibility</p:attrName>
                                  </p:attrNameLst>
                                </p:cBhvr>
                                <p:to>
                                  <p:strVal val="visible"/>
                                </p:to>
                              </p:set>
                              <p:anim calcmode="lin" valueType="num">
                                <p:cBhvr>
                                  <p:cTn id="129" dur="500"/>
                                  <p:tgtEl>
                                    <p:spTgt spid="13"/>
                                  </p:tgtEl>
                                  <p:attrNameLst>
                                    <p:attrName>style.opacity</p:attrName>
                                  </p:attrNameLst>
                                </p:cBhvr>
                                <p:tavLst>
                                  <p:tav tm="0">
                                    <p:val>
                                      <p:fltVal val="0"/>
                                    </p:val>
                                  </p:tav>
                                  <p:tav tm="100000">
                                    <p:val>
                                      <p:fltVal val="1"/>
                                    </p:val>
                                  </p:tav>
                                </p:tavLst>
                              </p:anim>
                              <p:set>
                                <p:cBhvr>
                                  <p:cTn id="130" dur="1" fill="hold">
                                    <p:stCondLst>
                                      <p:cond delay="0"/>
                                    </p:stCondLst>
                                  </p:cTn>
                                  <p:tgtEl>
                                    <p:spTgt spid="14"/>
                                  </p:tgtEl>
                                  <p:attrNameLst>
                                    <p:attrName>style.visibility</p:attrName>
                                  </p:attrNameLst>
                                </p:cBhvr>
                                <p:to>
                                  <p:strVal val="visible"/>
                                </p:to>
                              </p:set>
                              <p:anim calcmode="lin" valueType="num">
                                <p:cBhvr>
                                  <p:cTn id="131" dur="500"/>
                                  <p:tgtEl>
                                    <p:spTgt spid="14"/>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90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p:tgtEl>
                                    <p:spTgt spid="15"/>
                                  </p:tgtEl>
                                  <p:attrNameLst>
                                    <p:attrName>style.opacity</p:attrName>
                                  </p:attrNameLst>
                                </p:cBhvr>
                                <p:tavLst>
                                  <p:tav tm="0">
                                    <p:val>
                                      <p:fltVal val="0"/>
                                    </p:val>
                                  </p:tav>
                                  <p:tav tm="100000">
                                    <p:val>
                                      <p:fltVal val="1"/>
                                    </p:val>
                                  </p:tav>
                                </p:tavLst>
                              </p:anim>
                              <p:set>
                                <p:cBhvr>
                                  <p:cTn id="135" dur="1" fill="hold">
                                    <p:stCondLst>
                                      <p:cond delay="0"/>
                                    </p:stCondLst>
                                  </p:cTn>
                                  <p:tgtEl>
                                    <p:spTgt spid="16"/>
                                  </p:tgtEl>
                                  <p:attrNameLst>
                                    <p:attrName>style.visibility</p:attrName>
                                  </p:attrNameLst>
                                </p:cBhvr>
                                <p:to>
                                  <p:strVal val="visible"/>
                                </p:to>
                              </p:set>
                              <p:anim calcmode="lin" valueType="num">
                                <p:cBhvr>
                                  <p:cTn id="136" dur="500"/>
                                  <p:tgtEl>
                                    <p:spTgt spid="16"/>
                                  </p:tgtEl>
                                  <p:attrNameLst>
                                    <p:attrName>style.opacity</p:attrName>
                                  </p:attrNameLst>
                                </p:cBhvr>
                                <p:tavLst>
                                  <p:tav tm="0">
                                    <p:val>
                                      <p:fltVal val="0"/>
                                    </p:val>
                                  </p:tav>
                                  <p:tav tm="100000">
                                    <p:val>
                                      <p:fltVal val="1"/>
                                    </p:val>
                                  </p:tav>
                                </p:tavLst>
                              </p:anim>
                              <p:set>
                                <p:cBhvr>
                                  <p:cTn id="137" dur="1" fill="hold">
                                    <p:stCondLst>
                                      <p:cond delay="0"/>
                                    </p:stCondLst>
                                  </p:cTn>
                                  <p:tgtEl>
                                    <p:spTgt spid="17"/>
                                  </p:tgtEl>
                                  <p:attrNameLst>
                                    <p:attrName>style.visibility</p:attrName>
                                  </p:attrNameLst>
                                </p:cBhvr>
                                <p:to>
                                  <p:strVal val="visible"/>
                                </p:to>
                              </p:set>
                              <p:anim calcmode="lin" valueType="num">
                                <p:cBhvr>
                                  <p:cTn id="138" dur="500"/>
                                  <p:tgtEl>
                                    <p:spTgt spid="17"/>
                                  </p:tgtEl>
                                  <p:attrNameLst>
                                    <p:attrName>style.opacity</p:attrName>
                                  </p:attrNameLst>
                                </p:cBhvr>
                                <p:tavLst>
                                  <p:tav tm="0">
                                    <p:val>
                                      <p:fltVal val="0"/>
                                    </p:val>
                                  </p:tav>
                                  <p:tav tm="100000">
                                    <p:val>
                                      <p:fltVal val="1"/>
                                    </p:val>
                                  </p:tav>
                                </p:tavLst>
                              </p:anim>
                              <p:set>
                                <p:cBhvr>
                                  <p:cTn id="139" dur="1" fill="hold">
                                    <p:stCondLst>
                                      <p:cond delay="0"/>
                                    </p:stCondLst>
                                  </p:cTn>
                                  <p:tgtEl>
                                    <p:spTgt spid="18"/>
                                  </p:tgtEl>
                                  <p:attrNameLst>
                                    <p:attrName>style.visibility</p:attrName>
                                  </p:attrNameLst>
                                </p:cBhvr>
                                <p:to>
                                  <p:strVal val="visible"/>
                                </p:to>
                              </p:set>
                              <p:anim calcmode="lin" valueType="num">
                                <p:cBhvr>
                                  <p:cTn id="140" dur="500"/>
                                  <p:tgtEl>
                                    <p:spTgt spid="18"/>
                                  </p:tgtEl>
                                  <p:attrNameLst>
                                    <p:attrName>style.opacity</p:attrName>
                                  </p:attrNameLst>
                                </p:cBhvr>
                                <p:tavLst>
                                  <p:tav tm="0">
                                    <p:val>
                                      <p:fltVal val="0"/>
                                    </p:val>
                                  </p:tav>
                                  <p:tav tm="100000">
                                    <p:val>
                                      <p:fltVal val="1"/>
                                    </p:val>
                                  </p:tav>
                                </p:tavLst>
                              </p:anim>
                              <p:set>
                                <p:cBhvr>
                                  <p:cTn id="141" dur="1" fill="hold">
                                    <p:stCondLst>
                                      <p:cond delay="0"/>
                                    </p:stCondLst>
                                  </p:cTn>
                                  <p:tgtEl>
                                    <p:spTgt spid="19"/>
                                  </p:tgtEl>
                                  <p:attrNameLst>
                                    <p:attrName>style.visibility</p:attrName>
                                  </p:attrNameLst>
                                </p:cBhvr>
                                <p:to>
                                  <p:strVal val="visible"/>
                                </p:to>
                              </p:set>
                              <p:anim calcmode="lin" valueType="num">
                                <p:cBhvr>
                                  <p:cTn id="142" dur="500"/>
                                  <p:tgtEl>
                                    <p:spTgt spid="19"/>
                                  </p:tgtEl>
                                  <p:attrNameLst>
                                    <p:attrName>style.opacity</p:attrName>
                                  </p:attrNameLst>
                                </p:cBhvr>
                                <p:tavLst>
                                  <p:tav tm="0">
                                    <p:val>
                                      <p:fltVal val="0"/>
                                    </p:val>
                                  </p:tav>
                                  <p:tav tm="100000">
                                    <p:val>
                                      <p:fltVal val="1"/>
                                    </p:val>
                                  </p:tav>
                                </p:tavLst>
                              </p:anim>
                            </p:childTnLst>
                          </p:cTn>
                        </p:par>
                        <p:par>
                          <p:cTn id="143" presetID="10" presetClass="entr" presetSubtype="0" fill="hold" grpId="0" nodeType="afterEffect">
                            <p:stCondLst>
                              <p:cond delay="1050"/>
                            </p:stCondLst>
                            <p:childTnLst>
                              <p:set>
                                <p:cBhvr>
                                  <p:cTn id="144" dur="1" fill="hold">
                                    <p:stCondLst>
                                      <p:cond delay="0"/>
                                    </p:stCondLst>
                                  </p:cTn>
                                  <p:tgtEl>
                                    <p:spTgt spid="20"/>
                                  </p:tgtEl>
                                  <p:attrNameLst>
                                    <p:attrName>style.visibility</p:attrName>
                                  </p:attrNameLst>
                                </p:cBhvr>
                                <p:to>
                                  <p:strVal val="visible"/>
                                </p:to>
                              </p:set>
                              <p:anim calcmode="lin" valueType="num">
                                <p:cBhvr>
                                  <p:cTn id="145" dur="500"/>
                                  <p:tgtEl>
                                    <p:spTgt spid="20"/>
                                  </p:tgtEl>
                                  <p:attrNameLst>
                                    <p:attrName>style.opacity</p:attrName>
                                  </p:attrNameLst>
                                </p:cBhvr>
                                <p:tavLst>
                                  <p:tav tm="0">
                                    <p:val>
                                      <p:fltVal val="0"/>
                                    </p:val>
                                  </p:tav>
                                  <p:tav tm="100000">
                                    <p:val>
                                      <p:fltVal val="1"/>
                                    </p:val>
                                  </p:tav>
                                </p:tavLst>
                              </p:anim>
                              <p:set>
                                <p:cBhvr>
                                  <p:cTn id="146" dur="1" fill="hold">
                                    <p:stCondLst>
                                      <p:cond delay="0"/>
                                    </p:stCondLst>
                                  </p:cTn>
                                  <p:tgtEl>
                                    <p:spTgt spid="21"/>
                                  </p:tgtEl>
                                  <p:attrNameLst>
                                    <p:attrName>style.visibility</p:attrName>
                                  </p:attrNameLst>
                                </p:cBhvr>
                                <p:to>
                                  <p:strVal val="visible"/>
                                </p:to>
                              </p:set>
                              <p:anim calcmode="lin" valueType="num">
                                <p:cBhvr>
                                  <p:cTn id="147" dur="500"/>
                                  <p:tgtEl>
                                    <p:spTgt spid="21"/>
                                  </p:tgtEl>
                                  <p:attrNameLst>
                                    <p:attrName>style.opacity</p:attrName>
                                  </p:attrNameLst>
                                </p:cBhvr>
                                <p:tavLst>
                                  <p:tav tm="0">
                                    <p:val>
                                      <p:fltVal val="0"/>
                                    </p:val>
                                  </p:tav>
                                  <p:tav tm="100000">
                                    <p:val>
                                      <p:fltVal val="1"/>
                                    </p:val>
                                  </p:tav>
                                </p:tavLst>
                              </p:anim>
                              <p:set>
                                <p:cBhvr>
                                  <p:cTn id="148" dur="1" fill="hold">
                                    <p:stCondLst>
                                      <p:cond delay="0"/>
                                    </p:stCondLst>
                                  </p:cTn>
                                  <p:tgtEl>
                                    <p:spTgt spid="22"/>
                                  </p:tgtEl>
                                  <p:attrNameLst>
                                    <p:attrName>style.visibility</p:attrName>
                                  </p:attrNameLst>
                                </p:cBhvr>
                                <p:to>
                                  <p:strVal val="visible"/>
                                </p:to>
                              </p:set>
                              <p:anim calcmode="lin" valueType="num">
                                <p:cBhvr>
                                  <p:cTn id="149" dur="500"/>
                                  <p:tgtEl>
                                    <p:spTgt spid="22"/>
                                  </p:tgtEl>
                                  <p:attrNameLst>
                                    <p:attrName>style.opacity</p:attrName>
                                  </p:attrNameLst>
                                </p:cBhvr>
                                <p:tavLst>
                                  <p:tav tm="0">
                                    <p:val>
                                      <p:fltVal val="0"/>
                                    </p:val>
                                  </p:tav>
                                  <p:tav tm="100000">
                                    <p:val>
                                      <p:fltVal val="1"/>
                                    </p:val>
                                  </p:tav>
                                </p:tavLst>
                              </p:anim>
                              <p:set>
                                <p:cBhvr>
                                  <p:cTn id="150" dur="1" fill="hold">
                                    <p:stCondLst>
                                      <p:cond delay="0"/>
                                    </p:stCondLst>
                                  </p:cTn>
                                  <p:tgtEl>
                                    <p:spTgt spid="23"/>
                                  </p:tgtEl>
                                  <p:attrNameLst>
                                    <p:attrName>style.visibility</p:attrName>
                                  </p:attrNameLst>
                                </p:cBhvr>
                                <p:to>
                                  <p:strVal val="visible"/>
                                </p:to>
                              </p:set>
                              <p:anim calcmode="lin" valueType="num">
                                <p:cBhvr>
                                  <p:cTn id="151" dur="500"/>
                                  <p:tgtEl>
                                    <p:spTgt spid="23"/>
                                  </p:tgtEl>
                                  <p:attrNameLst>
                                    <p:attrName>style.opacity</p:attrName>
                                  </p:attrNameLst>
                                </p:cBhvr>
                                <p:tavLst>
                                  <p:tav tm="0">
                                    <p:val>
                                      <p:fltVal val="0"/>
                                    </p:val>
                                  </p:tav>
                                  <p:tav tm="100000">
                                    <p:val>
                                      <p:fltVal val="1"/>
                                    </p:val>
                                  </p:tav>
                                </p:tavLst>
                              </p:anim>
                              <p:set>
                                <p:cBhvr>
                                  <p:cTn id="152" dur="1" fill="hold">
                                    <p:stCondLst>
                                      <p:cond delay="0"/>
                                    </p:stCondLst>
                                  </p:cTn>
                                  <p:tgtEl>
                                    <p:spTgt spid="24"/>
                                  </p:tgtEl>
                                  <p:attrNameLst>
                                    <p:attrName>style.visibility</p:attrName>
                                  </p:attrNameLst>
                                </p:cBhvr>
                                <p:to>
                                  <p:strVal val="visible"/>
                                </p:to>
                              </p:set>
                              <p:anim calcmode="lin" valueType="num">
                                <p:cBhvr>
                                  <p:cTn id="153" dur="500"/>
                                  <p:tgtEl>
                                    <p:spTgt spid="24"/>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200"/>
                            </p:stCondLst>
                            <p:childTnLst>
                              <p:set>
                                <p:cBhvr>
                                  <p:cTn id="155" dur="1" fill="hold">
                                    <p:stCondLst>
                                      <p:cond delay="0"/>
                                    </p:stCondLst>
                                  </p:cTn>
                                  <p:tgtEl>
                                    <p:spTgt spid="25"/>
                                  </p:tgtEl>
                                  <p:attrNameLst>
                                    <p:attrName>style.visibility</p:attrName>
                                  </p:attrNameLst>
                                </p:cBhvr>
                                <p:to>
                                  <p:strVal val="visible"/>
                                </p:to>
                              </p:set>
                              <p:anim calcmode="lin" valueType="num">
                                <p:cBhvr>
                                  <p:cTn id="156" dur="500"/>
                                  <p:tgtEl>
                                    <p:spTgt spid="25"/>
                                  </p:tgtEl>
                                  <p:attrNameLst>
                                    <p:attrName>style.opacity</p:attrName>
                                  </p:attrNameLst>
                                </p:cBhvr>
                                <p:tavLst>
                                  <p:tav tm="0">
                                    <p:val>
                                      <p:fltVal val="0"/>
                                    </p:val>
                                  </p:tav>
                                  <p:tav tm="100000">
                                    <p:val>
                                      <p:fltVal val="1"/>
                                    </p:val>
                                  </p:tav>
                                </p:tavLst>
                              </p:anim>
                              <p:set>
                                <p:cBhvr>
                                  <p:cTn id="157" dur="1" fill="hold">
                                    <p:stCondLst>
                                      <p:cond delay="0"/>
                                    </p:stCondLst>
                                  </p:cTn>
                                  <p:tgtEl>
                                    <p:spTgt spid="26"/>
                                  </p:tgtEl>
                                  <p:attrNameLst>
                                    <p:attrName>style.visibility</p:attrName>
                                  </p:attrNameLst>
                                </p:cBhvr>
                                <p:to>
                                  <p:strVal val="visible"/>
                                </p:to>
                              </p:set>
                              <p:anim calcmode="lin" valueType="num">
                                <p:cBhvr>
                                  <p:cTn id="158" dur="500"/>
                                  <p:tgtEl>
                                    <p:spTgt spid="26"/>
                                  </p:tgtEl>
                                  <p:attrNameLst>
                                    <p:attrName>style.opacity</p:attrName>
                                  </p:attrNameLst>
                                </p:cBhvr>
                                <p:tavLst>
                                  <p:tav tm="0">
                                    <p:val>
                                      <p:fltVal val="0"/>
                                    </p:val>
                                  </p:tav>
                                  <p:tav tm="100000">
                                    <p:val>
                                      <p:fltVal val="1"/>
                                    </p:val>
                                  </p:tav>
                                </p:tavLst>
                              </p:anim>
                              <p:set>
                                <p:cBhvr>
                                  <p:cTn id="159" dur="1" fill="hold">
                                    <p:stCondLst>
                                      <p:cond delay="0"/>
                                    </p:stCondLst>
                                  </p:cTn>
                                  <p:tgtEl>
                                    <p:spTgt spid="27"/>
                                  </p:tgtEl>
                                  <p:attrNameLst>
                                    <p:attrName>style.visibility</p:attrName>
                                  </p:attrNameLst>
                                </p:cBhvr>
                                <p:to>
                                  <p:strVal val="visible"/>
                                </p:to>
                              </p:set>
                              <p:anim calcmode="lin" valueType="num">
                                <p:cBhvr>
                                  <p:cTn id="160" dur="500"/>
                                  <p:tgtEl>
                                    <p:spTgt spid="27"/>
                                  </p:tgtEl>
                                  <p:attrNameLst>
                                    <p:attrName>style.opacity</p:attrName>
                                  </p:attrNameLst>
                                </p:cBhvr>
                                <p:tavLst>
                                  <p:tav tm="0">
                                    <p:val>
                                      <p:fltVal val="0"/>
                                    </p:val>
                                  </p:tav>
                                  <p:tav tm="100000">
                                    <p:val>
                                      <p:fltVal val="1"/>
                                    </p:val>
                                  </p:tav>
                                </p:tavLst>
                              </p:anim>
                              <p:set>
                                <p:cBhvr>
                                  <p:cTn id="161" dur="1" fill="hold">
                                    <p:stCondLst>
                                      <p:cond delay="0"/>
                                    </p:stCondLst>
                                  </p:cTn>
                                  <p:tgtEl>
                                    <p:spTgt spid="28"/>
                                  </p:tgtEl>
                                  <p:attrNameLst>
                                    <p:attrName>style.visibility</p:attrName>
                                  </p:attrNameLst>
                                </p:cBhvr>
                                <p:to>
                                  <p:strVal val="visible"/>
                                </p:to>
                              </p:set>
                              <p:anim calcmode="lin" valueType="num">
                                <p:cBhvr>
                                  <p:cTn id="162" dur="500"/>
                                  <p:tgtEl>
                                    <p:spTgt spid="28"/>
                                  </p:tgtEl>
                                  <p:attrNameLst>
                                    <p:attrName>style.opacity</p:attrName>
                                  </p:attrNameLst>
                                </p:cBhvr>
                                <p:tavLst>
                                  <p:tav tm="0">
                                    <p:val>
                                      <p:fltVal val="0"/>
                                    </p:val>
                                  </p:tav>
                                  <p:tav tm="100000">
                                    <p:val>
                                      <p:fltVal val="1"/>
                                    </p:val>
                                  </p:tav>
                                </p:tavLst>
                              </p:anim>
                              <p:set>
                                <p:cBhvr>
                                  <p:cTn id="163" dur="1" fill="hold">
                                    <p:stCondLst>
                                      <p:cond delay="0"/>
                                    </p:stCondLst>
                                  </p:cTn>
                                  <p:tgtEl>
                                    <p:spTgt spid="29"/>
                                  </p:tgtEl>
                                  <p:attrNameLst>
                                    <p:attrName>style.visibility</p:attrName>
                                  </p:attrNameLst>
                                </p:cBhvr>
                                <p:to>
                                  <p:strVal val="visible"/>
                                </p:to>
                              </p:set>
                              <p:anim calcmode="lin" valueType="num">
                                <p:cBhvr>
                                  <p:cTn id="164" dur="500"/>
                                  <p:tgtEl>
                                    <p:spTgt spid="29"/>
                                  </p:tgtEl>
                                  <p:attrNameLst>
                                    <p:attrName>style.opacity</p:attrName>
                                  </p:attrNameLst>
                                </p:cBhvr>
                                <p:tavLst>
                                  <p:tav tm="0">
                                    <p:val>
                                      <p:fltVal val="0"/>
                                    </p:val>
                                  </p:tav>
                                  <p:tav tm="100000">
                                    <p:val>
                                      <p:fltVal val="1"/>
                                    </p:val>
                                  </p:tav>
                                </p:tavLst>
                              </p:anim>
                            </p:childTnLst>
                          </p:cTn>
                        </p:par>
                        <p:par>
                          <p:cTn id="165" presetID="10" presetClass="entr" presetSubtype="0" fill="hold" grpId="0" nodeType="afterEffect">
                            <p:stCondLst>
                              <p:cond delay="1350"/>
                            </p:stCondLst>
                            <p:childTnLst>
                              <p:set>
                                <p:cBhvr>
                                  <p:cTn id="166" dur="1" fill="hold">
                                    <p:stCondLst>
                                      <p:cond delay="0"/>
                                    </p:stCondLst>
                                  </p:cTn>
                                  <p:tgtEl>
                                    <p:spTgt spid="30"/>
                                  </p:tgtEl>
                                  <p:attrNameLst>
                                    <p:attrName>style.visibility</p:attrName>
                                  </p:attrNameLst>
                                </p:cBhvr>
                                <p:to>
                                  <p:strVal val="visible"/>
                                </p:to>
                              </p:set>
                              <p:anim calcmode="lin" valueType="num">
                                <p:cBhvr>
                                  <p:cTn id="167" dur="500"/>
                                  <p:tgtEl>
                                    <p:spTgt spid="30"/>
                                  </p:tgtEl>
                                  <p:attrNameLst>
                                    <p:attrName>style.opacity</p:attrName>
                                  </p:attrNameLst>
                                </p:cBhvr>
                                <p:tavLst>
                                  <p:tav tm="0">
                                    <p:val>
                                      <p:fltVal val="0"/>
                                    </p:val>
                                  </p:tav>
                                  <p:tav tm="100000">
                                    <p:val>
                                      <p:fltVal val="1"/>
                                    </p:val>
                                  </p:tav>
                                </p:tavLst>
                              </p:anim>
                              <p:set>
                                <p:cBhvr>
                                  <p:cTn id="168" dur="1" fill="hold">
                                    <p:stCondLst>
                                      <p:cond delay="0"/>
                                    </p:stCondLst>
                                  </p:cTn>
                                  <p:tgtEl>
                                    <p:spTgt spid="31"/>
                                  </p:tgtEl>
                                  <p:attrNameLst>
                                    <p:attrName>style.visibility</p:attrName>
                                  </p:attrNameLst>
                                </p:cBhvr>
                                <p:to>
                                  <p:strVal val="visible"/>
                                </p:to>
                              </p:set>
                              <p:anim calcmode="lin" valueType="num">
                                <p:cBhvr>
                                  <p:cTn id="169" dur="500"/>
                                  <p:tgtEl>
                                    <p:spTgt spid="31"/>
                                  </p:tgtEl>
                                  <p:attrNameLst>
                                    <p:attrName>style.opacity</p:attrName>
                                  </p:attrNameLst>
                                </p:cBhvr>
                                <p:tavLst>
                                  <p:tav tm="0">
                                    <p:val>
                                      <p:fltVal val="0"/>
                                    </p:val>
                                  </p:tav>
                                  <p:tav tm="100000">
                                    <p:val>
                                      <p:fltVal val="1"/>
                                    </p:val>
                                  </p:tav>
                                </p:tavLst>
                              </p:anim>
                              <p:set>
                                <p:cBhvr>
                                  <p:cTn id="170" dur="1" fill="hold">
                                    <p:stCondLst>
                                      <p:cond delay="0"/>
                                    </p:stCondLst>
                                  </p:cTn>
                                  <p:tgtEl>
                                    <p:spTgt spid="32"/>
                                  </p:tgtEl>
                                  <p:attrNameLst>
                                    <p:attrName>style.visibility</p:attrName>
                                  </p:attrNameLst>
                                </p:cBhvr>
                                <p:to>
                                  <p:strVal val="visible"/>
                                </p:to>
                              </p:set>
                              <p:anim calcmode="lin" valueType="num">
                                <p:cBhvr>
                                  <p:cTn id="171" dur="500"/>
                                  <p:tgtEl>
                                    <p:spTgt spid="32"/>
                                  </p:tgtEl>
                                  <p:attrNameLst>
                                    <p:attrName>style.opacity</p:attrName>
                                  </p:attrNameLst>
                                </p:cBhvr>
                                <p:tavLst>
                                  <p:tav tm="0">
                                    <p:val>
                                      <p:fltVal val="0"/>
                                    </p:val>
                                  </p:tav>
                                  <p:tav tm="100000">
                                    <p:val>
                                      <p:fltVal val="1"/>
                                    </p:val>
                                  </p:tav>
                                </p:tavLst>
                              </p:anim>
                              <p:set>
                                <p:cBhvr>
                                  <p:cTn id="172" dur="1" fill="hold">
                                    <p:stCondLst>
                                      <p:cond delay="0"/>
                                    </p:stCondLst>
                                  </p:cTn>
                                  <p:tgtEl>
                                    <p:spTgt spid="33"/>
                                  </p:tgtEl>
                                  <p:attrNameLst>
                                    <p:attrName>style.visibility</p:attrName>
                                  </p:attrNameLst>
                                </p:cBhvr>
                                <p:to>
                                  <p:strVal val="visible"/>
                                </p:to>
                              </p:set>
                              <p:anim calcmode="lin" valueType="num">
                                <p:cBhvr>
                                  <p:cTn id="173" dur="500"/>
                                  <p:tgtEl>
                                    <p:spTgt spid="33"/>
                                  </p:tgtEl>
                                  <p:attrNameLst>
                                    <p:attrName>style.opacity</p:attrName>
                                  </p:attrNameLst>
                                </p:cBhvr>
                                <p:tavLst>
                                  <p:tav tm="0">
                                    <p:val>
                                      <p:fltVal val="0"/>
                                    </p:val>
                                  </p:tav>
                                  <p:tav tm="100000">
                                    <p:val>
                                      <p:fltVal val="1"/>
                                    </p:val>
                                  </p:tav>
                                </p:tavLst>
                              </p:anim>
                              <p:set>
                                <p:cBhvr>
                                  <p:cTn id="174" dur="1" fill="hold">
                                    <p:stCondLst>
                                      <p:cond delay="0"/>
                                    </p:stCondLst>
                                  </p:cTn>
                                  <p:tgtEl>
                                    <p:spTgt spid="34"/>
                                  </p:tgtEl>
                                  <p:attrNameLst>
                                    <p:attrName>style.visibility</p:attrName>
                                  </p:attrNameLst>
                                </p:cBhvr>
                                <p:to>
                                  <p:strVal val="visible"/>
                                </p:to>
                              </p:set>
                              <p:anim calcmode="lin" valueType="num">
                                <p:cBhvr>
                                  <p:cTn id="175" dur="500"/>
                                  <p:tgtEl>
                                    <p:spTgt spid="34"/>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From Manual Administration to Enterprise Operations</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This release expands the system from a transactional tool into a monitored, automated operating platform.</a:t>
            </a:r>
            <a:endParaRPr lang="en-US" sz="1050" dirty="0"/>
          </a:p>
        </p:txBody>
      </p:sp>
      <p:sp>
        <p:nvSpPr>
          <p:cNvPr id="5" name="Shape 3"/>
          <p:cNvSpPr/>
          <p:nvPr/>
        </p:nvSpPr>
        <p:spPr>
          <a:xfrm>
            <a:off x="713232" y="1371600"/>
            <a:ext cx="6583680" cy="4526280"/>
          </a:xfrm>
          <a:prstGeom prst="roundRect">
            <a:avLst>
              <a:gd name="adj" fmla="val 242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14400" y="1572768"/>
            <a:ext cx="1298448"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24128" y="1623060"/>
            <a:ext cx="1078992"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RELEASE FOCUS</a:t>
            </a:r>
            <a:endParaRPr lang="en-US" sz="850" dirty="0"/>
          </a:p>
        </p:txBody>
      </p:sp>
      <p:sp>
        <p:nvSpPr>
          <p:cNvPr id="8" name="Text 6"/>
          <p:cNvSpPr/>
          <p:nvPr/>
        </p:nvSpPr>
        <p:spPr>
          <a:xfrm>
            <a:off x="914400" y="1947672"/>
            <a:ext cx="5943600" cy="438912"/>
          </a:xfrm>
          <a:prstGeom prst="rect">
            <a:avLst/>
          </a:prstGeom>
          <a:noFill/>
          <a:ln/>
        </p:spPr>
        <p:txBody>
          <a:bodyPr wrap="square" lIns="0" tIns="0" rIns="0" bIns="0" rtlCol="0" anchor="ctr"/>
          <a:lstStyle/>
          <a:p>
            <a:pPr indent="0" marL="0">
              <a:buNone/>
            </a:pPr>
            <a:r>
              <a:rPr lang="en-US" sz="2000" b="1" dirty="0">
                <a:solidFill>
                  <a:srgbClr val="13233F"/>
                </a:solidFill>
                <a:latin typeface="Liberation Sans" pitchFamily="34" charset="0"/>
                <a:ea typeface="Liberation Sans" pitchFamily="34" charset="-122"/>
                <a:cs typeface="Liberation Sans" pitchFamily="34" charset="-120"/>
              </a:rPr>
              <a:t>A broader management platform with stronger automation, governance, and operational responsiveness.</a:t>
            </a:r>
            <a:endParaRPr lang="en-US" sz="2000" dirty="0"/>
          </a:p>
        </p:txBody>
      </p:sp>
      <p:sp>
        <p:nvSpPr>
          <p:cNvPr id="9" name="Text 7"/>
          <p:cNvSpPr/>
          <p:nvPr/>
        </p:nvSpPr>
        <p:spPr>
          <a:xfrm>
            <a:off x="914400" y="2487168"/>
            <a:ext cx="5760720" cy="841248"/>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The document shows improvements across internship management, broadcast media, FM operations, newsroom governance, security, analytics, and enterprise infrastructure. Together, these changes reduce manual effort while increasing monitoring depth, reporting quality, and institutional trust.</a:t>
            </a:r>
            <a:endParaRPr lang="en-US" sz="1050" dirty="0"/>
          </a:p>
        </p:txBody>
      </p:sp>
      <p:sp>
        <p:nvSpPr>
          <p:cNvPr id="10" name="Shape 8"/>
          <p:cNvSpPr/>
          <p:nvPr/>
        </p:nvSpPr>
        <p:spPr>
          <a:xfrm>
            <a:off x="914400" y="3657600"/>
            <a:ext cx="1783080"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1" name="Shape 9"/>
          <p:cNvSpPr/>
          <p:nvPr/>
        </p:nvSpPr>
        <p:spPr>
          <a:xfrm>
            <a:off x="914400" y="3657600"/>
            <a:ext cx="1783080" cy="164592"/>
          </a:xfrm>
          <a:prstGeom prst="rect">
            <a:avLst/>
          </a:prstGeom>
          <a:solidFill>
            <a:srgbClr val="1E40AF"/>
          </a:solidFill>
          <a:ln w="12700">
            <a:solidFill>
              <a:srgbClr val="1E40AF">
                <a:alpha val="0"/>
              </a:srgbClr>
            </a:solidFill>
            <a:prstDash val="solid"/>
          </a:ln>
        </p:spPr>
      </p:sp>
      <p:sp>
        <p:nvSpPr>
          <p:cNvPr id="12" name="Text 10"/>
          <p:cNvSpPr/>
          <p:nvPr/>
        </p:nvSpPr>
        <p:spPr>
          <a:xfrm>
            <a:off x="1051560" y="3877056"/>
            <a:ext cx="15087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Operate</a:t>
            </a:r>
            <a:endParaRPr lang="en-US" sz="1350" dirty="0"/>
          </a:p>
        </p:txBody>
      </p:sp>
      <p:sp>
        <p:nvSpPr>
          <p:cNvPr id="13" name="Text 11"/>
          <p:cNvSpPr/>
          <p:nvPr/>
        </p:nvSpPr>
        <p:spPr>
          <a:xfrm>
            <a:off x="1051560" y="4114800"/>
            <a:ext cx="15087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Daily workflows now run with clearer digital controls.</a:t>
            </a:r>
            <a:endParaRPr lang="en-US" sz="880" dirty="0"/>
          </a:p>
        </p:txBody>
      </p:sp>
      <p:sp>
        <p:nvSpPr>
          <p:cNvPr id="14" name="Shape 12"/>
          <p:cNvSpPr/>
          <p:nvPr/>
        </p:nvSpPr>
        <p:spPr>
          <a:xfrm>
            <a:off x="2907792" y="3657600"/>
            <a:ext cx="1783080"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15" name="Shape 13"/>
          <p:cNvSpPr/>
          <p:nvPr/>
        </p:nvSpPr>
        <p:spPr>
          <a:xfrm>
            <a:off x="2907792" y="3657600"/>
            <a:ext cx="1783080" cy="164592"/>
          </a:xfrm>
          <a:prstGeom prst="rect">
            <a:avLst/>
          </a:prstGeom>
          <a:solidFill>
            <a:srgbClr val="3B82F6"/>
          </a:solidFill>
          <a:ln w="12700">
            <a:solidFill>
              <a:srgbClr val="3B82F6">
                <a:alpha val="0"/>
              </a:srgbClr>
            </a:solidFill>
            <a:prstDash val="solid"/>
          </a:ln>
        </p:spPr>
      </p:sp>
      <p:sp>
        <p:nvSpPr>
          <p:cNvPr id="16" name="Text 14"/>
          <p:cNvSpPr/>
          <p:nvPr/>
        </p:nvSpPr>
        <p:spPr>
          <a:xfrm>
            <a:off x="3044952" y="3877056"/>
            <a:ext cx="15087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Monitor</a:t>
            </a:r>
            <a:endParaRPr lang="en-US" sz="1350" dirty="0"/>
          </a:p>
        </p:txBody>
      </p:sp>
      <p:sp>
        <p:nvSpPr>
          <p:cNvPr id="17" name="Text 15"/>
          <p:cNvSpPr/>
          <p:nvPr/>
        </p:nvSpPr>
        <p:spPr>
          <a:xfrm>
            <a:off x="3044952" y="4114800"/>
            <a:ext cx="15087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Location, outages, licenses, and approvals are tracked in real time.</a:t>
            </a:r>
            <a:endParaRPr lang="en-US" sz="880" dirty="0"/>
          </a:p>
        </p:txBody>
      </p:sp>
      <p:sp>
        <p:nvSpPr>
          <p:cNvPr id="18" name="Shape 16"/>
          <p:cNvSpPr/>
          <p:nvPr/>
        </p:nvSpPr>
        <p:spPr>
          <a:xfrm>
            <a:off x="4901184" y="3657600"/>
            <a:ext cx="1783080"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19" name="Shape 17"/>
          <p:cNvSpPr/>
          <p:nvPr/>
        </p:nvSpPr>
        <p:spPr>
          <a:xfrm>
            <a:off x="4901184" y="3657600"/>
            <a:ext cx="1783080" cy="164592"/>
          </a:xfrm>
          <a:prstGeom prst="rect">
            <a:avLst/>
          </a:prstGeom>
          <a:solidFill>
            <a:srgbClr val="F59E0B"/>
          </a:solidFill>
          <a:ln w="12700">
            <a:solidFill>
              <a:srgbClr val="F59E0B">
                <a:alpha val="0"/>
              </a:srgbClr>
            </a:solidFill>
            <a:prstDash val="solid"/>
          </a:ln>
        </p:spPr>
      </p:sp>
      <p:sp>
        <p:nvSpPr>
          <p:cNvPr id="20" name="Text 18"/>
          <p:cNvSpPr/>
          <p:nvPr/>
        </p:nvSpPr>
        <p:spPr>
          <a:xfrm>
            <a:off x="5038344" y="3877056"/>
            <a:ext cx="15087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Improve</a:t>
            </a:r>
            <a:endParaRPr lang="en-US" sz="1350" dirty="0"/>
          </a:p>
        </p:txBody>
      </p:sp>
      <p:sp>
        <p:nvSpPr>
          <p:cNvPr id="21" name="Text 19"/>
          <p:cNvSpPr/>
          <p:nvPr/>
        </p:nvSpPr>
        <p:spPr>
          <a:xfrm>
            <a:off x="5038344" y="4114800"/>
            <a:ext cx="15087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Reporting, analytics, and scale features strengthen management visibility.</a:t>
            </a:r>
            <a:endParaRPr lang="en-US" sz="880" dirty="0"/>
          </a:p>
        </p:txBody>
      </p:sp>
      <p:pic>
        <p:nvPicPr>
          <p:cNvPr id="22" name="Image 0" descr="/workspace/assets/swahilipot_platform_visual.jpg"/>
          <p:cNvPicPr>
            <a:picLocks noChangeAspect="1"/>
          </p:cNvPicPr>
          <p:nvPr/>
        </p:nvPicPr>
        <p:blipFill>
          <a:blip r:embed="rId1"/>
          <a:stretch>
            <a:fillRect/>
          </a:stretch>
        </p:blipFill>
        <p:spPr>
          <a:xfrm>
            <a:off x="7589520" y="1625718"/>
            <a:ext cx="3840480" cy="2143524"/>
          </a:xfrm>
          <a:prstGeom prst="rect">
            <a:avLst/>
          </a:prstGeom>
        </p:spPr>
      </p:pic>
      <p:sp>
        <p:nvSpPr>
          <p:cNvPr id="23" name="Shape 20"/>
          <p:cNvSpPr/>
          <p:nvPr/>
        </p:nvSpPr>
        <p:spPr>
          <a:xfrm>
            <a:off x="7571232" y="4160520"/>
            <a:ext cx="3858768" cy="1737360"/>
          </a:xfrm>
          <a:prstGeom prst="roundRect">
            <a:avLst>
              <a:gd name="adj" fmla="val 6316"/>
            </a:avLst>
          </a:prstGeom>
          <a:solidFill>
            <a:srgbClr val="EFF5FF"/>
          </a:solidFill>
          <a:ln w="12700">
            <a:solidFill>
              <a:srgbClr val="D6E4FB"/>
            </a:solidFill>
            <a:prstDash val="solid"/>
          </a:ln>
        </p:spPr>
      </p:sp>
      <p:sp>
        <p:nvSpPr>
          <p:cNvPr id="24" name="Text 21"/>
          <p:cNvSpPr/>
          <p:nvPr/>
        </p:nvSpPr>
        <p:spPr>
          <a:xfrm>
            <a:off x="7790688" y="4370832"/>
            <a:ext cx="3108960" cy="182880"/>
          </a:xfrm>
          <a:prstGeom prst="rect">
            <a:avLst/>
          </a:prstGeom>
          <a:noFill/>
          <a:ln/>
        </p:spPr>
        <p:txBody>
          <a:bodyPr wrap="square" lIns="0" tIns="0" rIns="0" bIns="0" rtlCol="0" anchor="ctr"/>
          <a:lstStyle/>
          <a:p>
            <a:pPr indent="0" marL="0">
              <a:buNone/>
            </a:pPr>
            <a:r>
              <a:rPr lang="en-US" sz="880" b="1" dirty="0">
                <a:solidFill>
                  <a:srgbClr val="1E40AF"/>
                </a:solidFill>
                <a:latin typeface="Liberation Mono" pitchFamily="34" charset="0"/>
                <a:ea typeface="Liberation Mono" pitchFamily="34" charset="-122"/>
                <a:cs typeface="Liberation Mono" pitchFamily="34" charset="-120"/>
              </a:rPr>
              <a:t>Proof points pulled directly from the release</a:t>
            </a:r>
            <a:endParaRPr lang="en-US" sz="880" dirty="0"/>
          </a:p>
        </p:txBody>
      </p:sp>
      <p:sp>
        <p:nvSpPr>
          <p:cNvPr id="25" name="Text 22"/>
          <p:cNvSpPr/>
          <p:nvPr/>
        </p:nvSpPr>
        <p:spPr>
          <a:xfrm>
            <a:off x="7790688" y="4645152"/>
            <a:ext cx="3154680" cy="868680"/>
          </a:xfrm>
          <a:prstGeom prst="rect">
            <a:avLst/>
          </a:prstGeom>
          <a:noFill/>
          <a:ln/>
        </p:spPr>
        <p:txBody>
          <a:bodyPr wrap="square" lIns="0" tIns="0" rIns="0" bIns="0" rtlCol="0" anchor="ctr"/>
          <a:lstStyle/>
          <a:p>
            <a:pPr indent="0" marL="0">
              <a:buNone/>
            </a:pPr>
            <a:r>
              <a:rPr lang="en-US" sz="1020" dirty="0">
                <a:solidFill>
                  <a:srgbClr val="13233F"/>
                </a:solidFill>
                <a:latin typeface="Liberation Sans" pitchFamily="34" charset="0"/>
                <a:ea typeface="Liberation Sans" pitchFamily="34" charset="-122"/>
                <a:cs typeface="Liberation Sans" pitchFamily="34" charset="-120"/>
              </a:rPr>
              <a:t>100-meter geofence radius</a:t>
            </a:r>
            <a:endParaRPr lang="en-US" sz="1020" dirty="0"/>
          </a:p>
          <a:p>
            <a:pPr indent="0" marL="0">
              <a:buNone/>
            </a:pPr>
            <a:r>
              <a:rPr lang="en-US" sz="1020" dirty="0">
                <a:solidFill>
                  <a:srgbClr val="13233F"/>
                </a:solidFill>
                <a:latin typeface="Liberation Sans" pitchFamily="34" charset="0"/>
                <a:ea typeface="Liberation Sans" pitchFamily="34" charset="-122"/>
                <a:cs typeface="Liberation Sans" pitchFamily="34" charset="-120"/>
              </a:rPr>
              <a:t>5-minute FM heartbeat validation</a:t>
            </a:r>
            <a:endParaRPr lang="en-US" sz="1020" dirty="0"/>
          </a:p>
          <a:p>
            <a:pPr indent="0" marL="0">
              <a:buNone/>
            </a:pPr>
            <a:r>
              <a:rPr lang="en-US" sz="1020" dirty="0">
                <a:solidFill>
                  <a:srgbClr val="13233F"/>
                </a:solidFill>
                <a:latin typeface="Liberation Sans" pitchFamily="34" charset="0"/>
                <a:ea typeface="Liberation Sans" pitchFamily="34" charset="-122"/>
                <a:cs typeface="Liberation Sans" pitchFamily="34" charset="-120"/>
              </a:rPr>
              <a:t>30-day and 7-day license expiry alerts</a:t>
            </a:r>
            <a:endParaRPr lang="en-US" sz="1020" dirty="0"/>
          </a:p>
          <a:p>
            <a:pPr indent="0" marL="0">
              <a:buNone/>
            </a:pPr>
            <a:r>
              <a:rPr lang="en-US" sz="1020" dirty="0">
                <a:solidFill>
                  <a:srgbClr val="13233F"/>
                </a:solidFill>
                <a:latin typeface="Liberation Sans" pitchFamily="34" charset="0"/>
                <a:ea typeface="Liberation Sans" pitchFamily="34" charset="-122"/>
                <a:cs typeface="Liberation Sans" pitchFamily="34" charset="-120"/>
              </a:rPr>
              <a:t>100,000+ concurrent-user readiness</a:t>
            </a:r>
            <a:endParaRPr lang="en-US" sz="1020" dirty="0"/>
          </a:p>
        </p:txBody>
      </p:sp>
      <p:sp>
        <p:nvSpPr>
          <p:cNvPr id="26" name="Shape 23"/>
          <p:cNvSpPr/>
          <p:nvPr/>
        </p:nvSpPr>
        <p:spPr>
          <a:xfrm>
            <a:off x="548640" y="6446520"/>
            <a:ext cx="11064240" cy="0"/>
          </a:xfrm>
          <a:prstGeom prst="line">
            <a:avLst/>
          </a:prstGeom>
          <a:noFill/>
          <a:ln w="12700">
            <a:solidFill>
              <a:srgbClr val="C8D8F0"/>
            </a:solidFill>
            <a:prstDash val="solid"/>
          </a:ln>
        </p:spPr>
      </p:sp>
      <p:sp>
        <p:nvSpPr>
          <p:cNvPr id="27" name="Text 24"/>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28" name="Text 25"/>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3</a:t>
            </a:r>
            <a:endParaRPr lang="en-US" sz="850" dirty="0"/>
          </a:p>
        </p:txBody>
      </p:sp>
      <p:sp>
        <p:nvSpPr>
          <p:cNvPr id="31"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32" name="Swahilipot Logo"/>
          <p:cNvPicPr>
            <a:picLocks noChangeAspect="1"/>
          </p:cNvPicPr>
          <p:nvPr/>
        </p:nvPicPr>
        <p:blipFill>
          <a:blip r:embed="rId4"/>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6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7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8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9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7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81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childTnLst>
                          </p:cTn>
                        </p:par>
                        <p:par>
                          <p:cTn id="124" presetID="10" presetClass="entr" presetSubtype="0" fill="hold" grpId="0" nodeType="afterEffect">
                            <p:stCondLst>
                              <p:cond delay="920"/>
                            </p:stCondLst>
                            <p:childTnLst>
                              <p:set>
                                <p:cBhvr>
                                  <p:cTn id="125" dur="1" fill="hold">
                                    <p:stCondLst>
                                      <p:cond delay="0"/>
                                    </p:stCondLst>
                                  </p:cTn>
                                  <p:tgtEl>
                                    <p:spTgt spid="10"/>
                                  </p:tgtEl>
                                  <p:attrNameLst>
                                    <p:attrName>style.visibility</p:attrName>
                                  </p:attrNameLst>
                                </p:cBhvr>
                                <p:to>
                                  <p:strVal val="visible"/>
                                </p:to>
                              </p:set>
                              <p:anim calcmode="lin" valueType="num">
                                <p:cBhvr>
                                  <p:cTn id="126" dur="500"/>
                                  <p:tgtEl>
                                    <p:spTgt spid="10"/>
                                  </p:tgtEl>
                                  <p:attrNameLst>
                                    <p:attrName>style.opacity</p:attrName>
                                  </p:attrNameLst>
                                </p:cBhvr>
                                <p:tavLst>
                                  <p:tav tm="0">
                                    <p:val>
                                      <p:fltVal val="0"/>
                                    </p:val>
                                  </p:tav>
                                  <p:tav tm="100000">
                                    <p:val>
                                      <p:fltVal val="1"/>
                                    </p:val>
                                  </p:tav>
                                </p:tavLst>
                              </p:anim>
                              <p:set>
                                <p:cBhvr>
                                  <p:cTn id="127" dur="1" fill="hold">
                                    <p:stCondLst>
                                      <p:cond delay="0"/>
                                    </p:stCondLst>
                                  </p:cTn>
                                  <p:tgtEl>
                                    <p:spTgt spid="11"/>
                                  </p:tgtEl>
                                  <p:attrNameLst>
                                    <p:attrName>style.visibility</p:attrName>
                                  </p:attrNameLst>
                                </p:cBhvr>
                                <p:to>
                                  <p:strVal val="visible"/>
                                </p:to>
                              </p:set>
                              <p:anim calcmode="lin" valueType="num">
                                <p:cBhvr>
                                  <p:cTn id="128" dur="500"/>
                                  <p:tgtEl>
                                    <p:spTgt spid="11"/>
                                  </p:tgtEl>
                                  <p:attrNameLst>
                                    <p:attrName>style.opacity</p:attrName>
                                  </p:attrNameLst>
                                </p:cBhvr>
                                <p:tavLst>
                                  <p:tav tm="0">
                                    <p:val>
                                      <p:fltVal val="0"/>
                                    </p:val>
                                  </p:tav>
                                  <p:tav tm="100000">
                                    <p:val>
                                      <p:fltVal val="1"/>
                                    </p:val>
                                  </p:tav>
                                </p:tavLst>
                              </p:anim>
                              <p:set>
                                <p:cBhvr>
                                  <p:cTn id="129" dur="1" fill="hold">
                                    <p:stCondLst>
                                      <p:cond delay="0"/>
                                    </p:stCondLst>
                                  </p:cTn>
                                  <p:tgtEl>
                                    <p:spTgt spid="12"/>
                                  </p:tgtEl>
                                  <p:attrNameLst>
                                    <p:attrName>style.visibility</p:attrName>
                                  </p:attrNameLst>
                                </p:cBhvr>
                                <p:to>
                                  <p:strVal val="visible"/>
                                </p:to>
                              </p:set>
                              <p:anim calcmode="lin" valueType="num">
                                <p:cBhvr>
                                  <p:cTn id="130" dur="500"/>
                                  <p:tgtEl>
                                    <p:spTgt spid="12"/>
                                  </p:tgtEl>
                                  <p:attrNameLst>
                                    <p:attrName>style.opacity</p:attrName>
                                  </p:attrNameLst>
                                </p:cBhvr>
                                <p:tavLst>
                                  <p:tav tm="0">
                                    <p:val>
                                      <p:fltVal val="0"/>
                                    </p:val>
                                  </p:tav>
                                  <p:tav tm="100000">
                                    <p:val>
                                      <p:fltVal val="1"/>
                                    </p:val>
                                  </p:tav>
                                </p:tavLst>
                              </p:anim>
                              <p:set>
                                <p:cBhvr>
                                  <p:cTn id="131" dur="1" fill="hold">
                                    <p:stCondLst>
                                      <p:cond delay="0"/>
                                    </p:stCondLst>
                                  </p:cTn>
                                  <p:tgtEl>
                                    <p:spTgt spid="13"/>
                                  </p:tgtEl>
                                  <p:attrNameLst>
                                    <p:attrName>style.visibility</p:attrName>
                                  </p:attrNameLst>
                                </p:cBhvr>
                                <p:to>
                                  <p:strVal val="visible"/>
                                </p:to>
                              </p:set>
                              <p:anim calcmode="lin" valueType="num">
                                <p:cBhvr>
                                  <p:cTn id="132" dur="500"/>
                                  <p:tgtEl>
                                    <p:spTgt spid="13"/>
                                  </p:tgtEl>
                                  <p:attrNameLst>
                                    <p:attrName>style.opacity</p:attrName>
                                  </p:attrNameLst>
                                </p:cBhvr>
                                <p:tavLst>
                                  <p:tav tm="0">
                                    <p:val>
                                      <p:fltVal val="0"/>
                                    </p:val>
                                  </p:tav>
                                  <p:tav tm="100000">
                                    <p:val>
                                      <p:fltVal val="1"/>
                                    </p:val>
                                  </p:tav>
                                </p:tavLst>
                              </p:anim>
                            </p:childTnLst>
                          </p:cTn>
                        </p:par>
                        <p:par>
                          <p:cTn id="133" presetID="10" presetClass="entr" presetSubtype="0" fill="hold" grpId="0" nodeType="afterEffect">
                            <p:stCondLst>
                              <p:cond delay="1030"/>
                            </p:stCondLst>
                            <p:childTnLst>
                              <p:set>
                                <p:cBhvr>
                                  <p:cTn id="134" dur="1" fill="hold">
                                    <p:stCondLst>
                                      <p:cond delay="0"/>
                                    </p:stCondLst>
                                  </p:cTn>
                                  <p:tgtEl>
                                    <p:spTgt spid="14"/>
                                  </p:tgtEl>
                                  <p:attrNameLst>
                                    <p:attrName>style.visibility</p:attrName>
                                  </p:attrNameLst>
                                </p:cBhvr>
                                <p:to>
                                  <p:strVal val="visible"/>
                                </p:to>
                              </p:set>
                              <p:anim calcmode="lin" valueType="num">
                                <p:cBhvr>
                                  <p:cTn id="135" dur="500"/>
                                  <p:tgtEl>
                                    <p:spTgt spid="14"/>
                                  </p:tgtEl>
                                  <p:attrNameLst>
                                    <p:attrName>style.opacity</p:attrName>
                                  </p:attrNameLst>
                                </p:cBhvr>
                                <p:tavLst>
                                  <p:tav tm="0">
                                    <p:val>
                                      <p:fltVal val="0"/>
                                    </p:val>
                                  </p:tav>
                                  <p:tav tm="100000">
                                    <p:val>
                                      <p:fltVal val="1"/>
                                    </p:val>
                                  </p:tav>
                                </p:tavLst>
                              </p:anim>
                              <p:set>
                                <p:cBhvr>
                                  <p:cTn id="136" dur="1" fill="hold">
                                    <p:stCondLst>
                                      <p:cond delay="0"/>
                                    </p:stCondLst>
                                  </p:cTn>
                                  <p:tgtEl>
                                    <p:spTgt spid="15"/>
                                  </p:tgtEl>
                                  <p:attrNameLst>
                                    <p:attrName>style.visibility</p:attrName>
                                  </p:attrNameLst>
                                </p:cBhvr>
                                <p:to>
                                  <p:strVal val="visible"/>
                                </p:to>
                              </p:set>
                              <p:anim calcmode="lin" valueType="num">
                                <p:cBhvr>
                                  <p:cTn id="137" dur="500"/>
                                  <p:tgtEl>
                                    <p:spTgt spid="15"/>
                                  </p:tgtEl>
                                  <p:attrNameLst>
                                    <p:attrName>style.opacity</p:attrName>
                                  </p:attrNameLst>
                                </p:cBhvr>
                                <p:tavLst>
                                  <p:tav tm="0">
                                    <p:val>
                                      <p:fltVal val="0"/>
                                    </p:val>
                                  </p:tav>
                                  <p:tav tm="100000">
                                    <p:val>
                                      <p:fltVal val="1"/>
                                    </p:val>
                                  </p:tav>
                                </p:tavLst>
                              </p:anim>
                              <p:set>
                                <p:cBhvr>
                                  <p:cTn id="138" dur="1" fill="hold">
                                    <p:stCondLst>
                                      <p:cond delay="0"/>
                                    </p:stCondLst>
                                  </p:cTn>
                                  <p:tgtEl>
                                    <p:spTgt spid="16"/>
                                  </p:tgtEl>
                                  <p:attrNameLst>
                                    <p:attrName>style.visibility</p:attrName>
                                  </p:attrNameLst>
                                </p:cBhvr>
                                <p:to>
                                  <p:strVal val="visible"/>
                                </p:to>
                              </p:set>
                              <p:anim calcmode="lin" valueType="num">
                                <p:cBhvr>
                                  <p:cTn id="139" dur="500"/>
                                  <p:tgtEl>
                                    <p:spTgt spid="16"/>
                                  </p:tgtEl>
                                  <p:attrNameLst>
                                    <p:attrName>style.opacity</p:attrName>
                                  </p:attrNameLst>
                                </p:cBhvr>
                                <p:tavLst>
                                  <p:tav tm="0">
                                    <p:val>
                                      <p:fltVal val="0"/>
                                    </p:val>
                                  </p:tav>
                                  <p:tav tm="100000">
                                    <p:val>
                                      <p:fltVal val="1"/>
                                    </p:val>
                                  </p:tav>
                                </p:tavLst>
                              </p:anim>
                              <p:set>
                                <p:cBhvr>
                                  <p:cTn id="140" dur="1" fill="hold">
                                    <p:stCondLst>
                                      <p:cond delay="0"/>
                                    </p:stCondLst>
                                  </p:cTn>
                                  <p:tgtEl>
                                    <p:spTgt spid="17"/>
                                  </p:tgtEl>
                                  <p:attrNameLst>
                                    <p:attrName>style.visibility</p:attrName>
                                  </p:attrNameLst>
                                </p:cBhvr>
                                <p:to>
                                  <p:strVal val="visible"/>
                                </p:to>
                              </p:set>
                              <p:anim calcmode="lin" valueType="num">
                                <p:cBhvr>
                                  <p:cTn id="141" dur="500"/>
                                  <p:tgtEl>
                                    <p:spTgt spid="17"/>
                                  </p:tgtEl>
                                  <p:attrNameLst>
                                    <p:attrName>style.opacity</p:attrName>
                                  </p:attrNameLst>
                                </p:cBhvr>
                                <p:tavLst>
                                  <p:tav tm="0">
                                    <p:val>
                                      <p:fltVal val="0"/>
                                    </p:val>
                                  </p:tav>
                                  <p:tav tm="100000">
                                    <p:val>
                                      <p:fltVal val="1"/>
                                    </p:val>
                                  </p:tav>
                                </p:tavLst>
                              </p:anim>
                            </p:childTnLst>
                          </p:cTn>
                        </p:par>
                        <p:par>
                          <p:cTn id="142" presetID="10" presetClass="entr" presetSubtype="0" fill="hold" grpId="0" nodeType="afterEffect">
                            <p:stCondLst>
                              <p:cond delay="1140"/>
                            </p:stCondLst>
                            <p:childTnLst>
                              <p:set>
                                <p:cBhvr>
                                  <p:cTn id="143" dur="1" fill="hold">
                                    <p:stCondLst>
                                      <p:cond delay="0"/>
                                    </p:stCondLst>
                                  </p:cTn>
                                  <p:tgtEl>
                                    <p:spTgt spid="18"/>
                                  </p:tgtEl>
                                  <p:attrNameLst>
                                    <p:attrName>style.visibility</p:attrName>
                                  </p:attrNameLst>
                                </p:cBhvr>
                                <p:to>
                                  <p:strVal val="visible"/>
                                </p:to>
                              </p:set>
                              <p:anim calcmode="lin" valueType="num">
                                <p:cBhvr>
                                  <p:cTn id="144" dur="500"/>
                                  <p:tgtEl>
                                    <p:spTgt spid="18"/>
                                  </p:tgtEl>
                                  <p:attrNameLst>
                                    <p:attrName>style.opacity</p:attrName>
                                  </p:attrNameLst>
                                </p:cBhvr>
                                <p:tavLst>
                                  <p:tav tm="0">
                                    <p:val>
                                      <p:fltVal val="0"/>
                                    </p:val>
                                  </p:tav>
                                  <p:tav tm="100000">
                                    <p:val>
                                      <p:fltVal val="1"/>
                                    </p:val>
                                  </p:tav>
                                </p:tavLst>
                              </p:anim>
                              <p:set>
                                <p:cBhvr>
                                  <p:cTn id="145" dur="1" fill="hold">
                                    <p:stCondLst>
                                      <p:cond delay="0"/>
                                    </p:stCondLst>
                                  </p:cTn>
                                  <p:tgtEl>
                                    <p:spTgt spid="19"/>
                                  </p:tgtEl>
                                  <p:attrNameLst>
                                    <p:attrName>style.visibility</p:attrName>
                                  </p:attrNameLst>
                                </p:cBhvr>
                                <p:to>
                                  <p:strVal val="visible"/>
                                </p:to>
                              </p:set>
                              <p:anim calcmode="lin" valueType="num">
                                <p:cBhvr>
                                  <p:cTn id="146" dur="500"/>
                                  <p:tgtEl>
                                    <p:spTgt spid="19"/>
                                  </p:tgtEl>
                                  <p:attrNameLst>
                                    <p:attrName>style.opacity</p:attrName>
                                  </p:attrNameLst>
                                </p:cBhvr>
                                <p:tavLst>
                                  <p:tav tm="0">
                                    <p:val>
                                      <p:fltVal val="0"/>
                                    </p:val>
                                  </p:tav>
                                  <p:tav tm="100000">
                                    <p:val>
                                      <p:fltVal val="1"/>
                                    </p:val>
                                  </p:tav>
                                </p:tavLst>
                              </p:anim>
                              <p:set>
                                <p:cBhvr>
                                  <p:cTn id="147" dur="1" fill="hold">
                                    <p:stCondLst>
                                      <p:cond delay="0"/>
                                    </p:stCondLst>
                                  </p:cTn>
                                  <p:tgtEl>
                                    <p:spTgt spid="20"/>
                                  </p:tgtEl>
                                  <p:attrNameLst>
                                    <p:attrName>style.visibility</p:attrName>
                                  </p:attrNameLst>
                                </p:cBhvr>
                                <p:to>
                                  <p:strVal val="visible"/>
                                </p:to>
                              </p:set>
                              <p:anim calcmode="lin" valueType="num">
                                <p:cBhvr>
                                  <p:cTn id="148" dur="500"/>
                                  <p:tgtEl>
                                    <p:spTgt spid="20"/>
                                  </p:tgtEl>
                                  <p:attrNameLst>
                                    <p:attrName>style.opacity</p:attrName>
                                  </p:attrNameLst>
                                </p:cBhvr>
                                <p:tavLst>
                                  <p:tav tm="0">
                                    <p:val>
                                      <p:fltVal val="0"/>
                                    </p:val>
                                  </p:tav>
                                  <p:tav tm="100000">
                                    <p:val>
                                      <p:fltVal val="1"/>
                                    </p:val>
                                  </p:tav>
                                </p:tavLst>
                              </p:anim>
                              <p:set>
                                <p:cBhvr>
                                  <p:cTn id="149" dur="1" fill="hold">
                                    <p:stCondLst>
                                      <p:cond delay="0"/>
                                    </p:stCondLst>
                                  </p:cTn>
                                  <p:tgtEl>
                                    <p:spTgt spid="21"/>
                                  </p:tgtEl>
                                  <p:attrNameLst>
                                    <p:attrName>style.visibility</p:attrName>
                                  </p:attrNameLst>
                                </p:cBhvr>
                                <p:to>
                                  <p:strVal val="visible"/>
                                </p:to>
                              </p:set>
                              <p:anim calcmode="lin" valueType="num">
                                <p:cBhvr>
                                  <p:cTn id="150" dur="500"/>
                                  <p:tgtEl>
                                    <p:spTgt spid="21"/>
                                  </p:tgtEl>
                                  <p:attrNameLst>
                                    <p:attrName>style.opacity</p:attrName>
                                  </p:attrNameLst>
                                </p:cBhvr>
                                <p:tavLst>
                                  <p:tav tm="0">
                                    <p:val>
                                      <p:fltVal val="0"/>
                                    </p:val>
                                  </p:tav>
                                  <p:tav tm="100000">
                                    <p:val>
                                      <p:fltVal val="1"/>
                                    </p:val>
                                  </p:tav>
                                </p:tavLst>
                              </p:anim>
                            </p:childTnLst>
                          </p:cTn>
                        </p:par>
                        <p:par>
                          <p:cTn id="151" presetID="10" presetClass="entr" presetSubtype="0" fill="hold" grpId="0" nodeType="afterEffect">
                            <p:stCondLst>
                              <p:cond delay="1250"/>
                            </p:stCondLst>
                            <p:childTnLst>
                              <p:set>
                                <p:cBhvr>
                                  <p:cTn id="152" dur="1" fill="hold">
                                    <p:stCondLst>
                                      <p:cond delay="0"/>
                                    </p:stCondLst>
                                  </p:cTn>
                                  <p:tgtEl>
                                    <p:spTgt spid="22"/>
                                  </p:tgtEl>
                                  <p:attrNameLst>
                                    <p:attrName>style.visibility</p:attrName>
                                  </p:attrNameLst>
                                </p:cBhvr>
                                <p:to>
                                  <p:strVal val="visible"/>
                                </p:to>
                              </p:set>
                              <p:anim calcmode="lin" valueType="num">
                                <p:cBhvr>
                                  <p:cTn id="153" dur="500"/>
                                  <p:tgtEl>
                                    <p:spTgt spid="22"/>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36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p:tgtEl>
                                    <p:spTgt spid="23"/>
                                  </p:tgtEl>
                                  <p:attrNameLst>
                                    <p:attrName>style.opacity</p:attrName>
                                  </p:attrNameLst>
                                </p:cBhvr>
                                <p:tavLst>
                                  <p:tav tm="0">
                                    <p:val>
                                      <p:fltVal val="0"/>
                                    </p:val>
                                  </p:tav>
                                  <p:tav tm="100000">
                                    <p:val>
                                      <p:fltVal val="1"/>
                                    </p:val>
                                  </p:tav>
                                </p:tavLst>
                              </p:anim>
                              <p:set>
                                <p:cBhvr>
                                  <p:cTn id="157" dur="1" fill="hold">
                                    <p:stCondLst>
                                      <p:cond delay="0"/>
                                    </p:stCondLst>
                                  </p:cTn>
                                  <p:tgtEl>
                                    <p:spTgt spid="24"/>
                                  </p:tgtEl>
                                  <p:attrNameLst>
                                    <p:attrName>style.visibility</p:attrName>
                                  </p:attrNameLst>
                                </p:cBhvr>
                                <p:to>
                                  <p:strVal val="visible"/>
                                </p:to>
                              </p:set>
                              <p:anim calcmode="lin" valueType="num">
                                <p:cBhvr>
                                  <p:cTn id="158" dur="500"/>
                                  <p:tgtEl>
                                    <p:spTgt spid="24"/>
                                  </p:tgtEl>
                                  <p:attrNameLst>
                                    <p:attrName>style.opacity</p:attrName>
                                  </p:attrNameLst>
                                </p:cBhvr>
                                <p:tavLst>
                                  <p:tav tm="0">
                                    <p:val>
                                      <p:fltVal val="0"/>
                                    </p:val>
                                  </p:tav>
                                  <p:tav tm="100000">
                                    <p:val>
                                      <p:fltVal val="1"/>
                                    </p:val>
                                  </p:tav>
                                </p:tavLst>
                              </p:anim>
                              <p:set>
                                <p:cBhvr>
                                  <p:cTn id="159" dur="1" fill="hold">
                                    <p:stCondLst>
                                      <p:cond delay="0"/>
                                    </p:stCondLst>
                                  </p:cTn>
                                  <p:tgtEl>
                                    <p:spTgt spid="25"/>
                                  </p:tgtEl>
                                  <p:attrNameLst>
                                    <p:attrName>style.visibility</p:attrName>
                                  </p:attrNameLst>
                                </p:cBhvr>
                                <p:to>
                                  <p:strVal val="visible"/>
                                </p:to>
                              </p:set>
                              <p:anim calcmode="lin" valueType="num">
                                <p:cBhvr>
                                  <p:cTn id="160" dur="500"/>
                                  <p:tgtEl>
                                    <p:spTgt spid="25"/>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Internship and Attachment Workflows Are Now End-to-End Digital</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The internship module moved from manual supervision toward controlled, auditable, and collaborative digital management.</a:t>
            </a:r>
            <a:endParaRPr lang="en-US" sz="1050" dirty="0"/>
          </a:p>
        </p:txBody>
      </p:sp>
      <p:sp>
        <p:nvSpPr>
          <p:cNvPr id="5" name="Shape 3"/>
          <p:cNvSpPr/>
          <p:nvPr/>
        </p:nvSpPr>
        <p:spPr>
          <a:xfrm>
            <a:off x="749808"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896112"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05840"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ATTENDANCE</a:t>
            </a:r>
            <a:endParaRPr lang="en-US" sz="850" dirty="0"/>
          </a:p>
        </p:txBody>
      </p:sp>
      <p:sp>
        <p:nvSpPr>
          <p:cNvPr id="8" name="Text 6"/>
          <p:cNvSpPr/>
          <p:nvPr/>
        </p:nvSpPr>
        <p:spPr>
          <a:xfrm>
            <a:off x="914400"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Geofenced attendance</a:t>
            </a:r>
            <a:endParaRPr lang="en-US" sz="1400" dirty="0"/>
          </a:p>
        </p:txBody>
      </p:sp>
      <p:sp>
        <p:nvSpPr>
          <p:cNvPr id="9" name="Text 7"/>
          <p:cNvSpPr/>
          <p:nvPr/>
        </p:nvSpPr>
        <p:spPr>
          <a:xfrm>
            <a:off x="914400"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Location-aware check-in and check-out validate submissions within the approved radius and strengthen supervisor visibility.</a:t>
            </a:r>
            <a:endParaRPr lang="en-US" sz="950" dirty="0"/>
          </a:p>
        </p:txBody>
      </p:sp>
      <p:sp>
        <p:nvSpPr>
          <p:cNvPr id="10" name="Shape 8"/>
          <p:cNvSpPr/>
          <p:nvPr/>
        </p:nvSpPr>
        <p:spPr>
          <a:xfrm>
            <a:off x="3968496"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9"/>
          <p:cNvSpPr/>
          <p:nvPr/>
        </p:nvSpPr>
        <p:spPr>
          <a:xfrm>
            <a:off x="4114800"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12" name="Text 10"/>
          <p:cNvSpPr/>
          <p:nvPr/>
        </p:nvSpPr>
        <p:spPr>
          <a:xfrm>
            <a:off x="4224528"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OVERSIGHT</a:t>
            </a:r>
            <a:endParaRPr lang="en-US" sz="850" dirty="0"/>
          </a:p>
        </p:txBody>
      </p:sp>
      <p:sp>
        <p:nvSpPr>
          <p:cNvPr id="13" name="Text 11"/>
          <p:cNvSpPr/>
          <p:nvPr/>
        </p:nvSpPr>
        <p:spPr>
          <a:xfrm>
            <a:off x="4133088"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Violation monitoring</a:t>
            </a:r>
            <a:endParaRPr lang="en-US" sz="1400" dirty="0"/>
          </a:p>
        </p:txBody>
      </p:sp>
      <p:sp>
        <p:nvSpPr>
          <p:cNvPr id="14" name="Text 12"/>
          <p:cNvSpPr/>
          <p:nvPr/>
        </p:nvSpPr>
        <p:spPr>
          <a:xfrm>
            <a:off x="4133088"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Geofence breaches now trigger logging plus email and SMS escalation for faster intervention.</a:t>
            </a:r>
            <a:endParaRPr lang="en-US" sz="950" dirty="0"/>
          </a:p>
        </p:txBody>
      </p:sp>
      <p:sp>
        <p:nvSpPr>
          <p:cNvPr id="15" name="Shape 13"/>
          <p:cNvSpPr/>
          <p:nvPr/>
        </p:nvSpPr>
        <p:spPr>
          <a:xfrm>
            <a:off x="7187184"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6" name="Shape 14"/>
          <p:cNvSpPr/>
          <p:nvPr/>
        </p:nvSpPr>
        <p:spPr>
          <a:xfrm>
            <a:off x="7333488"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17" name="Text 15"/>
          <p:cNvSpPr/>
          <p:nvPr/>
        </p:nvSpPr>
        <p:spPr>
          <a:xfrm>
            <a:off x="7443216"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RECORDS</a:t>
            </a:r>
            <a:endParaRPr lang="en-US" sz="850" dirty="0"/>
          </a:p>
        </p:txBody>
      </p:sp>
      <p:sp>
        <p:nvSpPr>
          <p:cNvPr id="18" name="Text 16"/>
          <p:cNvSpPr/>
          <p:nvPr/>
        </p:nvSpPr>
        <p:spPr>
          <a:xfrm>
            <a:off x="7351776"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Digital logbooks</a:t>
            </a:r>
            <a:endParaRPr lang="en-US" sz="1400" dirty="0"/>
          </a:p>
        </p:txBody>
      </p:sp>
      <p:sp>
        <p:nvSpPr>
          <p:cNvPr id="19" name="Text 17"/>
          <p:cNvSpPr/>
          <p:nvPr/>
        </p:nvSpPr>
        <p:spPr>
          <a:xfrm>
            <a:off x="7351776"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Daily activities, rich text notes, supervisor review, and progress history live in one place.</a:t>
            </a:r>
            <a:endParaRPr lang="en-US" sz="950" dirty="0"/>
          </a:p>
        </p:txBody>
      </p:sp>
      <p:sp>
        <p:nvSpPr>
          <p:cNvPr id="20" name="Shape 18"/>
          <p:cNvSpPr/>
          <p:nvPr/>
        </p:nvSpPr>
        <p:spPr>
          <a:xfrm>
            <a:off x="749808"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Shape 19"/>
          <p:cNvSpPr/>
          <p:nvPr/>
        </p:nvSpPr>
        <p:spPr>
          <a:xfrm>
            <a:off x="896112"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22" name="Text 20"/>
          <p:cNvSpPr/>
          <p:nvPr/>
        </p:nvSpPr>
        <p:spPr>
          <a:xfrm>
            <a:off x="1005840"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PLANNING</a:t>
            </a:r>
            <a:endParaRPr lang="en-US" sz="850" dirty="0"/>
          </a:p>
        </p:txBody>
      </p:sp>
      <p:sp>
        <p:nvSpPr>
          <p:cNvPr id="23" name="Text 21"/>
          <p:cNvSpPr/>
          <p:nvPr/>
        </p:nvSpPr>
        <p:spPr>
          <a:xfrm>
            <a:off x="914400"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Task management</a:t>
            </a:r>
            <a:endParaRPr lang="en-US" sz="1400" dirty="0"/>
          </a:p>
        </p:txBody>
      </p:sp>
      <p:sp>
        <p:nvSpPr>
          <p:cNvPr id="24" name="Text 22"/>
          <p:cNvSpPr/>
          <p:nvPr/>
        </p:nvSpPr>
        <p:spPr>
          <a:xfrm>
            <a:off x="914400"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Kanban-style workflows and Gantt planning improve workload clarity, dependencies, and progress tracking.</a:t>
            </a:r>
            <a:endParaRPr lang="en-US" sz="950" dirty="0"/>
          </a:p>
        </p:txBody>
      </p:sp>
      <p:sp>
        <p:nvSpPr>
          <p:cNvPr id="25" name="Shape 23"/>
          <p:cNvSpPr/>
          <p:nvPr/>
        </p:nvSpPr>
        <p:spPr>
          <a:xfrm>
            <a:off x="3968496"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6" name="Shape 24"/>
          <p:cNvSpPr/>
          <p:nvPr/>
        </p:nvSpPr>
        <p:spPr>
          <a:xfrm>
            <a:off x="4114800"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27" name="Text 25"/>
          <p:cNvSpPr/>
          <p:nvPr/>
        </p:nvSpPr>
        <p:spPr>
          <a:xfrm>
            <a:off x="4224528"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EVALUATION</a:t>
            </a:r>
            <a:endParaRPr lang="en-US" sz="850" dirty="0"/>
          </a:p>
        </p:txBody>
      </p:sp>
      <p:sp>
        <p:nvSpPr>
          <p:cNvPr id="28" name="Text 26"/>
          <p:cNvSpPr/>
          <p:nvPr/>
        </p:nvSpPr>
        <p:spPr>
          <a:xfrm>
            <a:off x="4133088"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Assessment automation</a:t>
            </a:r>
            <a:endParaRPr lang="en-US" sz="1400" dirty="0"/>
          </a:p>
        </p:txBody>
      </p:sp>
      <p:sp>
        <p:nvSpPr>
          <p:cNvPr id="29" name="Text 27"/>
          <p:cNvSpPr/>
          <p:nvPr/>
        </p:nvSpPr>
        <p:spPr>
          <a:xfrm>
            <a:off x="4133088"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Weekly, monthly, and final evaluations follow a consistent digital workflow for better reporting.</a:t>
            </a:r>
            <a:endParaRPr lang="en-US" sz="950" dirty="0"/>
          </a:p>
        </p:txBody>
      </p:sp>
      <p:sp>
        <p:nvSpPr>
          <p:cNvPr id="30" name="Shape 28"/>
          <p:cNvSpPr/>
          <p:nvPr/>
        </p:nvSpPr>
        <p:spPr>
          <a:xfrm>
            <a:off x="7187184"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1" name="Shape 29"/>
          <p:cNvSpPr/>
          <p:nvPr/>
        </p:nvSpPr>
        <p:spPr>
          <a:xfrm>
            <a:off x="7333488"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32" name="Text 30"/>
          <p:cNvSpPr/>
          <p:nvPr/>
        </p:nvSpPr>
        <p:spPr>
          <a:xfrm>
            <a:off x="7443216"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CERTIFICATION</a:t>
            </a:r>
            <a:endParaRPr lang="en-US" sz="850" dirty="0"/>
          </a:p>
        </p:txBody>
      </p:sp>
      <p:sp>
        <p:nvSpPr>
          <p:cNvPr id="33" name="Text 31"/>
          <p:cNvSpPr/>
          <p:nvPr/>
        </p:nvSpPr>
        <p:spPr>
          <a:xfrm>
            <a:off x="7351776"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Completion services</a:t>
            </a:r>
            <a:endParaRPr lang="en-US" sz="1400" dirty="0"/>
          </a:p>
        </p:txBody>
      </p:sp>
      <p:sp>
        <p:nvSpPr>
          <p:cNvPr id="34" name="Text 32"/>
          <p:cNvSpPr/>
          <p:nvPr/>
        </p:nvSpPr>
        <p:spPr>
          <a:xfrm>
            <a:off x="7351776"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Certificates are generated automatically with QR-based verification and institution-facing visibility.</a:t>
            </a:r>
            <a:endParaRPr lang="en-US" sz="950" dirty="0"/>
          </a:p>
        </p:txBody>
      </p:sp>
      <p:sp>
        <p:nvSpPr>
          <p:cNvPr id="35" name="Shape 33"/>
          <p:cNvSpPr/>
          <p:nvPr/>
        </p:nvSpPr>
        <p:spPr>
          <a:xfrm>
            <a:off x="548640" y="6446520"/>
            <a:ext cx="11064240" cy="0"/>
          </a:xfrm>
          <a:prstGeom prst="line">
            <a:avLst/>
          </a:prstGeom>
          <a:noFill/>
          <a:ln w="12700">
            <a:solidFill>
              <a:srgbClr val="C8D8F0"/>
            </a:solidFill>
            <a:prstDash val="solid"/>
          </a:ln>
        </p:spPr>
      </p:sp>
      <p:sp>
        <p:nvSpPr>
          <p:cNvPr id="36" name="Text 34"/>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7" name="Text 35"/>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4</a:t>
            </a:r>
            <a:endParaRPr lang="en-US" sz="850" dirty="0"/>
          </a:p>
        </p:txBody>
      </p:sp>
      <p:sp>
        <p:nvSpPr>
          <p:cNvPr id="40"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41"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45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60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5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5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5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500"/>
                                  <p:tgtEl>
                                    <p:spTgt spid="9"/>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750"/>
                            </p:stCondLst>
                            <p:childTnLst>
                              <p:set>
                                <p:cBhvr>
                                  <p:cTn id="122" dur="1" fill="hold">
                                    <p:stCondLst>
                                      <p:cond delay="0"/>
                                    </p:stCondLst>
                                  </p:cTn>
                                  <p:tgtEl>
                                    <p:spTgt spid="10"/>
                                  </p:tgtEl>
                                  <p:attrNameLst>
                                    <p:attrName>style.visibility</p:attrName>
                                  </p:attrNameLst>
                                </p:cBhvr>
                                <p:to>
                                  <p:strVal val="visible"/>
                                </p:to>
                              </p:set>
                              <p:anim calcmode="lin" valueType="num">
                                <p:cBhvr>
                                  <p:cTn id="123" dur="500"/>
                                  <p:tgtEl>
                                    <p:spTgt spid="10"/>
                                  </p:tgtEl>
                                  <p:attrNameLst>
                                    <p:attrName>style.opacity</p:attrName>
                                  </p:attrNameLst>
                                </p:cBhvr>
                                <p:tavLst>
                                  <p:tav tm="0">
                                    <p:val>
                                      <p:fltVal val="0"/>
                                    </p:val>
                                  </p:tav>
                                  <p:tav tm="100000">
                                    <p:val>
                                      <p:fltVal val="1"/>
                                    </p:val>
                                  </p:tav>
                                </p:tavLst>
                              </p:anim>
                              <p:set>
                                <p:cBhvr>
                                  <p:cTn id="124" dur="1" fill="hold">
                                    <p:stCondLst>
                                      <p:cond delay="0"/>
                                    </p:stCondLst>
                                  </p:cTn>
                                  <p:tgtEl>
                                    <p:spTgt spid="11"/>
                                  </p:tgtEl>
                                  <p:attrNameLst>
                                    <p:attrName>style.visibility</p:attrName>
                                  </p:attrNameLst>
                                </p:cBhvr>
                                <p:to>
                                  <p:strVal val="visible"/>
                                </p:to>
                              </p:set>
                              <p:anim calcmode="lin" valueType="num">
                                <p:cBhvr>
                                  <p:cTn id="125" dur="500"/>
                                  <p:tgtEl>
                                    <p:spTgt spid="11"/>
                                  </p:tgtEl>
                                  <p:attrNameLst>
                                    <p:attrName>style.opacity</p:attrName>
                                  </p:attrNameLst>
                                </p:cBhvr>
                                <p:tavLst>
                                  <p:tav tm="0">
                                    <p:val>
                                      <p:fltVal val="0"/>
                                    </p:val>
                                  </p:tav>
                                  <p:tav tm="100000">
                                    <p:val>
                                      <p:fltVal val="1"/>
                                    </p:val>
                                  </p:tav>
                                </p:tavLst>
                              </p:anim>
                              <p:set>
                                <p:cBhvr>
                                  <p:cTn id="126" dur="1" fill="hold">
                                    <p:stCondLst>
                                      <p:cond delay="0"/>
                                    </p:stCondLst>
                                  </p:cTn>
                                  <p:tgtEl>
                                    <p:spTgt spid="12"/>
                                  </p:tgtEl>
                                  <p:attrNameLst>
                                    <p:attrName>style.visibility</p:attrName>
                                  </p:attrNameLst>
                                </p:cBhvr>
                                <p:to>
                                  <p:strVal val="visible"/>
                                </p:to>
                              </p:set>
                              <p:anim calcmode="lin" valueType="num">
                                <p:cBhvr>
                                  <p:cTn id="127" dur="500"/>
                                  <p:tgtEl>
                                    <p:spTgt spid="12"/>
                                  </p:tgtEl>
                                  <p:attrNameLst>
                                    <p:attrName>style.opacity</p:attrName>
                                  </p:attrNameLst>
                                </p:cBhvr>
                                <p:tavLst>
                                  <p:tav tm="0">
                                    <p:val>
                                      <p:fltVal val="0"/>
                                    </p:val>
                                  </p:tav>
                                  <p:tav tm="100000">
                                    <p:val>
                                      <p:fltVal val="1"/>
                                    </p:val>
                                  </p:tav>
                                </p:tavLst>
                              </p:anim>
                              <p:set>
                                <p:cBhvr>
                                  <p:cTn id="128" dur="1" fill="hold">
                                    <p:stCondLst>
                                      <p:cond delay="0"/>
                                    </p:stCondLst>
                                  </p:cTn>
                                  <p:tgtEl>
                                    <p:spTgt spid="13"/>
                                  </p:tgtEl>
                                  <p:attrNameLst>
                                    <p:attrName>style.visibility</p:attrName>
                                  </p:attrNameLst>
                                </p:cBhvr>
                                <p:to>
                                  <p:strVal val="visible"/>
                                </p:to>
                              </p:set>
                              <p:anim calcmode="lin" valueType="num">
                                <p:cBhvr>
                                  <p:cTn id="129" dur="500"/>
                                  <p:tgtEl>
                                    <p:spTgt spid="13"/>
                                  </p:tgtEl>
                                  <p:attrNameLst>
                                    <p:attrName>style.opacity</p:attrName>
                                  </p:attrNameLst>
                                </p:cBhvr>
                                <p:tavLst>
                                  <p:tav tm="0">
                                    <p:val>
                                      <p:fltVal val="0"/>
                                    </p:val>
                                  </p:tav>
                                  <p:tav tm="100000">
                                    <p:val>
                                      <p:fltVal val="1"/>
                                    </p:val>
                                  </p:tav>
                                </p:tavLst>
                              </p:anim>
                              <p:set>
                                <p:cBhvr>
                                  <p:cTn id="130" dur="1" fill="hold">
                                    <p:stCondLst>
                                      <p:cond delay="0"/>
                                    </p:stCondLst>
                                  </p:cTn>
                                  <p:tgtEl>
                                    <p:spTgt spid="14"/>
                                  </p:tgtEl>
                                  <p:attrNameLst>
                                    <p:attrName>style.visibility</p:attrName>
                                  </p:attrNameLst>
                                </p:cBhvr>
                                <p:to>
                                  <p:strVal val="visible"/>
                                </p:to>
                              </p:set>
                              <p:anim calcmode="lin" valueType="num">
                                <p:cBhvr>
                                  <p:cTn id="131" dur="500"/>
                                  <p:tgtEl>
                                    <p:spTgt spid="14"/>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90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p:tgtEl>
                                    <p:spTgt spid="15"/>
                                  </p:tgtEl>
                                  <p:attrNameLst>
                                    <p:attrName>style.opacity</p:attrName>
                                  </p:attrNameLst>
                                </p:cBhvr>
                                <p:tavLst>
                                  <p:tav tm="0">
                                    <p:val>
                                      <p:fltVal val="0"/>
                                    </p:val>
                                  </p:tav>
                                  <p:tav tm="100000">
                                    <p:val>
                                      <p:fltVal val="1"/>
                                    </p:val>
                                  </p:tav>
                                </p:tavLst>
                              </p:anim>
                              <p:set>
                                <p:cBhvr>
                                  <p:cTn id="135" dur="1" fill="hold">
                                    <p:stCondLst>
                                      <p:cond delay="0"/>
                                    </p:stCondLst>
                                  </p:cTn>
                                  <p:tgtEl>
                                    <p:spTgt spid="16"/>
                                  </p:tgtEl>
                                  <p:attrNameLst>
                                    <p:attrName>style.visibility</p:attrName>
                                  </p:attrNameLst>
                                </p:cBhvr>
                                <p:to>
                                  <p:strVal val="visible"/>
                                </p:to>
                              </p:set>
                              <p:anim calcmode="lin" valueType="num">
                                <p:cBhvr>
                                  <p:cTn id="136" dur="500"/>
                                  <p:tgtEl>
                                    <p:spTgt spid="16"/>
                                  </p:tgtEl>
                                  <p:attrNameLst>
                                    <p:attrName>style.opacity</p:attrName>
                                  </p:attrNameLst>
                                </p:cBhvr>
                                <p:tavLst>
                                  <p:tav tm="0">
                                    <p:val>
                                      <p:fltVal val="0"/>
                                    </p:val>
                                  </p:tav>
                                  <p:tav tm="100000">
                                    <p:val>
                                      <p:fltVal val="1"/>
                                    </p:val>
                                  </p:tav>
                                </p:tavLst>
                              </p:anim>
                              <p:set>
                                <p:cBhvr>
                                  <p:cTn id="137" dur="1" fill="hold">
                                    <p:stCondLst>
                                      <p:cond delay="0"/>
                                    </p:stCondLst>
                                  </p:cTn>
                                  <p:tgtEl>
                                    <p:spTgt spid="17"/>
                                  </p:tgtEl>
                                  <p:attrNameLst>
                                    <p:attrName>style.visibility</p:attrName>
                                  </p:attrNameLst>
                                </p:cBhvr>
                                <p:to>
                                  <p:strVal val="visible"/>
                                </p:to>
                              </p:set>
                              <p:anim calcmode="lin" valueType="num">
                                <p:cBhvr>
                                  <p:cTn id="138" dur="500"/>
                                  <p:tgtEl>
                                    <p:spTgt spid="17"/>
                                  </p:tgtEl>
                                  <p:attrNameLst>
                                    <p:attrName>style.opacity</p:attrName>
                                  </p:attrNameLst>
                                </p:cBhvr>
                                <p:tavLst>
                                  <p:tav tm="0">
                                    <p:val>
                                      <p:fltVal val="0"/>
                                    </p:val>
                                  </p:tav>
                                  <p:tav tm="100000">
                                    <p:val>
                                      <p:fltVal val="1"/>
                                    </p:val>
                                  </p:tav>
                                </p:tavLst>
                              </p:anim>
                              <p:set>
                                <p:cBhvr>
                                  <p:cTn id="139" dur="1" fill="hold">
                                    <p:stCondLst>
                                      <p:cond delay="0"/>
                                    </p:stCondLst>
                                  </p:cTn>
                                  <p:tgtEl>
                                    <p:spTgt spid="18"/>
                                  </p:tgtEl>
                                  <p:attrNameLst>
                                    <p:attrName>style.visibility</p:attrName>
                                  </p:attrNameLst>
                                </p:cBhvr>
                                <p:to>
                                  <p:strVal val="visible"/>
                                </p:to>
                              </p:set>
                              <p:anim calcmode="lin" valueType="num">
                                <p:cBhvr>
                                  <p:cTn id="140" dur="500"/>
                                  <p:tgtEl>
                                    <p:spTgt spid="18"/>
                                  </p:tgtEl>
                                  <p:attrNameLst>
                                    <p:attrName>style.opacity</p:attrName>
                                  </p:attrNameLst>
                                </p:cBhvr>
                                <p:tavLst>
                                  <p:tav tm="0">
                                    <p:val>
                                      <p:fltVal val="0"/>
                                    </p:val>
                                  </p:tav>
                                  <p:tav tm="100000">
                                    <p:val>
                                      <p:fltVal val="1"/>
                                    </p:val>
                                  </p:tav>
                                </p:tavLst>
                              </p:anim>
                              <p:set>
                                <p:cBhvr>
                                  <p:cTn id="141" dur="1" fill="hold">
                                    <p:stCondLst>
                                      <p:cond delay="0"/>
                                    </p:stCondLst>
                                  </p:cTn>
                                  <p:tgtEl>
                                    <p:spTgt spid="19"/>
                                  </p:tgtEl>
                                  <p:attrNameLst>
                                    <p:attrName>style.visibility</p:attrName>
                                  </p:attrNameLst>
                                </p:cBhvr>
                                <p:to>
                                  <p:strVal val="visible"/>
                                </p:to>
                              </p:set>
                              <p:anim calcmode="lin" valueType="num">
                                <p:cBhvr>
                                  <p:cTn id="142" dur="500"/>
                                  <p:tgtEl>
                                    <p:spTgt spid="19"/>
                                  </p:tgtEl>
                                  <p:attrNameLst>
                                    <p:attrName>style.opacity</p:attrName>
                                  </p:attrNameLst>
                                </p:cBhvr>
                                <p:tavLst>
                                  <p:tav tm="0">
                                    <p:val>
                                      <p:fltVal val="0"/>
                                    </p:val>
                                  </p:tav>
                                  <p:tav tm="100000">
                                    <p:val>
                                      <p:fltVal val="1"/>
                                    </p:val>
                                  </p:tav>
                                </p:tavLst>
                              </p:anim>
                            </p:childTnLst>
                          </p:cTn>
                        </p:par>
                        <p:par>
                          <p:cTn id="143" presetID="10" presetClass="entr" presetSubtype="0" fill="hold" grpId="0" nodeType="afterEffect">
                            <p:stCondLst>
                              <p:cond delay="1050"/>
                            </p:stCondLst>
                            <p:childTnLst>
                              <p:set>
                                <p:cBhvr>
                                  <p:cTn id="144" dur="1" fill="hold">
                                    <p:stCondLst>
                                      <p:cond delay="0"/>
                                    </p:stCondLst>
                                  </p:cTn>
                                  <p:tgtEl>
                                    <p:spTgt spid="20"/>
                                  </p:tgtEl>
                                  <p:attrNameLst>
                                    <p:attrName>style.visibility</p:attrName>
                                  </p:attrNameLst>
                                </p:cBhvr>
                                <p:to>
                                  <p:strVal val="visible"/>
                                </p:to>
                              </p:set>
                              <p:anim calcmode="lin" valueType="num">
                                <p:cBhvr>
                                  <p:cTn id="145" dur="500"/>
                                  <p:tgtEl>
                                    <p:spTgt spid="20"/>
                                  </p:tgtEl>
                                  <p:attrNameLst>
                                    <p:attrName>style.opacity</p:attrName>
                                  </p:attrNameLst>
                                </p:cBhvr>
                                <p:tavLst>
                                  <p:tav tm="0">
                                    <p:val>
                                      <p:fltVal val="0"/>
                                    </p:val>
                                  </p:tav>
                                  <p:tav tm="100000">
                                    <p:val>
                                      <p:fltVal val="1"/>
                                    </p:val>
                                  </p:tav>
                                </p:tavLst>
                              </p:anim>
                              <p:set>
                                <p:cBhvr>
                                  <p:cTn id="146" dur="1" fill="hold">
                                    <p:stCondLst>
                                      <p:cond delay="0"/>
                                    </p:stCondLst>
                                  </p:cTn>
                                  <p:tgtEl>
                                    <p:spTgt spid="21"/>
                                  </p:tgtEl>
                                  <p:attrNameLst>
                                    <p:attrName>style.visibility</p:attrName>
                                  </p:attrNameLst>
                                </p:cBhvr>
                                <p:to>
                                  <p:strVal val="visible"/>
                                </p:to>
                              </p:set>
                              <p:anim calcmode="lin" valueType="num">
                                <p:cBhvr>
                                  <p:cTn id="147" dur="500"/>
                                  <p:tgtEl>
                                    <p:spTgt spid="21"/>
                                  </p:tgtEl>
                                  <p:attrNameLst>
                                    <p:attrName>style.opacity</p:attrName>
                                  </p:attrNameLst>
                                </p:cBhvr>
                                <p:tavLst>
                                  <p:tav tm="0">
                                    <p:val>
                                      <p:fltVal val="0"/>
                                    </p:val>
                                  </p:tav>
                                  <p:tav tm="100000">
                                    <p:val>
                                      <p:fltVal val="1"/>
                                    </p:val>
                                  </p:tav>
                                </p:tavLst>
                              </p:anim>
                              <p:set>
                                <p:cBhvr>
                                  <p:cTn id="148" dur="1" fill="hold">
                                    <p:stCondLst>
                                      <p:cond delay="0"/>
                                    </p:stCondLst>
                                  </p:cTn>
                                  <p:tgtEl>
                                    <p:spTgt spid="22"/>
                                  </p:tgtEl>
                                  <p:attrNameLst>
                                    <p:attrName>style.visibility</p:attrName>
                                  </p:attrNameLst>
                                </p:cBhvr>
                                <p:to>
                                  <p:strVal val="visible"/>
                                </p:to>
                              </p:set>
                              <p:anim calcmode="lin" valueType="num">
                                <p:cBhvr>
                                  <p:cTn id="149" dur="500"/>
                                  <p:tgtEl>
                                    <p:spTgt spid="22"/>
                                  </p:tgtEl>
                                  <p:attrNameLst>
                                    <p:attrName>style.opacity</p:attrName>
                                  </p:attrNameLst>
                                </p:cBhvr>
                                <p:tavLst>
                                  <p:tav tm="0">
                                    <p:val>
                                      <p:fltVal val="0"/>
                                    </p:val>
                                  </p:tav>
                                  <p:tav tm="100000">
                                    <p:val>
                                      <p:fltVal val="1"/>
                                    </p:val>
                                  </p:tav>
                                </p:tavLst>
                              </p:anim>
                              <p:set>
                                <p:cBhvr>
                                  <p:cTn id="150" dur="1" fill="hold">
                                    <p:stCondLst>
                                      <p:cond delay="0"/>
                                    </p:stCondLst>
                                  </p:cTn>
                                  <p:tgtEl>
                                    <p:spTgt spid="23"/>
                                  </p:tgtEl>
                                  <p:attrNameLst>
                                    <p:attrName>style.visibility</p:attrName>
                                  </p:attrNameLst>
                                </p:cBhvr>
                                <p:to>
                                  <p:strVal val="visible"/>
                                </p:to>
                              </p:set>
                              <p:anim calcmode="lin" valueType="num">
                                <p:cBhvr>
                                  <p:cTn id="151" dur="500"/>
                                  <p:tgtEl>
                                    <p:spTgt spid="23"/>
                                  </p:tgtEl>
                                  <p:attrNameLst>
                                    <p:attrName>style.opacity</p:attrName>
                                  </p:attrNameLst>
                                </p:cBhvr>
                                <p:tavLst>
                                  <p:tav tm="0">
                                    <p:val>
                                      <p:fltVal val="0"/>
                                    </p:val>
                                  </p:tav>
                                  <p:tav tm="100000">
                                    <p:val>
                                      <p:fltVal val="1"/>
                                    </p:val>
                                  </p:tav>
                                </p:tavLst>
                              </p:anim>
                              <p:set>
                                <p:cBhvr>
                                  <p:cTn id="152" dur="1" fill="hold">
                                    <p:stCondLst>
                                      <p:cond delay="0"/>
                                    </p:stCondLst>
                                  </p:cTn>
                                  <p:tgtEl>
                                    <p:spTgt spid="24"/>
                                  </p:tgtEl>
                                  <p:attrNameLst>
                                    <p:attrName>style.visibility</p:attrName>
                                  </p:attrNameLst>
                                </p:cBhvr>
                                <p:to>
                                  <p:strVal val="visible"/>
                                </p:to>
                              </p:set>
                              <p:anim calcmode="lin" valueType="num">
                                <p:cBhvr>
                                  <p:cTn id="153" dur="500"/>
                                  <p:tgtEl>
                                    <p:spTgt spid="24"/>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200"/>
                            </p:stCondLst>
                            <p:childTnLst>
                              <p:set>
                                <p:cBhvr>
                                  <p:cTn id="155" dur="1" fill="hold">
                                    <p:stCondLst>
                                      <p:cond delay="0"/>
                                    </p:stCondLst>
                                  </p:cTn>
                                  <p:tgtEl>
                                    <p:spTgt spid="25"/>
                                  </p:tgtEl>
                                  <p:attrNameLst>
                                    <p:attrName>style.visibility</p:attrName>
                                  </p:attrNameLst>
                                </p:cBhvr>
                                <p:to>
                                  <p:strVal val="visible"/>
                                </p:to>
                              </p:set>
                              <p:anim calcmode="lin" valueType="num">
                                <p:cBhvr>
                                  <p:cTn id="156" dur="500"/>
                                  <p:tgtEl>
                                    <p:spTgt spid="25"/>
                                  </p:tgtEl>
                                  <p:attrNameLst>
                                    <p:attrName>style.opacity</p:attrName>
                                  </p:attrNameLst>
                                </p:cBhvr>
                                <p:tavLst>
                                  <p:tav tm="0">
                                    <p:val>
                                      <p:fltVal val="0"/>
                                    </p:val>
                                  </p:tav>
                                  <p:tav tm="100000">
                                    <p:val>
                                      <p:fltVal val="1"/>
                                    </p:val>
                                  </p:tav>
                                </p:tavLst>
                              </p:anim>
                              <p:set>
                                <p:cBhvr>
                                  <p:cTn id="157" dur="1" fill="hold">
                                    <p:stCondLst>
                                      <p:cond delay="0"/>
                                    </p:stCondLst>
                                  </p:cTn>
                                  <p:tgtEl>
                                    <p:spTgt spid="26"/>
                                  </p:tgtEl>
                                  <p:attrNameLst>
                                    <p:attrName>style.visibility</p:attrName>
                                  </p:attrNameLst>
                                </p:cBhvr>
                                <p:to>
                                  <p:strVal val="visible"/>
                                </p:to>
                              </p:set>
                              <p:anim calcmode="lin" valueType="num">
                                <p:cBhvr>
                                  <p:cTn id="158" dur="500"/>
                                  <p:tgtEl>
                                    <p:spTgt spid="26"/>
                                  </p:tgtEl>
                                  <p:attrNameLst>
                                    <p:attrName>style.opacity</p:attrName>
                                  </p:attrNameLst>
                                </p:cBhvr>
                                <p:tavLst>
                                  <p:tav tm="0">
                                    <p:val>
                                      <p:fltVal val="0"/>
                                    </p:val>
                                  </p:tav>
                                  <p:tav tm="100000">
                                    <p:val>
                                      <p:fltVal val="1"/>
                                    </p:val>
                                  </p:tav>
                                </p:tavLst>
                              </p:anim>
                              <p:set>
                                <p:cBhvr>
                                  <p:cTn id="159" dur="1" fill="hold">
                                    <p:stCondLst>
                                      <p:cond delay="0"/>
                                    </p:stCondLst>
                                  </p:cTn>
                                  <p:tgtEl>
                                    <p:spTgt spid="27"/>
                                  </p:tgtEl>
                                  <p:attrNameLst>
                                    <p:attrName>style.visibility</p:attrName>
                                  </p:attrNameLst>
                                </p:cBhvr>
                                <p:to>
                                  <p:strVal val="visible"/>
                                </p:to>
                              </p:set>
                              <p:anim calcmode="lin" valueType="num">
                                <p:cBhvr>
                                  <p:cTn id="160" dur="500"/>
                                  <p:tgtEl>
                                    <p:spTgt spid="27"/>
                                  </p:tgtEl>
                                  <p:attrNameLst>
                                    <p:attrName>style.opacity</p:attrName>
                                  </p:attrNameLst>
                                </p:cBhvr>
                                <p:tavLst>
                                  <p:tav tm="0">
                                    <p:val>
                                      <p:fltVal val="0"/>
                                    </p:val>
                                  </p:tav>
                                  <p:tav tm="100000">
                                    <p:val>
                                      <p:fltVal val="1"/>
                                    </p:val>
                                  </p:tav>
                                </p:tavLst>
                              </p:anim>
                              <p:set>
                                <p:cBhvr>
                                  <p:cTn id="161" dur="1" fill="hold">
                                    <p:stCondLst>
                                      <p:cond delay="0"/>
                                    </p:stCondLst>
                                  </p:cTn>
                                  <p:tgtEl>
                                    <p:spTgt spid="28"/>
                                  </p:tgtEl>
                                  <p:attrNameLst>
                                    <p:attrName>style.visibility</p:attrName>
                                  </p:attrNameLst>
                                </p:cBhvr>
                                <p:to>
                                  <p:strVal val="visible"/>
                                </p:to>
                              </p:set>
                              <p:anim calcmode="lin" valueType="num">
                                <p:cBhvr>
                                  <p:cTn id="162" dur="500"/>
                                  <p:tgtEl>
                                    <p:spTgt spid="28"/>
                                  </p:tgtEl>
                                  <p:attrNameLst>
                                    <p:attrName>style.opacity</p:attrName>
                                  </p:attrNameLst>
                                </p:cBhvr>
                                <p:tavLst>
                                  <p:tav tm="0">
                                    <p:val>
                                      <p:fltVal val="0"/>
                                    </p:val>
                                  </p:tav>
                                  <p:tav tm="100000">
                                    <p:val>
                                      <p:fltVal val="1"/>
                                    </p:val>
                                  </p:tav>
                                </p:tavLst>
                              </p:anim>
                              <p:set>
                                <p:cBhvr>
                                  <p:cTn id="163" dur="1" fill="hold">
                                    <p:stCondLst>
                                      <p:cond delay="0"/>
                                    </p:stCondLst>
                                  </p:cTn>
                                  <p:tgtEl>
                                    <p:spTgt spid="29"/>
                                  </p:tgtEl>
                                  <p:attrNameLst>
                                    <p:attrName>style.visibility</p:attrName>
                                  </p:attrNameLst>
                                </p:cBhvr>
                                <p:to>
                                  <p:strVal val="visible"/>
                                </p:to>
                              </p:set>
                              <p:anim calcmode="lin" valueType="num">
                                <p:cBhvr>
                                  <p:cTn id="164" dur="500"/>
                                  <p:tgtEl>
                                    <p:spTgt spid="29"/>
                                  </p:tgtEl>
                                  <p:attrNameLst>
                                    <p:attrName>style.opacity</p:attrName>
                                  </p:attrNameLst>
                                </p:cBhvr>
                                <p:tavLst>
                                  <p:tav tm="0">
                                    <p:val>
                                      <p:fltVal val="0"/>
                                    </p:val>
                                  </p:tav>
                                  <p:tav tm="100000">
                                    <p:val>
                                      <p:fltVal val="1"/>
                                    </p:val>
                                  </p:tav>
                                </p:tavLst>
                              </p:anim>
                            </p:childTnLst>
                          </p:cTn>
                        </p:par>
                        <p:par>
                          <p:cTn id="165" presetID="10" presetClass="entr" presetSubtype="0" fill="hold" grpId="0" nodeType="afterEffect">
                            <p:stCondLst>
                              <p:cond delay="1350"/>
                            </p:stCondLst>
                            <p:childTnLst>
                              <p:set>
                                <p:cBhvr>
                                  <p:cTn id="166" dur="1" fill="hold">
                                    <p:stCondLst>
                                      <p:cond delay="0"/>
                                    </p:stCondLst>
                                  </p:cTn>
                                  <p:tgtEl>
                                    <p:spTgt spid="30"/>
                                  </p:tgtEl>
                                  <p:attrNameLst>
                                    <p:attrName>style.visibility</p:attrName>
                                  </p:attrNameLst>
                                </p:cBhvr>
                                <p:to>
                                  <p:strVal val="visible"/>
                                </p:to>
                              </p:set>
                              <p:anim calcmode="lin" valueType="num">
                                <p:cBhvr>
                                  <p:cTn id="167" dur="500"/>
                                  <p:tgtEl>
                                    <p:spTgt spid="30"/>
                                  </p:tgtEl>
                                  <p:attrNameLst>
                                    <p:attrName>style.opacity</p:attrName>
                                  </p:attrNameLst>
                                </p:cBhvr>
                                <p:tavLst>
                                  <p:tav tm="0">
                                    <p:val>
                                      <p:fltVal val="0"/>
                                    </p:val>
                                  </p:tav>
                                  <p:tav tm="100000">
                                    <p:val>
                                      <p:fltVal val="1"/>
                                    </p:val>
                                  </p:tav>
                                </p:tavLst>
                              </p:anim>
                              <p:set>
                                <p:cBhvr>
                                  <p:cTn id="168" dur="1" fill="hold">
                                    <p:stCondLst>
                                      <p:cond delay="0"/>
                                    </p:stCondLst>
                                  </p:cTn>
                                  <p:tgtEl>
                                    <p:spTgt spid="31"/>
                                  </p:tgtEl>
                                  <p:attrNameLst>
                                    <p:attrName>style.visibility</p:attrName>
                                  </p:attrNameLst>
                                </p:cBhvr>
                                <p:to>
                                  <p:strVal val="visible"/>
                                </p:to>
                              </p:set>
                              <p:anim calcmode="lin" valueType="num">
                                <p:cBhvr>
                                  <p:cTn id="169" dur="500"/>
                                  <p:tgtEl>
                                    <p:spTgt spid="31"/>
                                  </p:tgtEl>
                                  <p:attrNameLst>
                                    <p:attrName>style.opacity</p:attrName>
                                  </p:attrNameLst>
                                </p:cBhvr>
                                <p:tavLst>
                                  <p:tav tm="0">
                                    <p:val>
                                      <p:fltVal val="0"/>
                                    </p:val>
                                  </p:tav>
                                  <p:tav tm="100000">
                                    <p:val>
                                      <p:fltVal val="1"/>
                                    </p:val>
                                  </p:tav>
                                </p:tavLst>
                              </p:anim>
                              <p:set>
                                <p:cBhvr>
                                  <p:cTn id="170" dur="1" fill="hold">
                                    <p:stCondLst>
                                      <p:cond delay="0"/>
                                    </p:stCondLst>
                                  </p:cTn>
                                  <p:tgtEl>
                                    <p:spTgt spid="32"/>
                                  </p:tgtEl>
                                  <p:attrNameLst>
                                    <p:attrName>style.visibility</p:attrName>
                                  </p:attrNameLst>
                                </p:cBhvr>
                                <p:to>
                                  <p:strVal val="visible"/>
                                </p:to>
                              </p:set>
                              <p:anim calcmode="lin" valueType="num">
                                <p:cBhvr>
                                  <p:cTn id="171" dur="500"/>
                                  <p:tgtEl>
                                    <p:spTgt spid="32"/>
                                  </p:tgtEl>
                                  <p:attrNameLst>
                                    <p:attrName>style.opacity</p:attrName>
                                  </p:attrNameLst>
                                </p:cBhvr>
                                <p:tavLst>
                                  <p:tav tm="0">
                                    <p:val>
                                      <p:fltVal val="0"/>
                                    </p:val>
                                  </p:tav>
                                  <p:tav tm="100000">
                                    <p:val>
                                      <p:fltVal val="1"/>
                                    </p:val>
                                  </p:tav>
                                </p:tavLst>
                              </p:anim>
                              <p:set>
                                <p:cBhvr>
                                  <p:cTn id="172" dur="1" fill="hold">
                                    <p:stCondLst>
                                      <p:cond delay="0"/>
                                    </p:stCondLst>
                                  </p:cTn>
                                  <p:tgtEl>
                                    <p:spTgt spid="33"/>
                                  </p:tgtEl>
                                  <p:attrNameLst>
                                    <p:attrName>style.visibility</p:attrName>
                                  </p:attrNameLst>
                                </p:cBhvr>
                                <p:to>
                                  <p:strVal val="visible"/>
                                </p:to>
                              </p:set>
                              <p:anim calcmode="lin" valueType="num">
                                <p:cBhvr>
                                  <p:cTn id="173" dur="500"/>
                                  <p:tgtEl>
                                    <p:spTgt spid="33"/>
                                  </p:tgtEl>
                                  <p:attrNameLst>
                                    <p:attrName>style.opacity</p:attrName>
                                  </p:attrNameLst>
                                </p:cBhvr>
                                <p:tavLst>
                                  <p:tav tm="0">
                                    <p:val>
                                      <p:fltVal val="0"/>
                                    </p:val>
                                  </p:tav>
                                  <p:tav tm="100000">
                                    <p:val>
                                      <p:fltVal val="1"/>
                                    </p:val>
                                  </p:tav>
                                </p:tavLst>
                              </p:anim>
                              <p:set>
                                <p:cBhvr>
                                  <p:cTn id="174" dur="1" fill="hold">
                                    <p:stCondLst>
                                      <p:cond delay="0"/>
                                    </p:stCondLst>
                                  </p:cTn>
                                  <p:tgtEl>
                                    <p:spTgt spid="34"/>
                                  </p:tgtEl>
                                  <p:attrNameLst>
                                    <p:attrName>style.visibility</p:attrName>
                                  </p:attrNameLst>
                                </p:cBhvr>
                                <p:to>
                                  <p:strVal val="visible"/>
                                </p:to>
                              </p:set>
                              <p:anim calcmode="lin" valueType="num">
                                <p:cBhvr>
                                  <p:cTn id="175" dur="500"/>
                                  <p:tgtEl>
                                    <p:spTgt spid="34"/>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Broadcast Media Workflows Now Run with Better Asset Control</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The media module now coordinates equipment, maintenance, returns, submissions, and software licensing with stronger administrative discipline.</a:t>
            </a:r>
            <a:endParaRPr lang="en-US" sz="1050" dirty="0"/>
          </a:p>
        </p:txBody>
      </p:sp>
      <p:sp>
        <p:nvSpPr>
          <p:cNvPr id="5" name="Shape 3"/>
          <p:cNvSpPr/>
          <p:nvPr/>
        </p:nvSpPr>
        <p:spPr>
          <a:xfrm>
            <a:off x="768096" y="1417320"/>
            <a:ext cx="7818120" cy="2212848"/>
          </a:xfrm>
          <a:prstGeom prst="roundRect">
            <a:avLst>
              <a:gd name="adj" fmla="val 4959"/>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60120" y="1609344"/>
            <a:ext cx="1444752"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9848" y="1659636"/>
            <a:ext cx="1225296"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MEDIA OPERATIONS</a:t>
            </a:r>
            <a:endParaRPr lang="en-US" sz="850" dirty="0"/>
          </a:p>
        </p:txBody>
      </p:sp>
      <p:sp>
        <p:nvSpPr>
          <p:cNvPr id="8" name="Text 6"/>
          <p:cNvSpPr/>
          <p:nvPr/>
        </p:nvSpPr>
        <p:spPr>
          <a:xfrm>
            <a:off x="969264" y="1993392"/>
            <a:ext cx="5943600" cy="237744"/>
          </a:xfrm>
          <a:prstGeom prst="rect">
            <a:avLst/>
          </a:prstGeom>
          <a:noFill/>
          <a:ln/>
        </p:spPr>
        <p:txBody>
          <a:bodyPr wrap="square" lIns="0" tIns="0" rIns="0" bIns="0" rtlCol="0" anchor="ctr"/>
          <a:lstStyle/>
          <a:p>
            <a:pPr indent="0" marL="0">
              <a:buNone/>
            </a:pPr>
            <a:r>
              <a:rPr lang="en-US" sz="1800" b="1" dirty="0">
                <a:solidFill>
                  <a:srgbClr val="13233F"/>
                </a:solidFill>
                <a:latin typeface="Liberation Sans" pitchFamily="34" charset="0"/>
                <a:ea typeface="Liberation Sans" pitchFamily="34" charset="-122"/>
                <a:cs typeface="Liberation Sans" pitchFamily="34" charset="-120"/>
              </a:rPr>
              <a:t>Five improvements work together as a more reliable asset and production workflow.</a:t>
            </a:r>
            <a:endParaRPr lang="en-US" sz="1800" dirty="0"/>
          </a:p>
        </p:txBody>
      </p:sp>
      <p:sp>
        <p:nvSpPr>
          <p:cNvPr id="9" name="Shape 7"/>
          <p:cNvSpPr/>
          <p:nvPr/>
        </p:nvSpPr>
        <p:spPr>
          <a:xfrm>
            <a:off x="960120" y="2560320"/>
            <a:ext cx="1097280"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0" name="Shape 8"/>
          <p:cNvSpPr/>
          <p:nvPr/>
        </p:nvSpPr>
        <p:spPr>
          <a:xfrm>
            <a:off x="960120" y="2560320"/>
            <a:ext cx="1097280" cy="164592"/>
          </a:xfrm>
          <a:prstGeom prst="rect">
            <a:avLst/>
          </a:prstGeom>
          <a:solidFill>
            <a:srgbClr val="1E40AF"/>
          </a:solidFill>
          <a:ln w="12700">
            <a:solidFill>
              <a:srgbClr val="1E40AF">
                <a:alpha val="0"/>
              </a:srgbClr>
            </a:solidFill>
            <a:prstDash val="solid"/>
          </a:ln>
        </p:spPr>
      </p:sp>
      <p:sp>
        <p:nvSpPr>
          <p:cNvPr id="11" name="Text 9"/>
          <p:cNvSpPr/>
          <p:nvPr/>
        </p:nvSpPr>
        <p:spPr>
          <a:xfrm>
            <a:off x="1097280" y="2779776"/>
            <a:ext cx="8229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1 Register</a:t>
            </a:r>
            <a:endParaRPr lang="en-US" sz="1350" dirty="0"/>
          </a:p>
        </p:txBody>
      </p:sp>
      <p:sp>
        <p:nvSpPr>
          <p:cNvPr id="12" name="Text 10"/>
          <p:cNvSpPr/>
          <p:nvPr/>
        </p:nvSpPr>
        <p:spPr>
          <a:xfrm>
            <a:off x="1097280" y="3017520"/>
            <a:ext cx="8229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Assets and licenses are catalogued.</a:t>
            </a:r>
            <a:endParaRPr lang="en-US" sz="880" dirty="0"/>
          </a:p>
        </p:txBody>
      </p:sp>
      <p:sp>
        <p:nvSpPr>
          <p:cNvPr id="13" name="Shape 11"/>
          <p:cNvSpPr/>
          <p:nvPr/>
        </p:nvSpPr>
        <p:spPr>
          <a:xfrm>
            <a:off x="2368296" y="2560320"/>
            <a:ext cx="1097280"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4" name="Shape 12"/>
          <p:cNvSpPr/>
          <p:nvPr/>
        </p:nvSpPr>
        <p:spPr>
          <a:xfrm>
            <a:off x="2368296" y="2560320"/>
            <a:ext cx="1097280" cy="164592"/>
          </a:xfrm>
          <a:prstGeom prst="rect">
            <a:avLst/>
          </a:prstGeom>
          <a:solidFill>
            <a:srgbClr val="1E40AF"/>
          </a:solidFill>
          <a:ln w="12700">
            <a:solidFill>
              <a:srgbClr val="1E40AF">
                <a:alpha val="0"/>
              </a:srgbClr>
            </a:solidFill>
            <a:prstDash val="solid"/>
          </a:ln>
        </p:spPr>
      </p:sp>
      <p:sp>
        <p:nvSpPr>
          <p:cNvPr id="15" name="Text 13"/>
          <p:cNvSpPr/>
          <p:nvPr/>
        </p:nvSpPr>
        <p:spPr>
          <a:xfrm>
            <a:off x="2505456" y="2779776"/>
            <a:ext cx="8229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2 Allocate</a:t>
            </a:r>
            <a:endParaRPr lang="en-US" sz="1350" dirty="0"/>
          </a:p>
        </p:txBody>
      </p:sp>
      <p:sp>
        <p:nvSpPr>
          <p:cNvPr id="16" name="Text 14"/>
          <p:cNvSpPr/>
          <p:nvPr/>
        </p:nvSpPr>
        <p:spPr>
          <a:xfrm>
            <a:off x="2505456" y="3017520"/>
            <a:ext cx="8229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Checkout controls reduce clashes.</a:t>
            </a:r>
            <a:endParaRPr lang="en-US" sz="880" dirty="0"/>
          </a:p>
        </p:txBody>
      </p:sp>
      <p:sp>
        <p:nvSpPr>
          <p:cNvPr id="17" name="Shape 15"/>
          <p:cNvSpPr/>
          <p:nvPr/>
        </p:nvSpPr>
        <p:spPr>
          <a:xfrm>
            <a:off x="3776472" y="2560320"/>
            <a:ext cx="1097280"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18" name="Shape 16"/>
          <p:cNvSpPr/>
          <p:nvPr/>
        </p:nvSpPr>
        <p:spPr>
          <a:xfrm>
            <a:off x="3776472" y="2560320"/>
            <a:ext cx="1097280" cy="164592"/>
          </a:xfrm>
          <a:prstGeom prst="rect">
            <a:avLst/>
          </a:prstGeom>
          <a:solidFill>
            <a:srgbClr val="3B82F6"/>
          </a:solidFill>
          <a:ln w="12700">
            <a:solidFill>
              <a:srgbClr val="3B82F6">
                <a:alpha val="0"/>
              </a:srgbClr>
            </a:solidFill>
            <a:prstDash val="solid"/>
          </a:ln>
        </p:spPr>
      </p:sp>
      <p:sp>
        <p:nvSpPr>
          <p:cNvPr id="19" name="Text 17"/>
          <p:cNvSpPr/>
          <p:nvPr/>
        </p:nvSpPr>
        <p:spPr>
          <a:xfrm>
            <a:off x="3913632" y="2779776"/>
            <a:ext cx="8229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3 Maintain</a:t>
            </a:r>
            <a:endParaRPr lang="en-US" sz="1350" dirty="0"/>
          </a:p>
        </p:txBody>
      </p:sp>
      <p:sp>
        <p:nvSpPr>
          <p:cNvPr id="20" name="Text 18"/>
          <p:cNvSpPr/>
          <p:nvPr/>
        </p:nvSpPr>
        <p:spPr>
          <a:xfrm>
            <a:off x="3913632" y="3017520"/>
            <a:ext cx="8229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Service history and status are recorded.</a:t>
            </a:r>
            <a:endParaRPr lang="en-US" sz="880" dirty="0"/>
          </a:p>
        </p:txBody>
      </p:sp>
      <p:sp>
        <p:nvSpPr>
          <p:cNvPr id="21" name="Shape 19"/>
          <p:cNvSpPr/>
          <p:nvPr/>
        </p:nvSpPr>
        <p:spPr>
          <a:xfrm>
            <a:off x="5184648" y="2560320"/>
            <a:ext cx="1097280"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22" name="Shape 20"/>
          <p:cNvSpPr/>
          <p:nvPr/>
        </p:nvSpPr>
        <p:spPr>
          <a:xfrm>
            <a:off x="5184648" y="2560320"/>
            <a:ext cx="1097280" cy="164592"/>
          </a:xfrm>
          <a:prstGeom prst="rect">
            <a:avLst/>
          </a:prstGeom>
          <a:solidFill>
            <a:srgbClr val="3B82F6"/>
          </a:solidFill>
          <a:ln w="12700">
            <a:solidFill>
              <a:srgbClr val="3B82F6">
                <a:alpha val="0"/>
              </a:srgbClr>
            </a:solidFill>
            <a:prstDash val="solid"/>
          </a:ln>
        </p:spPr>
      </p:sp>
      <p:sp>
        <p:nvSpPr>
          <p:cNvPr id="23" name="Text 21"/>
          <p:cNvSpPr/>
          <p:nvPr/>
        </p:nvSpPr>
        <p:spPr>
          <a:xfrm>
            <a:off x="5321808" y="2779776"/>
            <a:ext cx="8229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4 Return</a:t>
            </a:r>
            <a:endParaRPr lang="en-US" sz="1350" dirty="0"/>
          </a:p>
        </p:txBody>
      </p:sp>
      <p:sp>
        <p:nvSpPr>
          <p:cNvPr id="24" name="Text 22"/>
          <p:cNvSpPr/>
          <p:nvPr/>
        </p:nvSpPr>
        <p:spPr>
          <a:xfrm>
            <a:off x="5321808" y="3017520"/>
            <a:ext cx="8229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Alerts improve overdue compliance.</a:t>
            </a:r>
            <a:endParaRPr lang="en-US" sz="880" dirty="0"/>
          </a:p>
        </p:txBody>
      </p:sp>
      <p:sp>
        <p:nvSpPr>
          <p:cNvPr id="25" name="Shape 23"/>
          <p:cNvSpPr/>
          <p:nvPr/>
        </p:nvSpPr>
        <p:spPr>
          <a:xfrm>
            <a:off x="6592824" y="2560320"/>
            <a:ext cx="1097280"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26" name="Shape 24"/>
          <p:cNvSpPr/>
          <p:nvPr/>
        </p:nvSpPr>
        <p:spPr>
          <a:xfrm>
            <a:off x="6592824" y="2560320"/>
            <a:ext cx="1097280" cy="164592"/>
          </a:xfrm>
          <a:prstGeom prst="rect">
            <a:avLst/>
          </a:prstGeom>
          <a:solidFill>
            <a:srgbClr val="F59E0B"/>
          </a:solidFill>
          <a:ln w="12700">
            <a:solidFill>
              <a:srgbClr val="F59E0B">
                <a:alpha val="0"/>
              </a:srgbClr>
            </a:solidFill>
            <a:prstDash val="solid"/>
          </a:ln>
        </p:spPr>
      </p:sp>
      <p:sp>
        <p:nvSpPr>
          <p:cNvPr id="27" name="Text 25"/>
          <p:cNvSpPr/>
          <p:nvPr/>
        </p:nvSpPr>
        <p:spPr>
          <a:xfrm>
            <a:off x="6729984" y="2779776"/>
            <a:ext cx="82296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5 Review</a:t>
            </a:r>
            <a:endParaRPr lang="en-US" sz="1350" dirty="0"/>
          </a:p>
        </p:txBody>
      </p:sp>
      <p:sp>
        <p:nvSpPr>
          <p:cNvPr id="28" name="Text 26"/>
          <p:cNvSpPr/>
          <p:nvPr/>
        </p:nvSpPr>
        <p:spPr>
          <a:xfrm>
            <a:off x="6729984" y="3017520"/>
            <a:ext cx="82296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Versioned submissions strengthen governance.</a:t>
            </a:r>
            <a:endParaRPr lang="en-US" sz="880" dirty="0"/>
          </a:p>
        </p:txBody>
      </p:sp>
      <p:sp>
        <p:nvSpPr>
          <p:cNvPr id="29" name="Shape 27"/>
          <p:cNvSpPr/>
          <p:nvPr/>
        </p:nvSpPr>
        <p:spPr>
          <a:xfrm>
            <a:off x="8823960" y="1417320"/>
            <a:ext cx="2578608" cy="1901952"/>
          </a:xfrm>
          <a:prstGeom prst="roundRect">
            <a:avLst>
              <a:gd name="adj" fmla="val 5769"/>
            </a:avLst>
          </a:prstGeom>
          <a:solidFill>
            <a:srgbClr val="FFF8EB"/>
          </a:solidFill>
          <a:ln w="12700">
            <a:solidFill>
              <a:srgbClr val="F5D39A"/>
            </a:solidFill>
            <a:prstDash val="solid"/>
          </a:ln>
          <a:effectLst>
            <a:outerShdw sx="100000" sy="100000" kx="0" ky="0" algn="bl" rotWithShape="0" blurRad="25400" dist="12700" dir="2700000">
              <a:srgbClr val="7C93B8">
                <a:alpha val="18000"/>
              </a:srgbClr>
            </a:outerShdw>
          </a:effectLst>
        </p:spPr>
      </p:sp>
      <p:sp>
        <p:nvSpPr>
          <p:cNvPr id="30" name="Text 28"/>
          <p:cNvSpPr/>
          <p:nvPr/>
        </p:nvSpPr>
        <p:spPr>
          <a:xfrm>
            <a:off x="9052560" y="1682496"/>
            <a:ext cx="2011680" cy="182880"/>
          </a:xfrm>
          <a:prstGeom prst="rect">
            <a:avLst/>
          </a:prstGeom>
          <a:noFill/>
          <a:ln/>
        </p:spPr>
        <p:txBody>
          <a:bodyPr wrap="square" lIns="0" tIns="0" rIns="0" bIns="0" rtlCol="0" anchor="ctr"/>
          <a:lstStyle/>
          <a:p>
            <a:pPr indent="0" marL="0">
              <a:buNone/>
            </a:pPr>
            <a:r>
              <a:rPr lang="en-US" sz="880" b="1" dirty="0">
                <a:solidFill>
                  <a:srgbClr val="F59E0B"/>
                </a:solidFill>
                <a:latin typeface="Liberation Mono" pitchFamily="34" charset="0"/>
                <a:ea typeface="Liberation Mono" pitchFamily="34" charset="-122"/>
                <a:cs typeface="Liberation Mono" pitchFamily="34" charset="-120"/>
              </a:rPr>
              <a:t>High-value controls</a:t>
            </a:r>
            <a:endParaRPr lang="en-US" sz="880" dirty="0"/>
          </a:p>
        </p:txBody>
      </p:sp>
      <p:sp>
        <p:nvSpPr>
          <p:cNvPr id="31" name="Text 29"/>
          <p:cNvSpPr/>
          <p:nvPr/>
        </p:nvSpPr>
        <p:spPr>
          <a:xfrm>
            <a:off x="9052560" y="1975104"/>
            <a:ext cx="1920240" cy="841248"/>
          </a:xfrm>
          <a:prstGeom prst="rect">
            <a:avLst/>
          </a:prstGeom>
          <a:noFill/>
          <a:ln/>
        </p:spPr>
        <p:txBody>
          <a:bodyPr wrap="square" lIns="0" tIns="0" rIns="0" bIns="0" rtlCol="0" anchor="ctr"/>
          <a:lstStyle/>
          <a:p>
            <a:pPr indent="0" marL="0">
              <a:buNone/>
            </a:pPr>
            <a:r>
              <a:rPr lang="en-US" sz="1000" dirty="0">
                <a:solidFill>
                  <a:srgbClr val="13233F"/>
                </a:solidFill>
                <a:latin typeface="Liberation Sans" pitchFamily="34" charset="0"/>
                <a:ea typeface="Liberation Sans" pitchFamily="34" charset="-122"/>
                <a:cs typeface="Liberation Sans" pitchFamily="34" charset="-120"/>
              </a:rPr>
              <a:t>Anti-double-booking validation</a:t>
            </a:r>
            <a:endParaRPr lang="en-US" sz="1000" dirty="0"/>
          </a:p>
          <a:p>
            <a:pPr indent="0" marL="0">
              <a:buNone/>
            </a:pPr>
            <a:r>
              <a:rPr lang="en-US" sz="1000" dirty="0">
                <a:solidFill>
                  <a:srgbClr val="13233F"/>
                </a:solidFill>
                <a:latin typeface="Liberation Sans" pitchFamily="34" charset="0"/>
                <a:ea typeface="Liberation Sans" pitchFamily="34" charset="-122"/>
                <a:cs typeface="Liberation Sans" pitchFamily="34" charset="-120"/>
              </a:rPr>
              <a:t>30-day and 7-day expiry alerts</a:t>
            </a:r>
            <a:endParaRPr lang="en-US" sz="1000" dirty="0"/>
          </a:p>
          <a:p>
            <a:pPr indent="0" marL="0">
              <a:buNone/>
            </a:pPr>
            <a:r>
              <a:rPr lang="en-US" sz="1000" dirty="0">
                <a:solidFill>
                  <a:srgbClr val="13233F"/>
                </a:solidFill>
                <a:latin typeface="Liberation Sans" pitchFamily="34" charset="0"/>
                <a:ea typeface="Liberation Sans" pitchFamily="34" charset="-122"/>
                <a:cs typeface="Liberation Sans" pitchFamily="34" charset="-120"/>
              </a:rPr>
              <a:t>Reviewer access to project history</a:t>
            </a:r>
            <a:endParaRPr lang="en-US" sz="1000" dirty="0"/>
          </a:p>
        </p:txBody>
      </p:sp>
      <p:sp>
        <p:nvSpPr>
          <p:cNvPr id="32" name="Shape 30"/>
          <p:cNvSpPr/>
          <p:nvPr/>
        </p:nvSpPr>
        <p:spPr>
          <a:xfrm>
            <a:off x="768096" y="3794760"/>
            <a:ext cx="3429000" cy="1691640"/>
          </a:xfrm>
          <a:prstGeom prst="roundRect">
            <a:avLst>
              <a:gd name="adj" fmla="val 6486"/>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3" name="Shape 31"/>
          <p:cNvSpPr/>
          <p:nvPr/>
        </p:nvSpPr>
        <p:spPr>
          <a:xfrm>
            <a:off x="914400" y="3941064"/>
            <a:ext cx="1417320" cy="310896"/>
          </a:xfrm>
          <a:prstGeom prst="roundRect">
            <a:avLst>
              <a:gd name="adj" fmla="val 23529"/>
            </a:avLst>
          </a:prstGeom>
          <a:solidFill>
            <a:srgbClr val="EAF2FF"/>
          </a:solidFill>
          <a:ln w="12700">
            <a:solidFill>
              <a:srgbClr val="EAF2FF">
                <a:alpha val="0"/>
              </a:srgbClr>
            </a:solidFill>
            <a:prstDash val="solid"/>
          </a:ln>
        </p:spPr>
      </p:sp>
      <p:sp>
        <p:nvSpPr>
          <p:cNvPr id="34" name="Text 32"/>
          <p:cNvSpPr/>
          <p:nvPr/>
        </p:nvSpPr>
        <p:spPr>
          <a:xfrm>
            <a:off x="1024128" y="399135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VALUE</a:t>
            </a:r>
            <a:endParaRPr lang="en-US" sz="850" dirty="0"/>
          </a:p>
        </p:txBody>
      </p:sp>
      <p:sp>
        <p:nvSpPr>
          <p:cNvPr id="35" name="Text 33"/>
          <p:cNvSpPr/>
          <p:nvPr/>
        </p:nvSpPr>
        <p:spPr>
          <a:xfrm>
            <a:off x="932688" y="4343400"/>
            <a:ext cx="309981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Operational reliability</a:t>
            </a:r>
            <a:endParaRPr lang="en-US" sz="1400" dirty="0"/>
          </a:p>
        </p:txBody>
      </p:sp>
      <p:sp>
        <p:nvSpPr>
          <p:cNvPr id="36" name="Text 34"/>
          <p:cNvSpPr/>
          <p:nvPr/>
        </p:nvSpPr>
        <p:spPr>
          <a:xfrm>
            <a:off x="932688" y="4745736"/>
            <a:ext cx="3099816" cy="612648"/>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Scheduling conflicts are reduced, returns are tracked more consistently, and equipment utilization becomes easier to manage.</a:t>
            </a:r>
            <a:endParaRPr lang="en-US" sz="950" dirty="0"/>
          </a:p>
        </p:txBody>
      </p:sp>
      <p:sp>
        <p:nvSpPr>
          <p:cNvPr id="37" name="Shape 35"/>
          <p:cNvSpPr/>
          <p:nvPr/>
        </p:nvSpPr>
        <p:spPr>
          <a:xfrm>
            <a:off x="4379976" y="3794760"/>
            <a:ext cx="3429000" cy="1691640"/>
          </a:xfrm>
          <a:prstGeom prst="roundRect">
            <a:avLst>
              <a:gd name="adj" fmla="val 6486"/>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8" name="Shape 36"/>
          <p:cNvSpPr/>
          <p:nvPr/>
        </p:nvSpPr>
        <p:spPr>
          <a:xfrm>
            <a:off x="4526280" y="3941064"/>
            <a:ext cx="1417320" cy="310896"/>
          </a:xfrm>
          <a:prstGeom prst="roundRect">
            <a:avLst>
              <a:gd name="adj" fmla="val 23529"/>
            </a:avLst>
          </a:prstGeom>
          <a:solidFill>
            <a:srgbClr val="EAF2FF"/>
          </a:solidFill>
          <a:ln w="12700">
            <a:solidFill>
              <a:srgbClr val="EAF2FF">
                <a:alpha val="0"/>
              </a:srgbClr>
            </a:solidFill>
            <a:prstDash val="solid"/>
          </a:ln>
        </p:spPr>
      </p:sp>
      <p:sp>
        <p:nvSpPr>
          <p:cNvPr id="39" name="Text 37"/>
          <p:cNvSpPr/>
          <p:nvPr/>
        </p:nvSpPr>
        <p:spPr>
          <a:xfrm>
            <a:off x="4636008" y="399135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VALUE</a:t>
            </a:r>
            <a:endParaRPr lang="en-US" sz="850" dirty="0"/>
          </a:p>
        </p:txBody>
      </p:sp>
      <p:sp>
        <p:nvSpPr>
          <p:cNvPr id="40" name="Text 38"/>
          <p:cNvSpPr/>
          <p:nvPr/>
        </p:nvSpPr>
        <p:spPr>
          <a:xfrm>
            <a:off x="4544568" y="4343400"/>
            <a:ext cx="309981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Governance and traceability</a:t>
            </a:r>
            <a:endParaRPr lang="en-US" sz="1400" dirty="0"/>
          </a:p>
        </p:txBody>
      </p:sp>
      <p:sp>
        <p:nvSpPr>
          <p:cNvPr id="41" name="Text 39"/>
          <p:cNvSpPr/>
          <p:nvPr/>
        </p:nvSpPr>
        <p:spPr>
          <a:xfrm>
            <a:off x="4544568" y="4745736"/>
            <a:ext cx="3099816" cy="612648"/>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Version-controlled submissions, maintenance records, and review access reduce duplication and improve accountability.</a:t>
            </a:r>
            <a:endParaRPr lang="en-US" sz="950" dirty="0"/>
          </a:p>
        </p:txBody>
      </p:sp>
      <p:sp>
        <p:nvSpPr>
          <p:cNvPr id="42" name="Shape 40"/>
          <p:cNvSpPr/>
          <p:nvPr/>
        </p:nvSpPr>
        <p:spPr>
          <a:xfrm>
            <a:off x="7991856" y="3794760"/>
            <a:ext cx="3429000" cy="1691640"/>
          </a:xfrm>
          <a:prstGeom prst="roundRect">
            <a:avLst>
              <a:gd name="adj" fmla="val 6486"/>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43" name="Shape 41"/>
          <p:cNvSpPr/>
          <p:nvPr/>
        </p:nvSpPr>
        <p:spPr>
          <a:xfrm>
            <a:off x="8138160" y="3941064"/>
            <a:ext cx="1417320" cy="310896"/>
          </a:xfrm>
          <a:prstGeom prst="roundRect">
            <a:avLst>
              <a:gd name="adj" fmla="val 23529"/>
            </a:avLst>
          </a:prstGeom>
          <a:solidFill>
            <a:srgbClr val="EAF2FF"/>
          </a:solidFill>
          <a:ln w="12700">
            <a:solidFill>
              <a:srgbClr val="EAF2FF">
                <a:alpha val="0"/>
              </a:srgbClr>
            </a:solidFill>
            <a:prstDash val="solid"/>
          </a:ln>
        </p:spPr>
      </p:sp>
      <p:sp>
        <p:nvSpPr>
          <p:cNvPr id="44" name="Text 42"/>
          <p:cNvSpPr/>
          <p:nvPr/>
        </p:nvSpPr>
        <p:spPr>
          <a:xfrm>
            <a:off x="8247888" y="399135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VALUE</a:t>
            </a:r>
            <a:endParaRPr lang="en-US" sz="850" dirty="0"/>
          </a:p>
        </p:txBody>
      </p:sp>
      <p:sp>
        <p:nvSpPr>
          <p:cNvPr id="45" name="Text 43"/>
          <p:cNvSpPr/>
          <p:nvPr/>
        </p:nvSpPr>
        <p:spPr>
          <a:xfrm>
            <a:off x="8156448" y="4343400"/>
            <a:ext cx="309981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Software continuity</a:t>
            </a:r>
            <a:endParaRPr lang="en-US" sz="1400" dirty="0"/>
          </a:p>
        </p:txBody>
      </p:sp>
      <p:sp>
        <p:nvSpPr>
          <p:cNvPr id="46" name="Text 44"/>
          <p:cNvSpPr/>
          <p:nvPr/>
        </p:nvSpPr>
        <p:spPr>
          <a:xfrm>
            <a:off x="8156448" y="4745736"/>
            <a:ext cx="3099816" cy="612648"/>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License tracking, waitlisting, and expiry notifications reduce interruptions to digital production work.</a:t>
            </a:r>
            <a:endParaRPr lang="en-US" sz="950" dirty="0"/>
          </a:p>
        </p:txBody>
      </p:sp>
      <p:sp>
        <p:nvSpPr>
          <p:cNvPr id="47" name="Shape 45"/>
          <p:cNvSpPr/>
          <p:nvPr/>
        </p:nvSpPr>
        <p:spPr>
          <a:xfrm>
            <a:off x="548640" y="6446520"/>
            <a:ext cx="11064240" cy="0"/>
          </a:xfrm>
          <a:prstGeom prst="line">
            <a:avLst/>
          </a:prstGeom>
          <a:noFill/>
          <a:ln w="12700">
            <a:solidFill>
              <a:srgbClr val="C8D8F0"/>
            </a:solidFill>
            <a:prstDash val="solid"/>
          </a:ln>
        </p:spPr>
      </p:sp>
      <p:sp>
        <p:nvSpPr>
          <p:cNvPr id="48" name="Text 46"/>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49" name="Text 47"/>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5</a:t>
            </a:r>
            <a:endParaRPr lang="en-US" sz="850" dirty="0"/>
          </a:p>
        </p:txBody>
      </p:sp>
      <p:sp>
        <p:nvSpPr>
          <p:cNvPr id="52"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53"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4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3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2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1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6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69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set>
                                <p:cBhvr>
                                  <p:cTn id="124" dur="1" fill="hold">
                                    <p:stCondLst>
                                      <p:cond delay="0"/>
                                    </p:stCondLst>
                                  </p:cTn>
                                  <p:tgtEl>
                                    <p:spTgt spid="10"/>
                                  </p:tgtEl>
                                  <p:attrNameLst>
                                    <p:attrName>style.visibility</p:attrName>
                                  </p:attrNameLst>
                                </p:cBhvr>
                                <p:to>
                                  <p:strVal val="visible"/>
                                </p:to>
                              </p:set>
                              <p:anim calcmode="lin" valueType="num">
                                <p:cBhvr>
                                  <p:cTn id="125" dur="500"/>
                                  <p:tgtEl>
                                    <p:spTgt spid="10"/>
                                  </p:tgtEl>
                                  <p:attrNameLst>
                                    <p:attrName>style.opacity</p:attrName>
                                  </p:attrNameLst>
                                </p:cBhvr>
                                <p:tavLst>
                                  <p:tav tm="0">
                                    <p:val>
                                      <p:fltVal val="0"/>
                                    </p:val>
                                  </p:tav>
                                  <p:tav tm="100000">
                                    <p:val>
                                      <p:fltVal val="1"/>
                                    </p:val>
                                  </p:tav>
                                </p:tavLst>
                              </p:anim>
                              <p:set>
                                <p:cBhvr>
                                  <p:cTn id="126" dur="1" fill="hold">
                                    <p:stCondLst>
                                      <p:cond delay="0"/>
                                    </p:stCondLst>
                                  </p:cTn>
                                  <p:tgtEl>
                                    <p:spTgt spid="11"/>
                                  </p:tgtEl>
                                  <p:attrNameLst>
                                    <p:attrName>style.visibility</p:attrName>
                                  </p:attrNameLst>
                                </p:cBhvr>
                                <p:to>
                                  <p:strVal val="visible"/>
                                </p:to>
                              </p:set>
                              <p:anim calcmode="lin" valueType="num">
                                <p:cBhvr>
                                  <p:cTn id="127" dur="500"/>
                                  <p:tgtEl>
                                    <p:spTgt spid="11"/>
                                  </p:tgtEl>
                                  <p:attrNameLst>
                                    <p:attrName>style.opacity</p:attrName>
                                  </p:attrNameLst>
                                </p:cBhvr>
                                <p:tavLst>
                                  <p:tav tm="0">
                                    <p:val>
                                      <p:fltVal val="0"/>
                                    </p:val>
                                  </p:tav>
                                  <p:tav tm="100000">
                                    <p:val>
                                      <p:fltVal val="1"/>
                                    </p:val>
                                  </p:tav>
                                </p:tavLst>
                              </p:anim>
                              <p:set>
                                <p:cBhvr>
                                  <p:cTn id="128" dur="1" fill="hold">
                                    <p:stCondLst>
                                      <p:cond delay="0"/>
                                    </p:stCondLst>
                                  </p:cTn>
                                  <p:tgtEl>
                                    <p:spTgt spid="12"/>
                                  </p:tgtEl>
                                  <p:attrNameLst>
                                    <p:attrName>style.visibility</p:attrName>
                                  </p:attrNameLst>
                                </p:cBhvr>
                                <p:to>
                                  <p:strVal val="visible"/>
                                </p:to>
                              </p:set>
                              <p:anim calcmode="lin" valueType="num">
                                <p:cBhvr>
                                  <p:cTn id="129" dur="500"/>
                                  <p:tgtEl>
                                    <p:spTgt spid="12"/>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780"/>
                            </p:stCondLst>
                            <p:childTnLst>
                              <p:set>
                                <p:cBhvr>
                                  <p:cTn id="131" dur="1" fill="hold">
                                    <p:stCondLst>
                                      <p:cond delay="0"/>
                                    </p:stCondLst>
                                  </p:cTn>
                                  <p:tgtEl>
                                    <p:spTgt spid="13"/>
                                  </p:tgtEl>
                                  <p:attrNameLst>
                                    <p:attrName>style.visibility</p:attrName>
                                  </p:attrNameLst>
                                </p:cBhvr>
                                <p:to>
                                  <p:strVal val="visible"/>
                                </p:to>
                              </p:set>
                              <p:anim calcmode="lin" valueType="num">
                                <p:cBhvr>
                                  <p:cTn id="132" dur="500"/>
                                  <p:tgtEl>
                                    <p:spTgt spid="13"/>
                                  </p:tgtEl>
                                  <p:attrNameLst>
                                    <p:attrName>style.opacity</p:attrName>
                                  </p:attrNameLst>
                                </p:cBhvr>
                                <p:tavLst>
                                  <p:tav tm="0">
                                    <p:val>
                                      <p:fltVal val="0"/>
                                    </p:val>
                                  </p:tav>
                                  <p:tav tm="100000">
                                    <p:val>
                                      <p:fltVal val="1"/>
                                    </p:val>
                                  </p:tav>
                                </p:tavLst>
                              </p:anim>
                              <p:set>
                                <p:cBhvr>
                                  <p:cTn id="133" dur="1" fill="hold">
                                    <p:stCondLst>
                                      <p:cond delay="0"/>
                                    </p:stCondLst>
                                  </p:cTn>
                                  <p:tgtEl>
                                    <p:spTgt spid="14"/>
                                  </p:tgtEl>
                                  <p:attrNameLst>
                                    <p:attrName>style.visibility</p:attrName>
                                  </p:attrNameLst>
                                </p:cBhvr>
                                <p:to>
                                  <p:strVal val="visible"/>
                                </p:to>
                              </p:set>
                              <p:anim calcmode="lin" valueType="num">
                                <p:cBhvr>
                                  <p:cTn id="134" dur="500"/>
                                  <p:tgtEl>
                                    <p:spTgt spid="14"/>
                                  </p:tgtEl>
                                  <p:attrNameLst>
                                    <p:attrName>style.opacity</p:attrName>
                                  </p:attrNameLst>
                                </p:cBhvr>
                                <p:tavLst>
                                  <p:tav tm="0">
                                    <p:val>
                                      <p:fltVal val="0"/>
                                    </p:val>
                                  </p:tav>
                                  <p:tav tm="100000">
                                    <p:val>
                                      <p:fltVal val="1"/>
                                    </p:val>
                                  </p:tav>
                                </p:tavLst>
                              </p:anim>
                              <p:set>
                                <p:cBhvr>
                                  <p:cTn id="135" dur="1" fill="hold">
                                    <p:stCondLst>
                                      <p:cond delay="0"/>
                                    </p:stCondLst>
                                  </p:cTn>
                                  <p:tgtEl>
                                    <p:spTgt spid="15"/>
                                  </p:tgtEl>
                                  <p:attrNameLst>
                                    <p:attrName>style.visibility</p:attrName>
                                  </p:attrNameLst>
                                </p:cBhvr>
                                <p:to>
                                  <p:strVal val="visible"/>
                                </p:to>
                              </p:set>
                              <p:anim calcmode="lin" valueType="num">
                                <p:cBhvr>
                                  <p:cTn id="136" dur="500"/>
                                  <p:tgtEl>
                                    <p:spTgt spid="15"/>
                                  </p:tgtEl>
                                  <p:attrNameLst>
                                    <p:attrName>style.opacity</p:attrName>
                                  </p:attrNameLst>
                                </p:cBhvr>
                                <p:tavLst>
                                  <p:tav tm="0">
                                    <p:val>
                                      <p:fltVal val="0"/>
                                    </p:val>
                                  </p:tav>
                                  <p:tav tm="100000">
                                    <p:val>
                                      <p:fltVal val="1"/>
                                    </p:val>
                                  </p:tav>
                                </p:tavLst>
                              </p:anim>
                              <p:set>
                                <p:cBhvr>
                                  <p:cTn id="137" dur="1" fill="hold">
                                    <p:stCondLst>
                                      <p:cond delay="0"/>
                                    </p:stCondLst>
                                  </p:cTn>
                                  <p:tgtEl>
                                    <p:spTgt spid="16"/>
                                  </p:tgtEl>
                                  <p:attrNameLst>
                                    <p:attrName>style.visibility</p:attrName>
                                  </p:attrNameLst>
                                </p:cBhvr>
                                <p:to>
                                  <p:strVal val="visible"/>
                                </p:to>
                              </p:set>
                              <p:anim calcmode="lin" valueType="num">
                                <p:cBhvr>
                                  <p:cTn id="138" dur="500"/>
                                  <p:tgtEl>
                                    <p:spTgt spid="16"/>
                                  </p:tgtEl>
                                  <p:attrNameLst>
                                    <p:attrName>style.opacity</p:attrName>
                                  </p:attrNameLst>
                                </p:cBhvr>
                                <p:tavLst>
                                  <p:tav tm="0">
                                    <p:val>
                                      <p:fltVal val="0"/>
                                    </p:val>
                                  </p:tav>
                                  <p:tav tm="100000">
                                    <p:val>
                                      <p:fltVal val="1"/>
                                    </p:val>
                                  </p:tav>
                                </p:tavLst>
                              </p:anim>
                            </p:childTnLst>
                          </p:cTn>
                        </p:par>
                        <p:par>
                          <p:cTn id="139" presetID="10" presetClass="entr" presetSubtype="0" fill="hold" grpId="0" nodeType="afterEffect">
                            <p:stCondLst>
                              <p:cond delay="870"/>
                            </p:stCondLst>
                            <p:childTnLst>
                              <p:set>
                                <p:cBhvr>
                                  <p:cTn id="140" dur="1" fill="hold">
                                    <p:stCondLst>
                                      <p:cond delay="0"/>
                                    </p:stCondLst>
                                  </p:cTn>
                                  <p:tgtEl>
                                    <p:spTgt spid="17"/>
                                  </p:tgtEl>
                                  <p:attrNameLst>
                                    <p:attrName>style.visibility</p:attrName>
                                  </p:attrNameLst>
                                </p:cBhvr>
                                <p:to>
                                  <p:strVal val="visible"/>
                                </p:to>
                              </p:set>
                              <p:anim calcmode="lin" valueType="num">
                                <p:cBhvr>
                                  <p:cTn id="141" dur="500"/>
                                  <p:tgtEl>
                                    <p:spTgt spid="17"/>
                                  </p:tgtEl>
                                  <p:attrNameLst>
                                    <p:attrName>style.opacity</p:attrName>
                                  </p:attrNameLst>
                                </p:cBhvr>
                                <p:tavLst>
                                  <p:tav tm="0">
                                    <p:val>
                                      <p:fltVal val="0"/>
                                    </p:val>
                                  </p:tav>
                                  <p:tav tm="100000">
                                    <p:val>
                                      <p:fltVal val="1"/>
                                    </p:val>
                                  </p:tav>
                                </p:tavLst>
                              </p:anim>
                              <p:set>
                                <p:cBhvr>
                                  <p:cTn id="142" dur="1" fill="hold">
                                    <p:stCondLst>
                                      <p:cond delay="0"/>
                                    </p:stCondLst>
                                  </p:cTn>
                                  <p:tgtEl>
                                    <p:spTgt spid="18"/>
                                  </p:tgtEl>
                                  <p:attrNameLst>
                                    <p:attrName>style.visibility</p:attrName>
                                  </p:attrNameLst>
                                </p:cBhvr>
                                <p:to>
                                  <p:strVal val="visible"/>
                                </p:to>
                              </p:set>
                              <p:anim calcmode="lin" valueType="num">
                                <p:cBhvr>
                                  <p:cTn id="143" dur="500"/>
                                  <p:tgtEl>
                                    <p:spTgt spid="18"/>
                                  </p:tgtEl>
                                  <p:attrNameLst>
                                    <p:attrName>style.opacity</p:attrName>
                                  </p:attrNameLst>
                                </p:cBhvr>
                                <p:tavLst>
                                  <p:tav tm="0">
                                    <p:val>
                                      <p:fltVal val="0"/>
                                    </p:val>
                                  </p:tav>
                                  <p:tav tm="100000">
                                    <p:val>
                                      <p:fltVal val="1"/>
                                    </p:val>
                                  </p:tav>
                                </p:tavLst>
                              </p:anim>
                              <p:set>
                                <p:cBhvr>
                                  <p:cTn id="144" dur="1" fill="hold">
                                    <p:stCondLst>
                                      <p:cond delay="0"/>
                                    </p:stCondLst>
                                  </p:cTn>
                                  <p:tgtEl>
                                    <p:spTgt spid="19"/>
                                  </p:tgtEl>
                                  <p:attrNameLst>
                                    <p:attrName>style.visibility</p:attrName>
                                  </p:attrNameLst>
                                </p:cBhvr>
                                <p:to>
                                  <p:strVal val="visible"/>
                                </p:to>
                              </p:set>
                              <p:anim calcmode="lin" valueType="num">
                                <p:cBhvr>
                                  <p:cTn id="145" dur="500"/>
                                  <p:tgtEl>
                                    <p:spTgt spid="19"/>
                                  </p:tgtEl>
                                  <p:attrNameLst>
                                    <p:attrName>style.opacity</p:attrName>
                                  </p:attrNameLst>
                                </p:cBhvr>
                                <p:tavLst>
                                  <p:tav tm="0">
                                    <p:val>
                                      <p:fltVal val="0"/>
                                    </p:val>
                                  </p:tav>
                                  <p:tav tm="100000">
                                    <p:val>
                                      <p:fltVal val="1"/>
                                    </p:val>
                                  </p:tav>
                                </p:tavLst>
                              </p:anim>
                              <p:set>
                                <p:cBhvr>
                                  <p:cTn id="146" dur="1" fill="hold">
                                    <p:stCondLst>
                                      <p:cond delay="0"/>
                                    </p:stCondLst>
                                  </p:cTn>
                                  <p:tgtEl>
                                    <p:spTgt spid="20"/>
                                  </p:tgtEl>
                                  <p:attrNameLst>
                                    <p:attrName>style.visibility</p:attrName>
                                  </p:attrNameLst>
                                </p:cBhvr>
                                <p:to>
                                  <p:strVal val="visible"/>
                                </p:to>
                              </p:set>
                              <p:anim calcmode="lin" valueType="num">
                                <p:cBhvr>
                                  <p:cTn id="147" dur="500"/>
                                  <p:tgtEl>
                                    <p:spTgt spid="20"/>
                                  </p:tgtEl>
                                  <p:attrNameLst>
                                    <p:attrName>style.opacity</p:attrName>
                                  </p:attrNameLst>
                                </p:cBhvr>
                                <p:tavLst>
                                  <p:tav tm="0">
                                    <p:val>
                                      <p:fltVal val="0"/>
                                    </p:val>
                                  </p:tav>
                                  <p:tav tm="100000">
                                    <p:val>
                                      <p:fltVal val="1"/>
                                    </p:val>
                                  </p:tav>
                                </p:tavLst>
                              </p:anim>
                            </p:childTnLst>
                          </p:cTn>
                        </p:par>
                        <p:par>
                          <p:cTn id="148" presetID="10" presetClass="entr" presetSubtype="0" fill="hold" grpId="0" nodeType="afterEffect">
                            <p:stCondLst>
                              <p:cond delay="960"/>
                            </p:stCondLst>
                            <p:childTnLst>
                              <p:set>
                                <p:cBhvr>
                                  <p:cTn id="149" dur="1" fill="hold">
                                    <p:stCondLst>
                                      <p:cond delay="0"/>
                                    </p:stCondLst>
                                  </p:cTn>
                                  <p:tgtEl>
                                    <p:spTgt spid="21"/>
                                  </p:tgtEl>
                                  <p:attrNameLst>
                                    <p:attrName>style.visibility</p:attrName>
                                  </p:attrNameLst>
                                </p:cBhvr>
                                <p:to>
                                  <p:strVal val="visible"/>
                                </p:to>
                              </p:set>
                              <p:anim calcmode="lin" valueType="num">
                                <p:cBhvr>
                                  <p:cTn id="150" dur="500"/>
                                  <p:tgtEl>
                                    <p:spTgt spid="21"/>
                                  </p:tgtEl>
                                  <p:attrNameLst>
                                    <p:attrName>style.opacity</p:attrName>
                                  </p:attrNameLst>
                                </p:cBhvr>
                                <p:tavLst>
                                  <p:tav tm="0">
                                    <p:val>
                                      <p:fltVal val="0"/>
                                    </p:val>
                                  </p:tav>
                                  <p:tav tm="100000">
                                    <p:val>
                                      <p:fltVal val="1"/>
                                    </p:val>
                                  </p:tav>
                                </p:tavLst>
                              </p:anim>
                              <p:set>
                                <p:cBhvr>
                                  <p:cTn id="151" dur="1" fill="hold">
                                    <p:stCondLst>
                                      <p:cond delay="0"/>
                                    </p:stCondLst>
                                  </p:cTn>
                                  <p:tgtEl>
                                    <p:spTgt spid="22"/>
                                  </p:tgtEl>
                                  <p:attrNameLst>
                                    <p:attrName>style.visibility</p:attrName>
                                  </p:attrNameLst>
                                </p:cBhvr>
                                <p:to>
                                  <p:strVal val="visible"/>
                                </p:to>
                              </p:set>
                              <p:anim calcmode="lin" valueType="num">
                                <p:cBhvr>
                                  <p:cTn id="152" dur="500"/>
                                  <p:tgtEl>
                                    <p:spTgt spid="22"/>
                                  </p:tgtEl>
                                  <p:attrNameLst>
                                    <p:attrName>style.opacity</p:attrName>
                                  </p:attrNameLst>
                                </p:cBhvr>
                                <p:tavLst>
                                  <p:tav tm="0">
                                    <p:val>
                                      <p:fltVal val="0"/>
                                    </p:val>
                                  </p:tav>
                                  <p:tav tm="100000">
                                    <p:val>
                                      <p:fltVal val="1"/>
                                    </p:val>
                                  </p:tav>
                                </p:tavLst>
                              </p:anim>
                              <p:set>
                                <p:cBhvr>
                                  <p:cTn id="153" dur="1" fill="hold">
                                    <p:stCondLst>
                                      <p:cond delay="0"/>
                                    </p:stCondLst>
                                  </p:cTn>
                                  <p:tgtEl>
                                    <p:spTgt spid="23"/>
                                  </p:tgtEl>
                                  <p:attrNameLst>
                                    <p:attrName>style.visibility</p:attrName>
                                  </p:attrNameLst>
                                </p:cBhvr>
                                <p:to>
                                  <p:strVal val="visible"/>
                                </p:to>
                              </p:set>
                              <p:anim calcmode="lin" valueType="num">
                                <p:cBhvr>
                                  <p:cTn id="154" dur="500"/>
                                  <p:tgtEl>
                                    <p:spTgt spid="23"/>
                                  </p:tgtEl>
                                  <p:attrNameLst>
                                    <p:attrName>style.opacity</p:attrName>
                                  </p:attrNameLst>
                                </p:cBhvr>
                                <p:tavLst>
                                  <p:tav tm="0">
                                    <p:val>
                                      <p:fltVal val="0"/>
                                    </p:val>
                                  </p:tav>
                                  <p:tav tm="100000">
                                    <p:val>
                                      <p:fltVal val="1"/>
                                    </p:val>
                                  </p:tav>
                                </p:tavLst>
                              </p:anim>
                              <p:set>
                                <p:cBhvr>
                                  <p:cTn id="155" dur="1" fill="hold">
                                    <p:stCondLst>
                                      <p:cond delay="0"/>
                                    </p:stCondLst>
                                  </p:cTn>
                                  <p:tgtEl>
                                    <p:spTgt spid="24"/>
                                  </p:tgtEl>
                                  <p:attrNameLst>
                                    <p:attrName>style.visibility</p:attrName>
                                  </p:attrNameLst>
                                </p:cBhvr>
                                <p:to>
                                  <p:strVal val="visible"/>
                                </p:to>
                              </p:set>
                              <p:anim calcmode="lin" valueType="num">
                                <p:cBhvr>
                                  <p:cTn id="156" dur="500"/>
                                  <p:tgtEl>
                                    <p:spTgt spid="24"/>
                                  </p:tgtEl>
                                  <p:attrNameLst>
                                    <p:attrName>style.opacity</p:attrName>
                                  </p:attrNameLst>
                                </p:cBhvr>
                                <p:tavLst>
                                  <p:tav tm="0">
                                    <p:val>
                                      <p:fltVal val="0"/>
                                    </p:val>
                                  </p:tav>
                                  <p:tav tm="100000">
                                    <p:val>
                                      <p:fltVal val="1"/>
                                    </p:val>
                                  </p:tav>
                                </p:tavLst>
                              </p:anim>
                            </p:childTnLst>
                          </p:cTn>
                        </p:par>
                        <p:par>
                          <p:cTn id="157" presetID="10" presetClass="entr" presetSubtype="0" fill="hold" grpId="0" nodeType="afterEffect">
                            <p:stCondLst>
                              <p:cond delay="1050"/>
                            </p:stCondLst>
                            <p:childTnLst>
                              <p:set>
                                <p:cBhvr>
                                  <p:cTn id="158" dur="1" fill="hold">
                                    <p:stCondLst>
                                      <p:cond delay="0"/>
                                    </p:stCondLst>
                                  </p:cTn>
                                  <p:tgtEl>
                                    <p:spTgt spid="25"/>
                                  </p:tgtEl>
                                  <p:attrNameLst>
                                    <p:attrName>style.visibility</p:attrName>
                                  </p:attrNameLst>
                                </p:cBhvr>
                                <p:to>
                                  <p:strVal val="visible"/>
                                </p:to>
                              </p:set>
                              <p:anim calcmode="lin" valueType="num">
                                <p:cBhvr>
                                  <p:cTn id="159" dur="500"/>
                                  <p:tgtEl>
                                    <p:spTgt spid="25"/>
                                  </p:tgtEl>
                                  <p:attrNameLst>
                                    <p:attrName>style.opacity</p:attrName>
                                  </p:attrNameLst>
                                </p:cBhvr>
                                <p:tavLst>
                                  <p:tav tm="0">
                                    <p:val>
                                      <p:fltVal val="0"/>
                                    </p:val>
                                  </p:tav>
                                  <p:tav tm="100000">
                                    <p:val>
                                      <p:fltVal val="1"/>
                                    </p:val>
                                  </p:tav>
                                </p:tavLst>
                              </p:anim>
                              <p:set>
                                <p:cBhvr>
                                  <p:cTn id="160" dur="1" fill="hold">
                                    <p:stCondLst>
                                      <p:cond delay="0"/>
                                    </p:stCondLst>
                                  </p:cTn>
                                  <p:tgtEl>
                                    <p:spTgt spid="26"/>
                                  </p:tgtEl>
                                  <p:attrNameLst>
                                    <p:attrName>style.visibility</p:attrName>
                                  </p:attrNameLst>
                                </p:cBhvr>
                                <p:to>
                                  <p:strVal val="visible"/>
                                </p:to>
                              </p:set>
                              <p:anim calcmode="lin" valueType="num">
                                <p:cBhvr>
                                  <p:cTn id="161" dur="500"/>
                                  <p:tgtEl>
                                    <p:spTgt spid="26"/>
                                  </p:tgtEl>
                                  <p:attrNameLst>
                                    <p:attrName>style.opacity</p:attrName>
                                  </p:attrNameLst>
                                </p:cBhvr>
                                <p:tavLst>
                                  <p:tav tm="0">
                                    <p:val>
                                      <p:fltVal val="0"/>
                                    </p:val>
                                  </p:tav>
                                  <p:tav tm="100000">
                                    <p:val>
                                      <p:fltVal val="1"/>
                                    </p:val>
                                  </p:tav>
                                </p:tavLst>
                              </p:anim>
                              <p:set>
                                <p:cBhvr>
                                  <p:cTn id="162" dur="1" fill="hold">
                                    <p:stCondLst>
                                      <p:cond delay="0"/>
                                    </p:stCondLst>
                                  </p:cTn>
                                  <p:tgtEl>
                                    <p:spTgt spid="27"/>
                                  </p:tgtEl>
                                  <p:attrNameLst>
                                    <p:attrName>style.visibility</p:attrName>
                                  </p:attrNameLst>
                                </p:cBhvr>
                                <p:to>
                                  <p:strVal val="visible"/>
                                </p:to>
                              </p:set>
                              <p:anim calcmode="lin" valueType="num">
                                <p:cBhvr>
                                  <p:cTn id="163" dur="500"/>
                                  <p:tgtEl>
                                    <p:spTgt spid="27"/>
                                  </p:tgtEl>
                                  <p:attrNameLst>
                                    <p:attrName>style.opacity</p:attrName>
                                  </p:attrNameLst>
                                </p:cBhvr>
                                <p:tavLst>
                                  <p:tav tm="0">
                                    <p:val>
                                      <p:fltVal val="0"/>
                                    </p:val>
                                  </p:tav>
                                  <p:tav tm="100000">
                                    <p:val>
                                      <p:fltVal val="1"/>
                                    </p:val>
                                  </p:tav>
                                </p:tavLst>
                              </p:anim>
                              <p:set>
                                <p:cBhvr>
                                  <p:cTn id="164" dur="1" fill="hold">
                                    <p:stCondLst>
                                      <p:cond delay="0"/>
                                    </p:stCondLst>
                                  </p:cTn>
                                  <p:tgtEl>
                                    <p:spTgt spid="28"/>
                                  </p:tgtEl>
                                  <p:attrNameLst>
                                    <p:attrName>style.visibility</p:attrName>
                                  </p:attrNameLst>
                                </p:cBhvr>
                                <p:to>
                                  <p:strVal val="visible"/>
                                </p:to>
                              </p:set>
                              <p:anim calcmode="lin" valueType="num">
                                <p:cBhvr>
                                  <p:cTn id="165" dur="500"/>
                                  <p:tgtEl>
                                    <p:spTgt spid="28"/>
                                  </p:tgtEl>
                                  <p:attrNameLst>
                                    <p:attrName>style.opacity</p:attrName>
                                  </p:attrNameLst>
                                </p:cBhvr>
                                <p:tavLst>
                                  <p:tav tm="0">
                                    <p:val>
                                      <p:fltVal val="0"/>
                                    </p:val>
                                  </p:tav>
                                  <p:tav tm="100000">
                                    <p:val>
                                      <p:fltVal val="1"/>
                                    </p:val>
                                  </p:tav>
                                </p:tavLst>
                              </p:anim>
                            </p:childTnLst>
                          </p:cTn>
                        </p:par>
                        <p:par>
                          <p:cTn id="166" presetID="10" presetClass="entr" presetSubtype="0" fill="hold" grpId="0" nodeType="afterEffect">
                            <p:stCondLst>
                              <p:cond delay="1140"/>
                            </p:stCondLst>
                            <p:childTnLst>
                              <p:set>
                                <p:cBhvr>
                                  <p:cTn id="167" dur="1" fill="hold">
                                    <p:stCondLst>
                                      <p:cond delay="0"/>
                                    </p:stCondLst>
                                  </p:cTn>
                                  <p:tgtEl>
                                    <p:spTgt spid="29"/>
                                  </p:tgtEl>
                                  <p:attrNameLst>
                                    <p:attrName>style.visibility</p:attrName>
                                  </p:attrNameLst>
                                </p:cBhvr>
                                <p:to>
                                  <p:strVal val="visible"/>
                                </p:to>
                              </p:set>
                              <p:anim calcmode="lin" valueType="num">
                                <p:cBhvr>
                                  <p:cTn id="168" dur="500"/>
                                  <p:tgtEl>
                                    <p:spTgt spid="29"/>
                                  </p:tgtEl>
                                  <p:attrNameLst>
                                    <p:attrName>style.opacity</p:attrName>
                                  </p:attrNameLst>
                                </p:cBhvr>
                                <p:tavLst>
                                  <p:tav tm="0">
                                    <p:val>
                                      <p:fltVal val="0"/>
                                    </p:val>
                                  </p:tav>
                                  <p:tav tm="100000">
                                    <p:val>
                                      <p:fltVal val="1"/>
                                    </p:val>
                                  </p:tav>
                                </p:tavLst>
                              </p:anim>
                              <p:set>
                                <p:cBhvr>
                                  <p:cTn id="169" dur="1" fill="hold">
                                    <p:stCondLst>
                                      <p:cond delay="0"/>
                                    </p:stCondLst>
                                  </p:cTn>
                                  <p:tgtEl>
                                    <p:spTgt spid="30"/>
                                  </p:tgtEl>
                                  <p:attrNameLst>
                                    <p:attrName>style.visibility</p:attrName>
                                  </p:attrNameLst>
                                </p:cBhvr>
                                <p:to>
                                  <p:strVal val="visible"/>
                                </p:to>
                              </p:set>
                              <p:anim calcmode="lin" valueType="num">
                                <p:cBhvr>
                                  <p:cTn id="170" dur="500"/>
                                  <p:tgtEl>
                                    <p:spTgt spid="30"/>
                                  </p:tgtEl>
                                  <p:attrNameLst>
                                    <p:attrName>style.opacity</p:attrName>
                                  </p:attrNameLst>
                                </p:cBhvr>
                                <p:tavLst>
                                  <p:tav tm="0">
                                    <p:val>
                                      <p:fltVal val="0"/>
                                    </p:val>
                                  </p:tav>
                                  <p:tav tm="100000">
                                    <p:val>
                                      <p:fltVal val="1"/>
                                    </p:val>
                                  </p:tav>
                                </p:tavLst>
                              </p:anim>
                              <p:set>
                                <p:cBhvr>
                                  <p:cTn id="171" dur="1" fill="hold">
                                    <p:stCondLst>
                                      <p:cond delay="0"/>
                                    </p:stCondLst>
                                  </p:cTn>
                                  <p:tgtEl>
                                    <p:spTgt spid="31"/>
                                  </p:tgtEl>
                                  <p:attrNameLst>
                                    <p:attrName>style.visibility</p:attrName>
                                  </p:attrNameLst>
                                </p:cBhvr>
                                <p:to>
                                  <p:strVal val="visible"/>
                                </p:to>
                              </p:set>
                              <p:anim calcmode="lin" valueType="num">
                                <p:cBhvr>
                                  <p:cTn id="172" dur="500"/>
                                  <p:tgtEl>
                                    <p:spTgt spid="31"/>
                                  </p:tgtEl>
                                  <p:attrNameLst>
                                    <p:attrName>style.opacity</p:attrName>
                                  </p:attrNameLst>
                                </p:cBhvr>
                                <p:tavLst>
                                  <p:tav tm="0">
                                    <p:val>
                                      <p:fltVal val="0"/>
                                    </p:val>
                                  </p:tav>
                                  <p:tav tm="100000">
                                    <p:val>
                                      <p:fltVal val="1"/>
                                    </p:val>
                                  </p:tav>
                                </p:tavLst>
                              </p:anim>
                            </p:childTnLst>
                          </p:cTn>
                        </p:par>
                        <p:par>
                          <p:cTn id="173" presetID="10" presetClass="entr" presetSubtype="0" fill="hold" grpId="0" nodeType="afterEffect">
                            <p:stCondLst>
                              <p:cond delay="1230"/>
                            </p:stCondLst>
                            <p:childTnLst>
                              <p:set>
                                <p:cBhvr>
                                  <p:cTn id="174" dur="1" fill="hold">
                                    <p:stCondLst>
                                      <p:cond delay="0"/>
                                    </p:stCondLst>
                                  </p:cTn>
                                  <p:tgtEl>
                                    <p:spTgt spid="32"/>
                                  </p:tgtEl>
                                  <p:attrNameLst>
                                    <p:attrName>style.visibility</p:attrName>
                                  </p:attrNameLst>
                                </p:cBhvr>
                                <p:to>
                                  <p:strVal val="visible"/>
                                </p:to>
                              </p:set>
                              <p:anim calcmode="lin" valueType="num">
                                <p:cBhvr>
                                  <p:cTn id="175" dur="500"/>
                                  <p:tgtEl>
                                    <p:spTgt spid="32"/>
                                  </p:tgtEl>
                                  <p:attrNameLst>
                                    <p:attrName>style.opacity</p:attrName>
                                  </p:attrNameLst>
                                </p:cBhvr>
                                <p:tavLst>
                                  <p:tav tm="0">
                                    <p:val>
                                      <p:fltVal val="0"/>
                                    </p:val>
                                  </p:tav>
                                  <p:tav tm="100000">
                                    <p:val>
                                      <p:fltVal val="1"/>
                                    </p:val>
                                  </p:tav>
                                </p:tavLst>
                              </p:anim>
                              <p:set>
                                <p:cBhvr>
                                  <p:cTn id="176" dur="1" fill="hold">
                                    <p:stCondLst>
                                      <p:cond delay="0"/>
                                    </p:stCondLst>
                                  </p:cTn>
                                  <p:tgtEl>
                                    <p:spTgt spid="33"/>
                                  </p:tgtEl>
                                  <p:attrNameLst>
                                    <p:attrName>style.visibility</p:attrName>
                                  </p:attrNameLst>
                                </p:cBhvr>
                                <p:to>
                                  <p:strVal val="visible"/>
                                </p:to>
                              </p:set>
                              <p:anim calcmode="lin" valueType="num">
                                <p:cBhvr>
                                  <p:cTn id="177" dur="500"/>
                                  <p:tgtEl>
                                    <p:spTgt spid="33"/>
                                  </p:tgtEl>
                                  <p:attrNameLst>
                                    <p:attrName>style.opacity</p:attrName>
                                  </p:attrNameLst>
                                </p:cBhvr>
                                <p:tavLst>
                                  <p:tav tm="0">
                                    <p:val>
                                      <p:fltVal val="0"/>
                                    </p:val>
                                  </p:tav>
                                  <p:tav tm="100000">
                                    <p:val>
                                      <p:fltVal val="1"/>
                                    </p:val>
                                  </p:tav>
                                </p:tavLst>
                              </p:anim>
                              <p:set>
                                <p:cBhvr>
                                  <p:cTn id="178" dur="1" fill="hold">
                                    <p:stCondLst>
                                      <p:cond delay="0"/>
                                    </p:stCondLst>
                                  </p:cTn>
                                  <p:tgtEl>
                                    <p:spTgt spid="34"/>
                                  </p:tgtEl>
                                  <p:attrNameLst>
                                    <p:attrName>style.visibility</p:attrName>
                                  </p:attrNameLst>
                                </p:cBhvr>
                                <p:to>
                                  <p:strVal val="visible"/>
                                </p:to>
                              </p:set>
                              <p:anim calcmode="lin" valueType="num">
                                <p:cBhvr>
                                  <p:cTn id="179" dur="500"/>
                                  <p:tgtEl>
                                    <p:spTgt spid="34"/>
                                  </p:tgtEl>
                                  <p:attrNameLst>
                                    <p:attrName>style.opacity</p:attrName>
                                  </p:attrNameLst>
                                </p:cBhvr>
                                <p:tavLst>
                                  <p:tav tm="0">
                                    <p:val>
                                      <p:fltVal val="0"/>
                                    </p:val>
                                  </p:tav>
                                  <p:tav tm="100000">
                                    <p:val>
                                      <p:fltVal val="1"/>
                                    </p:val>
                                  </p:tav>
                                </p:tavLst>
                              </p:anim>
                              <p:set>
                                <p:cBhvr>
                                  <p:cTn id="180" dur="1" fill="hold">
                                    <p:stCondLst>
                                      <p:cond delay="0"/>
                                    </p:stCondLst>
                                  </p:cTn>
                                  <p:tgtEl>
                                    <p:spTgt spid="35"/>
                                  </p:tgtEl>
                                  <p:attrNameLst>
                                    <p:attrName>style.visibility</p:attrName>
                                  </p:attrNameLst>
                                </p:cBhvr>
                                <p:to>
                                  <p:strVal val="visible"/>
                                </p:to>
                              </p:set>
                              <p:anim calcmode="lin" valueType="num">
                                <p:cBhvr>
                                  <p:cTn id="181" dur="500"/>
                                  <p:tgtEl>
                                    <p:spTgt spid="35"/>
                                  </p:tgtEl>
                                  <p:attrNameLst>
                                    <p:attrName>style.opacity</p:attrName>
                                  </p:attrNameLst>
                                </p:cBhvr>
                                <p:tavLst>
                                  <p:tav tm="0">
                                    <p:val>
                                      <p:fltVal val="0"/>
                                    </p:val>
                                  </p:tav>
                                  <p:tav tm="100000">
                                    <p:val>
                                      <p:fltVal val="1"/>
                                    </p:val>
                                  </p:tav>
                                </p:tavLst>
                              </p:anim>
                              <p:set>
                                <p:cBhvr>
                                  <p:cTn id="182" dur="1" fill="hold">
                                    <p:stCondLst>
                                      <p:cond delay="0"/>
                                    </p:stCondLst>
                                  </p:cTn>
                                  <p:tgtEl>
                                    <p:spTgt spid="36"/>
                                  </p:tgtEl>
                                  <p:attrNameLst>
                                    <p:attrName>style.visibility</p:attrName>
                                  </p:attrNameLst>
                                </p:cBhvr>
                                <p:to>
                                  <p:strVal val="visible"/>
                                </p:to>
                              </p:set>
                              <p:anim calcmode="lin" valueType="num">
                                <p:cBhvr>
                                  <p:cTn id="183" dur="500"/>
                                  <p:tgtEl>
                                    <p:spTgt spid="36"/>
                                  </p:tgtEl>
                                  <p:attrNameLst>
                                    <p:attrName>style.opacity</p:attrName>
                                  </p:attrNameLst>
                                </p:cBhvr>
                                <p:tavLst>
                                  <p:tav tm="0">
                                    <p:val>
                                      <p:fltVal val="0"/>
                                    </p:val>
                                  </p:tav>
                                  <p:tav tm="100000">
                                    <p:val>
                                      <p:fltVal val="1"/>
                                    </p:val>
                                  </p:tav>
                                </p:tavLst>
                              </p:anim>
                            </p:childTnLst>
                          </p:cTn>
                        </p:par>
                        <p:par>
                          <p:cTn id="184" presetID="10" presetClass="entr" presetSubtype="0" fill="hold" grpId="0" nodeType="afterEffect">
                            <p:stCondLst>
                              <p:cond delay="1320"/>
                            </p:stCondLst>
                            <p:childTnLst>
                              <p:set>
                                <p:cBhvr>
                                  <p:cTn id="185" dur="1" fill="hold">
                                    <p:stCondLst>
                                      <p:cond delay="0"/>
                                    </p:stCondLst>
                                  </p:cTn>
                                  <p:tgtEl>
                                    <p:spTgt spid="37"/>
                                  </p:tgtEl>
                                  <p:attrNameLst>
                                    <p:attrName>style.visibility</p:attrName>
                                  </p:attrNameLst>
                                </p:cBhvr>
                                <p:to>
                                  <p:strVal val="visible"/>
                                </p:to>
                              </p:set>
                              <p:anim calcmode="lin" valueType="num">
                                <p:cBhvr>
                                  <p:cTn id="186" dur="500"/>
                                  <p:tgtEl>
                                    <p:spTgt spid="37"/>
                                  </p:tgtEl>
                                  <p:attrNameLst>
                                    <p:attrName>style.opacity</p:attrName>
                                  </p:attrNameLst>
                                </p:cBhvr>
                                <p:tavLst>
                                  <p:tav tm="0">
                                    <p:val>
                                      <p:fltVal val="0"/>
                                    </p:val>
                                  </p:tav>
                                  <p:tav tm="100000">
                                    <p:val>
                                      <p:fltVal val="1"/>
                                    </p:val>
                                  </p:tav>
                                </p:tavLst>
                              </p:anim>
                              <p:set>
                                <p:cBhvr>
                                  <p:cTn id="187" dur="1" fill="hold">
                                    <p:stCondLst>
                                      <p:cond delay="0"/>
                                    </p:stCondLst>
                                  </p:cTn>
                                  <p:tgtEl>
                                    <p:spTgt spid="38"/>
                                  </p:tgtEl>
                                  <p:attrNameLst>
                                    <p:attrName>style.visibility</p:attrName>
                                  </p:attrNameLst>
                                </p:cBhvr>
                                <p:to>
                                  <p:strVal val="visible"/>
                                </p:to>
                              </p:set>
                              <p:anim calcmode="lin" valueType="num">
                                <p:cBhvr>
                                  <p:cTn id="188" dur="500"/>
                                  <p:tgtEl>
                                    <p:spTgt spid="38"/>
                                  </p:tgtEl>
                                  <p:attrNameLst>
                                    <p:attrName>style.opacity</p:attrName>
                                  </p:attrNameLst>
                                </p:cBhvr>
                                <p:tavLst>
                                  <p:tav tm="0">
                                    <p:val>
                                      <p:fltVal val="0"/>
                                    </p:val>
                                  </p:tav>
                                  <p:tav tm="100000">
                                    <p:val>
                                      <p:fltVal val="1"/>
                                    </p:val>
                                  </p:tav>
                                </p:tavLst>
                              </p:anim>
                              <p:set>
                                <p:cBhvr>
                                  <p:cTn id="189" dur="1" fill="hold">
                                    <p:stCondLst>
                                      <p:cond delay="0"/>
                                    </p:stCondLst>
                                  </p:cTn>
                                  <p:tgtEl>
                                    <p:spTgt spid="39"/>
                                  </p:tgtEl>
                                  <p:attrNameLst>
                                    <p:attrName>style.visibility</p:attrName>
                                  </p:attrNameLst>
                                </p:cBhvr>
                                <p:to>
                                  <p:strVal val="visible"/>
                                </p:to>
                              </p:set>
                              <p:anim calcmode="lin" valueType="num">
                                <p:cBhvr>
                                  <p:cTn id="190" dur="500"/>
                                  <p:tgtEl>
                                    <p:spTgt spid="39"/>
                                  </p:tgtEl>
                                  <p:attrNameLst>
                                    <p:attrName>style.opacity</p:attrName>
                                  </p:attrNameLst>
                                </p:cBhvr>
                                <p:tavLst>
                                  <p:tav tm="0">
                                    <p:val>
                                      <p:fltVal val="0"/>
                                    </p:val>
                                  </p:tav>
                                  <p:tav tm="100000">
                                    <p:val>
                                      <p:fltVal val="1"/>
                                    </p:val>
                                  </p:tav>
                                </p:tavLst>
                              </p:anim>
                              <p:set>
                                <p:cBhvr>
                                  <p:cTn id="191" dur="1" fill="hold">
                                    <p:stCondLst>
                                      <p:cond delay="0"/>
                                    </p:stCondLst>
                                  </p:cTn>
                                  <p:tgtEl>
                                    <p:spTgt spid="40"/>
                                  </p:tgtEl>
                                  <p:attrNameLst>
                                    <p:attrName>style.visibility</p:attrName>
                                  </p:attrNameLst>
                                </p:cBhvr>
                                <p:to>
                                  <p:strVal val="visible"/>
                                </p:to>
                              </p:set>
                              <p:anim calcmode="lin" valueType="num">
                                <p:cBhvr>
                                  <p:cTn id="192" dur="500"/>
                                  <p:tgtEl>
                                    <p:spTgt spid="40"/>
                                  </p:tgtEl>
                                  <p:attrNameLst>
                                    <p:attrName>style.opacity</p:attrName>
                                  </p:attrNameLst>
                                </p:cBhvr>
                                <p:tavLst>
                                  <p:tav tm="0">
                                    <p:val>
                                      <p:fltVal val="0"/>
                                    </p:val>
                                  </p:tav>
                                  <p:tav tm="100000">
                                    <p:val>
                                      <p:fltVal val="1"/>
                                    </p:val>
                                  </p:tav>
                                </p:tavLst>
                              </p:anim>
                              <p:set>
                                <p:cBhvr>
                                  <p:cTn id="193" dur="1" fill="hold">
                                    <p:stCondLst>
                                      <p:cond delay="0"/>
                                    </p:stCondLst>
                                  </p:cTn>
                                  <p:tgtEl>
                                    <p:spTgt spid="41"/>
                                  </p:tgtEl>
                                  <p:attrNameLst>
                                    <p:attrName>style.visibility</p:attrName>
                                  </p:attrNameLst>
                                </p:cBhvr>
                                <p:to>
                                  <p:strVal val="visible"/>
                                </p:to>
                              </p:set>
                              <p:anim calcmode="lin" valueType="num">
                                <p:cBhvr>
                                  <p:cTn id="194" dur="500"/>
                                  <p:tgtEl>
                                    <p:spTgt spid="41"/>
                                  </p:tgtEl>
                                  <p:attrNameLst>
                                    <p:attrName>style.opacity</p:attrName>
                                  </p:attrNameLst>
                                </p:cBhvr>
                                <p:tavLst>
                                  <p:tav tm="0">
                                    <p:val>
                                      <p:fltVal val="0"/>
                                    </p:val>
                                  </p:tav>
                                  <p:tav tm="100000">
                                    <p:val>
                                      <p:fltVal val="1"/>
                                    </p:val>
                                  </p:tav>
                                </p:tavLst>
                              </p:anim>
                            </p:childTnLst>
                          </p:cTn>
                        </p:par>
                        <p:par>
                          <p:cTn id="195" presetID="10" presetClass="entr" presetSubtype="0" fill="hold" grpId="0" nodeType="afterEffect">
                            <p:stCondLst>
                              <p:cond delay="1410"/>
                            </p:stCondLst>
                            <p:childTnLst>
                              <p:set>
                                <p:cBhvr>
                                  <p:cTn id="196" dur="1" fill="hold">
                                    <p:stCondLst>
                                      <p:cond delay="0"/>
                                    </p:stCondLst>
                                  </p:cTn>
                                  <p:tgtEl>
                                    <p:spTgt spid="42"/>
                                  </p:tgtEl>
                                  <p:attrNameLst>
                                    <p:attrName>style.visibility</p:attrName>
                                  </p:attrNameLst>
                                </p:cBhvr>
                                <p:to>
                                  <p:strVal val="visible"/>
                                </p:to>
                              </p:set>
                              <p:anim calcmode="lin" valueType="num">
                                <p:cBhvr>
                                  <p:cTn id="197" dur="500"/>
                                  <p:tgtEl>
                                    <p:spTgt spid="42"/>
                                  </p:tgtEl>
                                  <p:attrNameLst>
                                    <p:attrName>style.opacity</p:attrName>
                                  </p:attrNameLst>
                                </p:cBhvr>
                                <p:tavLst>
                                  <p:tav tm="0">
                                    <p:val>
                                      <p:fltVal val="0"/>
                                    </p:val>
                                  </p:tav>
                                  <p:tav tm="100000">
                                    <p:val>
                                      <p:fltVal val="1"/>
                                    </p:val>
                                  </p:tav>
                                </p:tavLst>
                              </p:anim>
                              <p:set>
                                <p:cBhvr>
                                  <p:cTn id="198" dur="1" fill="hold">
                                    <p:stCondLst>
                                      <p:cond delay="0"/>
                                    </p:stCondLst>
                                  </p:cTn>
                                  <p:tgtEl>
                                    <p:spTgt spid="43"/>
                                  </p:tgtEl>
                                  <p:attrNameLst>
                                    <p:attrName>style.visibility</p:attrName>
                                  </p:attrNameLst>
                                </p:cBhvr>
                                <p:to>
                                  <p:strVal val="visible"/>
                                </p:to>
                              </p:set>
                              <p:anim calcmode="lin" valueType="num">
                                <p:cBhvr>
                                  <p:cTn id="199" dur="500"/>
                                  <p:tgtEl>
                                    <p:spTgt spid="43"/>
                                  </p:tgtEl>
                                  <p:attrNameLst>
                                    <p:attrName>style.opacity</p:attrName>
                                  </p:attrNameLst>
                                </p:cBhvr>
                                <p:tavLst>
                                  <p:tav tm="0">
                                    <p:val>
                                      <p:fltVal val="0"/>
                                    </p:val>
                                  </p:tav>
                                  <p:tav tm="100000">
                                    <p:val>
                                      <p:fltVal val="1"/>
                                    </p:val>
                                  </p:tav>
                                </p:tavLst>
                              </p:anim>
                              <p:set>
                                <p:cBhvr>
                                  <p:cTn id="200" dur="1" fill="hold">
                                    <p:stCondLst>
                                      <p:cond delay="0"/>
                                    </p:stCondLst>
                                  </p:cTn>
                                  <p:tgtEl>
                                    <p:spTgt spid="44"/>
                                  </p:tgtEl>
                                  <p:attrNameLst>
                                    <p:attrName>style.visibility</p:attrName>
                                  </p:attrNameLst>
                                </p:cBhvr>
                                <p:to>
                                  <p:strVal val="visible"/>
                                </p:to>
                              </p:set>
                              <p:anim calcmode="lin" valueType="num">
                                <p:cBhvr>
                                  <p:cTn id="201" dur="500"/>
                                  <p:tgtEl>
                                    <p:spTgt spid="44"/>
                                  </p:tgtEl>
                                  <p:attrNameLst>
                                    <p:attrName>style.opacity</p:attrName>
                                  </p:attrNameLst>
                                </p:cBhvr>
                                <p:tavLst>
                                  <p:tav tm="0">
                                    <p:val>
                                      <p:fltVal val="0"/>
                                    </p:val>
                                  </p:tav>
                                  <p:tav tm="100000">
                                    <p:val>
                                      <p:fltVal val="1"/>
                                    </p:val>
                                  </p:tav>
                                </p:tavLst>
                              </p:anim>
                              <p:set>
                                <p:cBhvr>
                                  <p:cTn id="202" dur="1" fill="hold">
                                    <p:stCondLst>
                                      <p:cond delay="0"/>
                                    </p:stCondLst>
                                  </p:cTn>
                                  <p:tgtEl>
                                    <p:spTgt spid="45"/>
                                  </p:tgtEl>
                                  <p:attrNameLst>
                                    <p:attrName>style.visibility</p:attrName>
                                  </p:attrNameLst>
                                </p:cBhvr>
                                <p:to>
                                  <p:strVal val="visible"/>
                                </p:to>
                              </p:set>
                              <p:anim calcmode="lin" valueType="num">
                                <p:cBhvr>
                                  <p:cTn id="203" dur="500"/>
                                  <p:tgtEl>
                                    <p:spTgt spid="45"/>
                                  </p:tgtEl>
                                  <p:attrNameLst>
                                    <p:attrName>style.opacity</p:attrName>
                                  </p:attrNameLst>
                                </p:cBhvr>
                                <p:tavLst>
                                  <p:tav tm="0">
                                    <p:val>
                                      <p:fltVal val="0"/>
                                    </p:val>
                                  </p:tav>
                                  <p:tav tm="100000">
                                    <p:val>
                                      <p:fltVal val="1"/>
                                    </p:val>
                                  </p:tav>
                                </p:tavLst>
                              </p:anim>
                              <p:set>
                                <p:cBhvr>
                                  <p:cTn id="204" dur="1" fill="hold">
                                    <p:stCondLst>
                                      <p:cond delay="0"/>
                                    </p:stCondLst>
                                  </p:cTn>
                                  <p:tgtEl>
                                    <p:spTgt spid="46"/>
                                  </p:tgtEl>
                                  <p:attrNameLst>
                                    <p:attrName>style.visibility</p:attrName>
                                  </p:attrNameLst>
                                </p:cBhvr>
                                <p:to>
                                  <p:strVal val="visible"/>
                                </p:to>
                              </p:set>
                              <p:anim calcmode="lin" valueType="num">
                                <p:cBhvr>
                                  <p:cTn id="205" dur="500"/>
                                  <p:tgtEl>
                                    <p:spTgt spid="46"/>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FM Operations Can Detect, Alert, and Recover Faster</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The FM station module now emphasizes continuity, emergency coordination, and cleaner outage reporting.</a:t>
            </a:r>
            <a:endParaRPr lang="en-US" sz="1050" dirty="0"/>
          </a:p>
        </p:txBody>
      </p:sp>
      <p:sp>
        <p:nvSpPr>
          <p:cNvPr id="5" name="Shape 3"/>
          <p:cNvSpPr/>
          <p:nvPr/>
        </p:nvSpPr>
        <p:spPr>
          <a:xfrm>
            <a:off x="768096" y="1481328"/>
            <a:ext cx="7936992" cy="4279392"/>
          </a:xfrm>
          <a:prstGeom prst="roundRect">
            <a:avLst>
              <a:gd name="adj" fmla="val 256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69264" y="1664208"/>
            <a:ext cx="1737360"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78992" y="1714500"/>
            <a:ext cx="151790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OPERATIONS CONTINUITY</a:t>
            </a:r>
            <a:endParaRPr lang="en-US" sz="850" dirty="0"/>
          </a:p>
        </p:txBody>
      </p:sp>
      <p:sp>
        <p:nvSpPr>
          <p:cNvPr id="8" name="Text 6"/>
          <p:cNvSpPr/>
          <p:nvPr/>
        </p:nvSpPr>
        <p:spPr>
          <a:xfrm>
            <a:off x="969264" y="2029968"/>
            <a:ext cx="5303520" cy="256032"/>
          </a:xfrm>
          <a:prstGeom prst="rect">
            <a:avLst/>
          </a:prstGeom>
          <a:noFill/>
          <a:ln/>
        </p:spPr>
        <p:txBody>
          <a:bodyPr wrap="square" lIns="0" tIns="0" rIns="0" bIns="0" rtlCol="0" anchor="ctr"/>
          <a:lstStyle/>
          <a:p>
            <a:pPr indent="0" marL="0">
              <a:buNone/>
            </a:pPr>
            <a:r>
              <a:rPr lang="en-US" sz="1800" b="1" dirty="0">
                <a:solidFill>
                  <a:srgbClr val="13233F"/>
                </a:solidFill>
                <a:latin typeface="Liberation Sans" pitchFamily="34" charset="0"/>
                <a:ea typeface="Liberation Sans" pitchFamily="34" charset="-122"/>
                <a:cs typeface="Liberation Sans" pitchFamily="34" charset="-120"/>
              </a:rPr>
              <a:t>The operating model now moves cleanly from monitoring to incident response to reporting.</a:t>
            </a:r>
            <a:endParaRPr lang="en-US" sz="1800" dirty="0"/>
          </a:p>
        </p:txBody>
      </p:sp>
      <p:sp>
        <p:nvSpPr>
          <p:cNvPr id="9" name="Shape 7"/>
          <p:cNvSpPr/>
          <p:nvPr/>
        </p:nvSpPr>
        <p:spPr>
          <a:xfrm>
            <a:off x="1005840" y="2761488"/>
            <a:ext cx="1965960"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0" name="Shape 8"/>
          <p:cNvSpPr/>
          <p:nvPr/>
        </p:nvSpPr>
        <p:spPr>
          <a:xfrm>
            <a:off x="1005840" y="2761488"/>
            <a:ext cx="1965960" cy="164592"/>
          </a:xfrm>
          <a:prstGeom prst="rect">
            <a:avLst/>
          </a:prstGeom>
          <a:solidFill>
            <a:srgbClr val="1E40AF"/>
          </a:solidFill>
          <a:ln w="12700">
            <a:solidFill>
              <a:srgbClr val="1E40AF">
                <a:alpha val="0"/>
              </a:srgbClr>
            </a:solidFill>
            <a:prstDash val="solid"/>
          </a:ln>
        </p:spPr>
      </p:sp>
      <p:sp>
        <p:nvSpPr>
          <p:cNvPr id="11" name="Text 9"/>
          <p:cNvSpPr/>
          <p:nvPr/>
        </p:nvSpPr>
        <p:spPr>
          <a:xfrm>
            <a:off x="1143000" y="2980944"/>
            <a:ext cx="169164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Monitor</a:t>
            </a:r>
            <a:endParaRPr lang="en-US" sz="1350" dirty="0"/>
          </a:p>
        </p:txBody>
      </p:sp>
      <p:sp>
        <p:nvSpPr>
          <p:cNvPr id="12" name="Text 10"/>
          <p:cNvSpPr/>
          <p:nvPr/>
        </p:nvSpPr>
        <p:spPr>
          <a:xfrm>
            <a:off x="1143000" y="3218688"/>
            <a:ext cx="169164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Automated heartbeat checks run every five minutes and flag downtime earlier.</a:t>
            </a:r>
            <a:endParaRPr lang="en-US" sz="880" dirty="0"/>
          </a:p>
        </p:txBody>
      </p:sp>
      <p:sp>
        <p:nvSpPr>
          <p:cNvPr id="13" name="Shape 11"/>
          <p:cNvSpPr/>
          <p:nvPr/>
        </p:nvSpPr>
        <p:spPr>
          <a:xfrm>
            <a:off x="3675888" y="2761488"/>
            <a:ext cx="1965960"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14" name="Shape 12"/>
          <p:cNvSpPr/>
          <p:nvPr/>
        </p:nvSpPr>
        <p:spPr>
          <a:xfrm>
            <a:off x="3675888" y="2761488"/>
            <a:ext cx="1965960" cy="164592"/>
          </a:xfrm>
          <a:prstGeom prst="rect">
            <a:avLst/>
          </a:prstGeom>
          <a:solidFill>
            <a:srgbClr val="3B82F6"/>
          </a:solidFill>
          <a:ln w="12700">
            <a:solidFill>
              <a:srgbClr val="3B82F6">
                <a:alpha val="0"/>
              </a:srgbClr>
            </a:solidFill>
            <a:prstDash val="solid"/>
          </a:ln>
        </p:spPr>
      </p:sp>
      <p:sp>
        <p:nvSpPr>
          <p:cNvPr id="15" name="Text 13"/>
          <p:cNvSpPr/>
          <p:nvPr/>
        </p:nvSpPr>
        <p:spPr>
          <a:xfrm>
            <a:off x="3813048" y="2980944"/>
            <a:ext cx="169164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Alert</a:t>
            </a:r>
            <a:endParaRPr lang="en-US" sz="1350" dirty="0"/>
          </a:p>
        </p:txBody>
      </p:sp>
      <p:sp>
        <p:nvSpPr>
          <p:cNvPr id="16" name="Text 14"/>
          <p:cNvSpPr/>
          <p:nvPr/>
        </p:nvSpPr>
        <p:spPr>
          <a:xfrm>
            <a:off x="3813048" y="3218688"/>
            <a:ext cx="169164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Email, SMS, in-app notifications, and audit records coordinate the response.</a:t>
            </a:r>
            <a:endParaRPr lang="en-US" sz="880" dirty="0"/>
          </a:p>
        </p:txBody>
      </p:sp>
      <p:sp>
        <p:nvSpPr>
          <p:cNvPr id="17" name="Shape 15"/>
          <p:cNvSpPr/>
          <p:nvPr/>
        </p:nvSpPr>
        <p:spPr>
          <a:xfrm>
            <a:off x="6345936" y="2761488"/>
            <a:ext cx="1965960"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18" name="Shape 16"/>
          <p:cNvSpPr/>
          <p:nvPr/>
        </p:nvSpPr>
        <p:spPr>
          <a:xfrm>
            <a:off x="6345936" y="2761488"/>
            <a:ext cx="1965960" cy="164592"/>
          </a:xfrm>
          <a:prstGeom prst="rect">
            <a:avLst/>
          </a:prstGeom>
          <a:solidFill>
            <a:srgbClr val="F59E0B"/>
          </a:solidFill>
          <a:ln w="12700">
            <a:solidFill>
              <a:srgbClr val="F59E0B">
                <a:alpha val="0"/>
              </a:srgbClr>
            </a:solidFill>
            <a:prstDash val="solid"/>
          </a:ln>
        </p:spPr>
      </p:sp>
      <p:sp>
        <p:nvSpPr>
          <p:cNvPr id="19" name="Text 17"/>
          <p:cNvSpPr/>
          <p:nvPr/>
        </p:nvSpPr>
        <p:spPr>
          <a:xfrm>
            <a:off x="6483096" y="2980944"/>
            <a:ext cx="1691640"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Report</a:t>
            </a:r>
            <a:endParaRPr lang="en-US" sz="1350" dirty="0"/>
          </a:p>
        </p:txBody>
      </p:sp>
      <p:sp>
        <p:nvSpPr>
          <p:cNvPr id="20" name="Text 18"/>
          <p:cNvSpPr/>
          <p:nvPr/>
        </p:nvSpPr>
        <p:spPr>
          <a:xfrm>
            <a:off x="6483096" y="3218688"/>
            <a:ext cx="1691640"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Down/restored events, duration tracking, and PDF or CSV exports support analysis.</a:t>
            </a:r>
            <a:endParaRPr lang="en-US" sz="880" dirty="0"/>
          </a:p>
        </p:txBody>
      </p:sp>
      <p:sp>
        <p:nvSpPr>
          <p:cNvPr id="21" name="Shape 19"/>
          <p:cNvSpPr/>
          <p:nvPr/>
        </p:nvSpPr>
        <p:spPr>
          <a:xfrm>
            <a:off x="3090672" y="3072384"/>
            <a:ext cx="365760" cy="310896"/>
          </a:xfrm>
          <a:prstGeom prst="chevron">
            <a:avLst/>
          </a:prstGeom>
          <a:solidFill>
            <a:srgbClr val="C8D8F0"/>
          </a:solidFill>
          <a:ln w="12700">
            <a:solidFill>
              <a:srgbClr val="C8D8F0">
                <a:alpha val="0"/>
              </a:srgbClr>
            </a:solidFill>
            <a:prstDash val="solid"/>
          </a:ln>
        </p:spPr>
      </p:sp>
      <p:sp>
        <p:nvSpPr>
          <p:cNvPr id="22" name="Shape 20"/>
          <p:cNvSpPr/>
          <p:nvPr/>
        </p:nvSpPr>
        <p:spPr>
          <a:xfrm>
            <a:off x="5760720" y="3072384"/>
            <a:ext cx="365760" cy="310896"/>
          </a:xfrm>
          <a:prstGeom prst="chevron">
            <a:avLst/>
          </a:prstGeom>
          <a:solidFill>
            <a:srgbClr val="C8D8F0"/>
          </a:solidFill>
          <a:ln w="12700">
            <a:solidFill>
              <a:srgbClr val="C8D8F0">
                <a:alpha val="0"/>
              </a:srgbClr>
            </a:solidFill>
            <a:prstDash val="solid"/>
          </a:ln>
        </p:spPr>
      </p:sp>
      <p:sp>
        <p:nvSpPr>
          <p:cNvPr id="23" name="Shape 21"/>
          <p:cNvSpPr/>
          <p:nvPr/>
        </p:nvSpPr>
        <p:spPr>
          <a:xfrm>
            <a:off x="8961120" y="1481328"/>
            <a:ext cx="2423160" cy="1965960"/>
          </a:xfrm>
          <a:prstGeom prst="roundRect">
            <a:avLst>
              <a:gd name="adj" fmla="val 5581"/>
            </a:avLst>
          </a:prstGeom>
          <a:solidFill>
            <a:srgbClr val="EEF6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4" name="Text 22"/>
          <p:cNvSpPr/>
          <p:nvPr/>
        </p:nvSpPr>
        <p:spPr>
          <a:xfrm>
            <a:off x="9198864" y="1755648"/>
            <a:ext cx="1463040" cy="182880"/>
          </a:xfrm>
          <a:prstGeom prst="rect">
            <a:avLst/>
          </a:prstGeom>
          <a:noFill/>
          <a:ln/>
        </p:spPr>
        <p:txBody>
          <a:bodyPr wrap="square" lIns="0" tIns="0" rIns="0" bIns="0" rtlCol="0" anchor="ctr"/>
          <a:lstStyle/>
          <a:p>
            <a:pPr indent="0" marL="0">
              <a:buNone/>
            </a:pPr>
            <a:r>
              <a:rPr lang="en-US" sz="880" b="1" dirty="0">
                <a:solidFill>
                  <a:srgbClr val="1E40AF"/>
                </a:solidFill>
                <a:latin typeface="Liberation Mono" pitchFamily="34" charset="0"/>
                <a:ea typeface="Liberation Mono" pitchFamily="34" charset="-122"/>
                <a:cs typeface="Liberation Mono" pitchFamily="34" charset="-120"/>
              </a:rPr>
              <a:t>Key proof point</a:t>
            </a:r>
            <a:endParaRPr lang="en-US" sz="880" dirty="0"/>
          </a:p>
        </p:txBody>
      </p:sp>
      <p:sp>
        <p:nvSpPr>
          <p:cNvPr id="25" name="Text 23"/>
          <p:cNvSpPr/>
          <p:nvPr/>
        </p:nvSpPr>
        <p:spPr>
          <a:xfrm>
            <a:off x="9162288" y="2066544"/>
            <a:ext cx="1554480" cy="868680"/>
          </a:xfrm>
          <a:prstGeom prst="rect">
            <a:avLst/>
          </a:prstGeom>
          <a:noFill/>
          <a:ln/>
        </p:spPr>
        <p:txBody>
          <a:bodyPr wrap="square" lIns="0" tIns="0" rIns="0" bIns="0" rtlCol="0" anchor="ctr"/>
          <a:lstStyle/>
          <a:p>
            <a:pPr algn="ctr" indent="0" marL="0">
              <a:buNone/>
            </a:pPr>
            <a:r>
              <a:rPr lang="en-US" sz="2200" b="1" dirty="0">
                <a:solidFill>
                  <a:srgbClr val="13233F"/>
                </a:solidFill>
                <a:latin typeface="Liberation Sans" pitchFamily="34" charset="0"/>
                <a:ea typeface="Liberation Sans" pitchFamily="34" charset="-122"/>
                <a:cs typeface="Liberation Sans" pitchFamily="34" charset="-120"/>
              </a:rPr>
              <a:t>5-minute</a:t>
            </a:r>
            <a:endParaRPr lang="en-US" sz="2200" dirty="0"/>
          </a:p>
          <a:p>
            <a:pPr algn="ctr" indent="0" marL="0">
              <a:buNone/>
            </a:pPr>
            <a:r>
              <a:rPr lang="en-US" sz="2200" b="1" dirty="0">
                <a:solidFill>
                  <a:srgbClr val="13233F"/>
                </a:solidFill>
                <a:latin typeface="Liberation Sans" pitchFamily="34" charset="0"/>
                <a:ea typeface="Liberation Sans" pitchFamily="34" charset="-122"/>
                <a:cs typeface="Liberation Sans" pitchFamily="34" charset="-120"/>
              </a:rPr>
              <a:t>heartbeat</a:t>
            </a:r>
            <a:endParaRPr lang="en-US" sz="2200" dirty="0"/>
          </a:p>
          <a:p>
            <a:pPr algn="ctr" indent="0" marL="0">
              <a:buNone/>
            </a:pPr>
            <a:r>
              <a:rPr lang="en-US" sz="2200" b="1" dirty="0">
                <a:solidFill>
                  <a:srgbClr val="13233F"/>
                </a:solidFill>
                <a:latin typeface="Liberation Sans" pitchFamily="34" charset="0"/>
                <a:ea typeface="Liberation Sans" pitchFamily="34" charset="-122"/>
                <a:cs typeface="Liberation Sans" pitchFamily="34" charset="-120"/>
              </a:rPr>
              <a:t>validation</a:t>
            </a:r>
            <a:endParaRPr lang="en-US" sz="2200" dirty="0"/>
          </a:p>
        </p:txBody>
      </p:sp>
      <p:sp>
        <p:nvSpPr>
          <p:cNvPr id="26" name="Shape 24"/>
          <p:cNvSpPr/>
          <p:nvPr/>
        </p:nvSpPr>
        <p:spPr>
          <a:xfrm>
            <a:off x="8961120" y="3703320"/>
            <a:ext cx="2423160" cy="2057400"/>
          </a:xfrm>
          <a:prstGeom prst="roundRect">
            <a:avLst>
              <a:gd name="adj" fmla="val 5333"/>
            </a:avLst>
          </a:prstGeom>
          <a:solidFill>
            <a:srgbClr val="FFF8EB"/>
          </a:solidFill>
          <a:ln w="12700">
            <a:solidFill>
              <a:srgbClr val="F5D39A"/>
            </a:solidFill>
            <a:prstDash val="solid"/>
          </a:ln>
          <a:effectLst>
            <a:outerShdw sx="100000" sy="100000" kx="0" ky="0" algn="bl" rotWithShape="0" blurRad="25400" dist="12700" dir="2700000">
              <a:srgbClr val="7C93B8">
                <a:alpha val="18000"/>
              </a:srgbClr>
            </a:outerShdw>
          </a:effectLst>
        </p:spPr>
      </p:sp>
      <p:sp>
        <p:nvSpPr>
          <p:cNvPr id="27" name="Text 25"/>
          <p:cNvSpPr/>
          <p:nvPr/>
        </p:nvSpPr>
        <p:spPr>
          <a:xfrm>
            <a:off x="9198864" y="3968496"/>
            <a:ext cx="1371600" cy="182880"/>
          </a:xfrm>
          <a:prstGeom prst="rect">
            <a:avLst/>
          </a:prstGeom>
          <a:noFill/>
          <a:ln/>
        </p:spPr>
        <p:txBody>
          <a:bodyPr wrap="square" lIns="0" tIns="0" rIns="0" bIns="0" rtlCol="0" anchor="ctr"/>
          <a:lstStyle/>
          <a:p>
            <a:pPr indent="0" marL="0">
              <a:buNone/>
            </a:pPr>
            <a:r>
              <a:rPr lang="en-US" sz="880" b="1" dirty="0">
                <a:solidFill>
                  <a:srgbClr val="F59E0B"/>
                </a:solidFill>
                <a:latin typeface="Liberation Mono" pitchFamily="34" charset="0"/>
                <a:ea typeface="Liberation Mono" pitchFamily="34" charset="-122"/>
                <a:cs typeface="Liberation Mono" pitchFamily="34" charset="-120"/>
              </a:rPr>
              <a:t>Business effect</a:t>
            </a:r>
            <a:endParaRPr lang="en-US" sz="880" dirty="0"/>
          </a:p>
        </p:txBody>
      </p:sp>
      <p:sp>
        <p:nvSpPr>
          <p:cNvPr id="28" name="Text 26"/>
          <p:cNvSpPr/>
          <p:nvPr/>
        </p:nvSpPr>
        <p:spPr>
          <a:xfrm>
            <a:off x="9171432" y="4297680"/>
            <a:ext cx="1783080" cy="914400"/>
          </a:xfrm>
          <a:prstGeom prst="rect">
            <a:avLst/>
          </a:prstGeom>
          <a:noFill/>
          <a:ln/>
        </p:spPr>
        <p:txBody>
          <a:bodyPr wrap="square" lIns="0" tIns="0" rIns="0" bIns="0" rtlCol="0" anchor="ctr"/>
          <a:lstStyle/>
          <a:p>
            <a:pPr indent="0" marL="0">
              <a:buNone/>
            </a:pPr>
            <a:r>
              <a:rPr lang="en-US" sz="1020" dirty="0">
                <a:solidFill>
                  <a:srgbClr val="13233F"/>
                </a:solidFill>
                <a:latin typeface="Liberation Sans" pitchFamily="34" charset="0"/>
                <a:ea typeface="Liberation Sans" pitchFamily="34" charset="-122"/>
                <a:cs typeface="Liberation Sans" pitchFamily="34" charset="-120"/>
              </a:rPr>
              <a:t>Faster outage detection</a:t>
            </a:r>
            <a:endParaRPr lang="en-US" sz="1020" dirty="0"/>
          </a:p>
          <a:p>
            <a:pPr indent="0" marL="0">
              <a:buNone/>
            </a:pPr>
            <a:r>
              <a:rPr lang="en-US" sz="1020" dirty="0">
                <a:solidFill>
                  <a:srgbClr val="13233F"/>
                </a:solidFill>
                <a:latin typeface="Liberation Sans" pitchFamily="34" charset="0"/>
                <a:ea typeface="Liberation Sans" pitchFamily="34" charset="-122"/>
                <a:cs typeface="Liberation Sans" pitchFamily="34" charset="-120"/>
              </a:rPr>
              <a:t>Better incident coordination</a:t>
            </a:r>
            <a:endParaRPr lang="en-US" sz="1020" dirty="0"/>
          </a:p>
          <a:p>
            <a:pPr indent="0" marL="0">
              <a:buNone/>
            </a:pPr>
            <a:r>
              <a:rPr lang="en-US" sz="1020" dirty="0">
                <a:solidFill>
                  <a:srgbClr val="13233F"/>
                </a:solidFill>
                <a:latin typeface="Liberation Sans" pitchFamily="34" charset="0"/>
                <a:ea typeface="Liberation Sans" pitchFamily="34" charset="-122"/>
                <a:cs typeface="Liberation Sans" pitchFamily="34" charset="-120"/>
              </a:rPr>
              <a:t>Stronger service accountability</a:t>
            </a:r>
            <a:endParaRPr lang="en-US" sz="1020" dirty="0"/>
          </a:p>
        </p:txBody>
      </p:sp>
      <p:sp>
        <p:nvSpPr>
          <p:cNvPr id="29" name="Shape 27"/>
          <p:cNvSpPr/>
          <p:nvPr/>
        </p:nvSpPr>
        <p:spPr>
          <a:xfrm>
            <a:off x="548640" y="6446520"/>
            <a:ext cx="11064240" cy="0"/>
          </a:xfrm>
          <a:prstGeom prst="line">
            <a:avLst/>
          </a:prstGeom>
          <a:noFill/>
          <a:ln w="12700">
            <a:solidFill>
              <a:srgbClr val="C8D8F0"/>
            </a:solidFill>
            <a:prstDash val="solid"/>
          </a:ln>
        </p:spPr>
      </p:sp>
      <p:sp>
        <p:nvSpPr>
          <p:cNvPr id="30" name="Text 28"/>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1" name="Text 29"/>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6</a:t>
            </a:r>
            <a:endParaRPr lang="en-US" sz="850" dirty="0"/>
          </a:p>
        </p:txBody>
      </p:sp>
      <p:sp>
        <p:nvSpPr>
          <p:cNvPr id="34"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35"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6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7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8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9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7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81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set>
                                <p:cBhvr>
                                  <p:cTn id="124" dur="1" fill="hold">
                                    <p:stCondLst>
                                      <p:cond delay="0"/>
                                    </p:stCondLst>
                                  </p:cTn>
                                  <p:tgtEl>
                                    <p:spTgt spid="10"/>
                                  </p:tgtEl>
                                  <p:attrNameLst>
                                    <p:attrName>style.visibility</p:attrName>
                                  </p:attrNameLst>
                                </p:cBhvr>
                                <p:to>
                                  <p:strVal val="visible"/>
                                </p:to>
                              </p:set>
                              <p:anim calcmode="lin" valueType="num">
                                <p:cBhvr>
                                  <p:cTn id="125" dur="500"/>
                                  <p:tgtEl>
                                    <p:spTgt spid="10"/>
                                  </p:tgtEl>
                                  <p:attrNameLst>
                                    <p:attrName>style.opacity</p:attrName>
                                  </p:attrNameLst>
                                </p:cBhvr>
                                <p:tavLst>
                                  <p:tav tm="0">
                                    <p:val>
                                      <p:fltVal val="0"/>
                                    </p:val>
                                  </p:tav>
                                  <p:tav tm="100000">
                                    <p:val>
                                      <p:fltVal val="1"/>
                                    </p:val>
                                  </p:tav>
                                </p:tavLst>
                              </p:anim>
                              <p:set>
                                <p:cBhvr>
                                  <p:cTn id="126" dur="1" fill="hold">
                                    <p:stCondLst>
                                      <p:cond delay="0"/>
                                    </p:stCondLst>
                                  </p:cTn>
                                  <p:tgtEl>
                                    <p:spTgt spid="11"/>
                                  </p:tgtEl>
                                  <p:attrNameLst>
                                    <p:attrName>style.visibility</p:attrName>
                                  </p:attrNameLst>
                                </p:cBhvr>
                                <p:to>
                                  <p:strVal val="visible"/>
                                </p:to>
                              </p:set>
                              <p:anim calcmode="lin" valueType="num">
                                <p:cBhvr>
                                  <p:cTn id="127" dur="500"/>
                                  <p:tgtEl>
                                    <p:spTgt spid="11"/>
                                  </p:tgtEl>
                                  <p:attrNameLst>
                                    <p:attrName>style.opacity</p:attrName>
                                  </p:attrNameLst>
                                </p:cBhvr>
                                <p:tavLst>
                                  <p:tav tm="0">
                                    <p:val>
                                      <p:fltVal val="0"/>
                                    </p:val>
                                  </p:tav>
                                  <p:tav tm="100000">
                                    <p:val>
                                      <p:fltVal val="1"/>
                                    </p:val>
                                  </p:tav>
                                </p:tavLst>
                              </p:anim>
                              <p:set>
                                <p:cBhvr>
                                  <p:cTn id="128" dur="1" fill="hold">
                                    <p:stCondLst>
                                      <p:cond delay="0"/>
                                    </p:stCondLst>
                                  </p:cTn>
                                  <p:tgtEl>
                                    <p:spTgt spid="12"/>
                                  </p:tgtEl>
                                  <p:attrNameLst>
                                    <p:attrName>style.visibility</p:attrName>
                                  </p:attrNameLst>
                                </p:cBhvr>
                                <p:to>
                                  <p:strVal val="visible"/>
                                </p:to>
                              </p:set>
                              <p:anim calcmode="lin" valueType="num">
                                <p:cBhvr>
                                  <p:cTn id="129" dur="500"/>
                                  <p:tgtEl>
                                    <p:spTgt spid="12"/>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920"/>
                            </p:stCondLst>
                            <p:childTnLst>
                              <p:set>
                                <p:cBhvr>
                                  <p:cTn id="131" dur="1" fill="hold">
                                    <p:stCondLst>
                                      <p:cond delay="0"/>
                                    </p:stCondLst>
                                  </p:cTn>
                                  <p:tgtEl>
                                    <p:spTgt spid="13"/>
                                  </p:tgtEl>
                                  <p:attrNameLst>
                                    <p:attrName>style.visibility</p:attrName>
                                  </p:attrNameLst>
                                </p:cBhvr>
                                <p:to>
                                  <p:strVal val="visible"/>
                                </p:to>
                              </p:set>
                              <p:anim calcmode="lin" valueType="num">
                                <p:cBhvr>
                                  <p:cTn id="132" dur="500"/>
                                  <p:tgtEl>
                                    <p:spTgt spid="13"/>
                                  </p:tgtEl>
                                  <p:attrNameLst>
                                    <p:attrName>style.opacity</p:attrName>
                                  </p:attrNameLst>
                                </p:cBhvr>
                                <p:tavLst>
                                  <p:tav tm="0">
                                    <p:val>
                                      <p:fltVal val="0"/>
                                    </p:val>
                                  </p:tav>
                                  <p:tav tm="100000">
                                    <p:val>
                                      <p:fltVal val="1"/>
                                    </p:val>
                                  </p:tav>
                                </p:tavLst>
                              </p:anim>
                              <p:set>
                                <p:cBhvr>
                                  <p:cTn id="133" dur="1" fill="hold">
                                    <p:stCondLst>
                                      <p:cond delay="0"/>
                                    </p:stCondLst>
                                  </p:cTn>
                                  <p:tgtEl>
                                    <p:spTgt spid="14"/>
                                  </p:tgtEl>
                                  <p:attrNameLst>
                                    <p:attrName>style.visibility</p:attrName>
                                  </p:attrNameLst>
                                </p:cBhvr>
                                <p:to>
                                  <p:strVal val="visible"/>
                                </p:to>
                              </p:set>
                              <p:anim calcmode="lin" valueType="num">
                                <p:cBhvr>
                                  <p:cTn id="134" dur="500"/>
                                  <p:tgtEl>
                                    <p:spTgt spid="14"/>
                                  </p:tgtEl>
                                  <p:attrNameLst>
                                    <p:attrName>style.opacity</p:attrName>
                                  </p:attrNameLst>
                                </p:cBhvr>
                                <p:tavLst>
                                  <p:tav tm="0">
                                    <p:val>
                                      <p:fltVal val="0"/>
                                    </p:val>
                                  </p:tav>
                                  <p:tav tm="100000">
                                    <p:val>
                                      <p:fltVal val="1"/>
                                    </p:val>
                                  </p:tav>
                                </p:tavLst>
                              </p:anim>
                              <p:set>
                                <p:cBhvr>
                                  <p:cTn id="135" dur="1" fill="hold">
                                    <p:stCondLst>
                                      <p:cond delay="0"/>
                                    </p:stCondLst>
                                  </p:cTn>
                                  <p:tgtEl>
                                    <p:spTgt spid="15"/>
                                  </p:tgtEl>
                                  <p:attrNameLst>
                                    <p:attrName>style.visibility</p:attrName>
                                  </p:attrNameLst>
                                </p:cBhvr>
                                <p:to>
                                  <p:strVal val="visible"/>
                                </p:to>
                              </p:set>
                              <p:anim calcmode="lin" valueType="num">
                                <p:cBhvr>
                                  <p:cTn id="136" dur="500"/>
                                  <p:tgtEl>
                                    <p:spTgt spid="15"/>
                                  </p:tgtEl>
                                  <p:attrNameLst>
                                    <p:attrName>style.opacity</p:attrName>
                                  </p:attrNameLst>
                                </p:cBhvr>
                                <p:tavLst>
                                  <p:tav tm="0">
                                    <p:val>
                                      <p:fltVal val="0"/>
                                    </p:val>
                                  </p:tav>
                                  <p:tav tm="100000">
                                    <p:val>
                                      <p:fltVal val="1"/>
                                    </p:val>
                                  </p:tav>
                                </p:tavLst>
                              </p:anim>
                              <p:set>
                                <p:cBhvr>
                                  <p:cTn id="137" dur="1" fill="hold">
                                    <p:stCondLst>
                                      <p:cond delay="0"/>
                                    </p:stCondLst>
                                  </p:cTn>
                                  <p:tgtEl>
                                    <p:spTgt spid="16"/>
                                  </p:tgtEl>
                                  <p:attrNameLst>
                                    <p:attrName>style.visibility</p:attrName>
                                  </p:attrNameLst>
                                </p:cBhvr>
                                <p:to>
                                  <p:strVal val="visible"/>
                                </p:to>
                              </p:set>
                              <p:anim calcmode="lin" valueType="num">
                                <p:cBhvr>
                                  <p:cTn id="138" dur="500"/>
                                  <p:tgtEl>
                                    <p:spTgt spid="16"/>
                                  </p:tgtEl>
                                  <p:attrNameLst>
                                    <p:attrName>style.opacity</p:attrName>
                                  </p:attrNameLst>
                                </p:cBhvr>
                                <p:tavLst>
                                  <p:tav tm="0">
                                    <p:val>
                                      <p:fltVal val="0"/>
                                    </p:val>
                                  </p:tav>
                                  <p:tav tm="100000">
                                    <p:val>
                                      <p:fltVal val="1"/>
                                    </p:val>
                                  </p:tav>
                                </p:tavLst>
                              </p:anim>
                            </p:childTnLst>
                          </p:cTn>
                        </p:par>
                        <p:par>
                          <p:cTn id="139" presetID="10" presetClass="entr" presetSubtype="0" fill="hold" grpId="0" nodeType="afterEffect">
                            <p:stCondLst>
                              <p:cond delay="1030"/>
                            </p:stCondLst>
                            <p:childTnLst>
                              <p:set>
                                <p:cBhvr>
                                  <p:cTn id="140" dur="1" fill="hold">
                                    <p:stCondLst>
                                      <p:cond delay="0"/>
                                    </p:stCondLst>
                                  </p:cTn>
                                  <p:tgtEl>
                                    <p:spTgt spid="17"/>
                                  </p:tgtEl>
                                  <p:attrNameLst>
                                    <p:attrName>style.visibility</p:attrName>
                                  </p:attrNameLst>
                                </p:cBhvr>
                                <p:to>
                                  <p:strVal val="visible"/>
                                </p:to>
                              </p:set>
                              <p:anim calcmode="lin" valueType="num">
                                <p:cBhvr>
                                  <p:cTn id="141" dur="500"/>
                                  <p:tgtEl>
                                    <p:spTgt spid="17"/>
                                  </p:tgtEl>
                                  <p:attrNameLst>
                                    <p:attrName>style.opacity</p:attrName>
                                  </p:attrNameLst>
                                </p:cBhvr>
                                <p:tavLst>
                                  <p:tav tm="0">
                                    <p:val>
                                      <p:fltVal val="0"/>
                                    </p:val>
                                  </p:tav>
                                  <p:tav tm="100000">
                                    <p:val>
                                      <p:fltVal val="1"/>
                                    </p:val>
                                  </p:tav>
                                </p:tavLst>
                              </p:anim>
                              <p:set>
                                <p:cBhvr>
                                  <p:cTn id="142" dur="1" fill="hold">
                                    <p:stCondLst>
                                      <p:cond delay="0"/>
                                    </p:stCondLst>
                                  </p:cTn>
                                  <p:tgtEl>
                                    <p:spTgt spid="18"/>
                                  </p:tgtEl>
                                  <p:attrNameLst>
                                    <p:attrName>style.visibility</p:attrName>
                                  </p:attrNameLst>
                                </p:cBhvr>
                                <p:to>
                                  <p:strVal val="visible"/>
                                </p:to>
                              </p:set>
                              <p:anim calcmode="lin" valueType="num">
                                <p:cBhvr>
                                  <p:cTn id="143" dur="500"/>
                                  <p:tgtEl>
                                    <p:spTgt spid="18"/>
                                  </p:tgtEl>
                                  <p:attrNameLst>
                                    <p:attrName>style.opacity</p:attrName>
                                  </p:attrNameLst>
                                </p:cBhvr>
                                <p:tavLst>
                                  <p:tav tm="0">
                                    <p:val>
                                      <p:fltVal val="0"/>
                                    </p:val>
                                  </p:tav>
                                  <p:tav tm="100000">
                                    <p:val>
                                      <p:fltVal val="1"/>
                                    </p:val>
                                  </p:tav>
                                </p:tavLst>
                              </p:anim>
                              <p:set>
                                <p:cBhvr>
                                  <p:cTn id="144" dur="1" fill="hold">
                                    <p:stCondLst>
                                      <p:cond delay="0"/>
                                    </p:stCondLst>
                                  </p:cTn>
                                  <p:tgtEl>
                                    <p:spTgt spid="19"/>
                                  </p:tgtEl>
                                  <p:attrNameLst>
                                    <p:attrName>style.visibility</p:attrName>
                                  </p:attrNameLst>
                                </p:cBhvr>
                                <p:to>
                                  <p:strVal val="visible"/>
                                </p:to>
                              </p:set>
                              <p:anim calcmode="lin" valueType="num">
                                <p:cBhvr>
                                  <p:cTn id="145" dur="500"/>
                                  <p:tgtEl>
                                    <p:spTgt spid="19"/>
                                  </p:tgtEl>
                                  <p:attrNameLst>
                                    <p:attrName>style.opacity</p:attrName>
                                  </p:attrNameLst>
                                </p:cBhvr>
                                <p:tavLst>
                                  <p:tav tm="0">
                                    <p:val>
                                      <p:fltVal val="0"/>
                                    </p:val>
                                  </p:tav>
                                  <p:tav tm="100000">
                                    <p:val>
                                      <p:fltVal val="1"/>
                                    </p:val>
                                  </p:tav>
                                </p:tavLst>
                              </p:anim>
                              <p:set>
                                <p:cBhvr>
                                  <p:cTn id="146" dur="1" fill="hold">
                                    <p:stCondLst>
                                      <p:cond delay="0"/>
                                    </p:stCondLst>
                                  </p:cTn>
                                  <p:tgtEl>
                                    <p:spTgt spid="20"/>
                                  </p:tgtEl>
                                  <p:attrNameLst>
                                    <p:attrName>style.visibility</p:attrName>
                                  </p:attrNameLst>
                                </p:cBhvr>
                                <p:to>
                                  <p:strVal val="visible"/>
                                </p:to>
                              </p:set>
                              <p:anim calcmode="lin" valueType="num">
                                <p:cBhvr>
                                  <p:cTn id="147" dur="500"/>
                                  <p:tgtEl>
                                    <p:spTgt spid="20"/>
                                  </p:tgtEl>
                                  <p:attrNameLst>
                                    <p:attrName>style.opacity</p:attrName>
                                  </p:attrNameLst>
                                </p:cBhvr>
                                <p:tavLst>
                                  <p:tav tm="0">
                                    <p:val>
                                      <p:fltVal val="0"/>
                                    </p:val>
                                  </p:tav>
                                  <p:tav tm="100000">
                                    <p:val>
                                      <p:fltVal val="1"/>
                                    </p:val>
                                  </p:tav>
                                </p:tavLst>
                              </p:anim>
                            </p:childTnLst>
                          </p:cTn>
                        </p:par>
                        <p:par>
                          <p:cTn id="148" presetID="10" presetClass="entr" presetSubtype="0" fill="hold" grpId="0" nodeType="afterEffect">
                            <p:stCondLst>
                              <p:cond delay="1140"/>
                            </p:stCondLst>
                            <p:childTnLst>
                              <p:set>
                                <p:cBhvr>
                                  <p:cTn id="149" dur="1" fill="hold">
                                    <p:stCondLst>
                                      <p:cond delay="0"/>
                                    </p:stCondLst>
                                  </p:cTn>
                                  <p:tgtEl>
                                    <p:spTgt spid="21"/>
                                  </p:tgtEl>
                                  <p:attrNameLst>
                                    <p:attrName>style.visibility</p:attrName>
                                  </p:attrNameLst>
                                </p:cBhvr>
                                <p:to>
                                  <p:strVal val="visible"/>
                                </p:to>
                              </p:set>
                              <p:anim calcmode="lin" valueType="num">
                                <p:cBhvr>
                                  <p:cTn id="150" dur="500"/>
                                  <p:tgtEl>
                                    <p:spTgt spid="21"/>
                                  </p:tgtEl>
                                  <p:attrNameLst>
                                    <p:attrName>style.opacity</p:attrName>
                                  </p:attrNameLst>
                                </p:cBhvr>
                                <p:tavLst>
                                  <p:tav tm="0">
                                    <p:val>
                                      <p:fltVal val="0"/>
                                    </p:val>
                                  </p:tav>
                                  <p:tav tm="100000">
                                    <p:val>
                                      <p:fltVal val="1"/>
                                    </p:val>
                                  </p:tav>
                                </p:tavLst>
                              </p:anim>
                            </p:childTnLst>
                          </p:cTn>
                        </p:par>
                        <p:par>
                          <p:cTn id="151" presetID="10" presetClass="entr" presetSubtype="0" fill="hold" grpId="0" nodeType="afterEffect">
                            <p:stCondLst>
                              <p:cond delay="1250"/>
                            </p:stCondLst>
                            <p:childTnLst>
                              <p:set>
                                <p:cBhvr>
                                  <p:cTn id="152" dur="1" fill="hold">
                                    <p:stCondLst>
                                      <p:cond delay="0"/>
                                    </p:stCondLst>
                                  </p:cTn>
                                  <p:tgtEl>
                                    <p:spTgt spid="22"/>
                                  </p:tgtEl>
                                  <p:attrNameLst>
                                    <p:attrName>style.visibility</p:attrName>
                                  </p:attrNameLst>
                                </p:cBhvr>
                                <p:to>
                                  <p:strVal val="visible"/>
                                </p:to>
                              </p:set>
                              <p:anim calcmode="lin" valueType="num">
                                <p:cBhvr>
                                  <p:cTn id="153" dur="500"/>
                                  <p:tgtEl>
                                    <p:spTgt spid="22"/>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36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p:tgtEl>
                                    <p:spTgt spid="23"/>
                                  </p:tgtEl>
                                  <p:attrNameLst>
                                    <p:attrName>style.opacity</p:attrName>
                                  </p:attrNameLst>
                                </p:cBhvr>
                                <p:tavLst>
                                  <p:tav tm="0">
                                    <p:val>
                                      <p:fltVal val="0"/>
                                    </p:val>
                                  </p:tav>
                                  <p:tav tm="100000">
                                    <p:val>
                                      <p:fltVal val="1"/>
                                    </p:val>
                                  </p:tav>
                                </p:tavLst>
                              </p:anim>
                              <p:set>
                                <p:cBhvr>
                                  <p:cTn id="157" dur="1" fill="hold">
                                    <p:stCondLst>
                                      <p:cond delay="0"/>
                                    </p:stCondLst>
                                  </p:cTn>
                                  <p:tgtEl>
                                    <p:spTgt spid="24"/>
                                  </p:tgtEl>
                                  <p:attrNameLst>
                                    <p:attrName>style.visibility</p:attrName>
                                  </p:attrNameLst>
                                </p:cBhvr>
                                <p:to>
                                  <p:strVal val="visible"/>
                                </p:to>
                              </p:set>
                              <p:anim calcmode="lin" valueType="num">
                                <p:cBhvr>
                                  <p:cTn id="158" dur="500"/>
                                  <p:tgtEl>
                                    <p:spTgt spid="24"/>
                                  </p:tgtEl>
                                  <p:attrNameLst>
                                    <p:attrName>style.opacity</p:attrName>
                                  </p:attrNameLst>
                                </p:cBhvr>
                                <p:tavLst>
                                  <p:tav tm="0">
                                    <p:val>
                                      <p:fltVal val="0"/>
                                    </p:val>
                                  </p:tav>
                                  <p:tav tm="100000">
                                    <p:val>
                                      <p:fltVal val="1"/>
                                    </p:val>
                                  </p:tav>
                                </p:tavLst>
                              </p:anim>
                              <p:set>
                                <p:cBhvr>
                                  <p:cTn id="159" dur="1" fill="hold">
                                    <p:stCondLst>
                                      <p:cond delay="0"/>
                                    </p:stCondLst>
                                  </p:cTn>
                                  <p:tgtEl>
                                    <p:spTgt spid="25"/>
                                  </p:tgtEl>
                                  <p:attrNameLst>
                                    <p:attrName>style.visibility</p:attrName>
                                  </p:attrNameLst>
                                </p:cBhvr>
                                <p:to>
                                  <p:strVal val="visible"/>
                                </p:to>
                              </p:set>
                              <p:anim calcmode="lin" valueType="num">
                                <p:cBhvr>
                                  <p:cTn id="160" dur="500"/>
                                  <p:tgtEl>
                                    <p:spTgt spid="25"/>
                                  </p:tgtEl>
                                  <p:attrNameLst>
                                    <p:attrName>style.opacity</p:attrName>
                                  </p:attrNameLst>
                                </p:cBhvr>
                                <p:tavLst>
                                  <p:tav tm="0">
                                    <p:val>
                                      <p:fltVal val="0"/>
                                    </p:val>
                                  </p:tav>
                                  <p:tav tm="100000">
                                    <p:val>
                                      <p:fltVal val="1"/>
                                    </p:val>
                                  </p:tav>
                                </p:tavLst>
                              </p:anim>
                            </p:childTnLst>
                          </p:cTn>
                        </p:par>
                        <p:par>
                          <p:cTn id="161" presetID="10" presetClass="entr" presetSubtype="0" fill="hold" grpId="0" nodeType="afterEffect">
                            <p:stCondLst>
                              <p:cond delay="1470"/>
                            </p:stCondLst>
                            <p:childTnLst>
                              <p:set>
                                <p:cBhvr>
                                  <p:cTn id="162" dur="1" fill="hold">
                                    <p:stCondLst>
                                      <p:cond delay="0"/>
                                    </p:stCondLst>
                                  </p:cTn>
                                  <p:tgtEl>
                                    <p:spTgt spid="26"/>
                                  </p:tgtEl>
                                  <p:attrNameLst>
                                    <p:attrName>style.visibility</p:attrName>
                                  </p:attrNameLst>
                                </p:cBhvr>
                                <p:to>
                                  <p:strVal val="visible"/>
                                </p:to>
                              </p:set>
                              <p:anim calcmode="lin" valueType="num">
                                <p:cBhvr>
                                  <p:cTn id="163" dur="500"/>
                                  <p:tgtEl>
                                    <p:spTgt spid="26"/>
                                  </p:tgtEl>
                                  <p:attrNameLst>
                                    <p:attrName>style.opacity</p:attrName>
                                  </p:attrNameLst>
                                </p:cBhvr>
                                <p:tavLst>
                                  <p:tav tm="0">
                                    <p:val>
                                      <p:fltVal val="0"/>
                                    </p:val>
                                  </p:tav>
                                  <p:tav tm="100000">
                                    <p:val>
                                      <p:fltVal val="1"/>
                                    </p:val>
                                  </p:tav>
                                </p:tavLst>
                              </p:anim>
                              <p:set>
                                <p:cBhvr>
                                  <p:cTn id="164" dur="1" fill="hold">
                                    <p:stCondLst>
                                      <p:cond delay="0"/>
                                    </p:stCondLst>
                                  </p:cTn>
                                  <p:tgtEl>
                                    <p:spTgt spid="27"/>
                                  </p:tgtEl>
                                  <p:attrNameLst>
                                    <p:attrName>style.visibility</p:attrName>
                                  </p:attrNameLst>
                                </p:cBhvr>
                                <p:to>
                                  <p:strVal val="visible"/>
                                </p:to>
                              </p:set>
                              <p:anim calcmode="lin" valueType="num">
                                <p:cBhvr>
                                  <p:cTn id="165" dur="500"/>
                                  <p:tgtEl>
                                    <p:spTgt spid="27"/>
                                  </p:tgtEl>
                                  <p:attrNameLst>
                                    <p:attrName>style.opacity</p:attrName>
                                  </p:attrNameLst>
                                </p:cBhvr>
                                <p:tavLst>
                                  <p:tav tm="0">
                                    <p:val>
                                      <p:fltVal val="0"/>
                                    </p:val>
                                  </p:tav>
                                  <p:tav tm="100000">
                                    <p:val>
                                      <p:fltVal val="1"/>
                                    </p:val>
                                  </p:tav>
                                </p:tavLst>
                              </p:anim>
                              <p:set>
                                <p:cBhvr>
                                  <p:cTn id="166" dur="1" fill="hold">
                                    <p:stCondLst>
                                      <p:cond delay="0"/>
                                    </p:stCondLst>
                                  </p:cTn>
                                  <p:tgtEl>
                                    <p:spTgt spid="28"/>
                                  </p:tgtEl>
                                  <p:attrNameLst>
                                    <p:attrName>style.visibility</p:attrName>
                                  </p:attrNameLst>
                                </p:cBhvr>
                                <p:to>
                                  <p:strVal val="visible"/>
                                </p:to>
                              </p:set>
                              <p:anim calcmode="lin" valueType="num">
                                <p:cBhvr>
                                  <p:cTn id="167" dur="500"/>
                                  <p:tgtEl>
                                    <p:spTgt spid="28"/>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Editorial Governance Has Been Formalized in the Newsroom</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The content workflow is now more controlled, transparent, and traceable from draft to publication.</a:t>
            </a:r>
            <a:endParaRPr lang="en-US" sz="1050" dirty="0"/>
          </a:p>
        </p:txBody>
      </p:sp>
      <p:sp>
        <p:nvSpPr>
          <p:cNvPr id="5" name="Shape 3"/>
          <p:cNvSpPr/>
          <p:nvPr/>
        </p:nvSpPr>
        <p:spPr>
          <a:xfrm>
            <a:off x="749808" y="1444752"/>
            <a:ext cx="10698480" cy="4352544"/>
          </a:xfrm>
          <a:prstGeom prst="roundRect">
            <a:avLst>
              <a:gd name="adj" fmla="val 2521"/>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60120" y="1645920"/>
            <a:ext cx="1572768"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9848" y="1696212"/>
            <a:ext cx="1353312"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EDITORIAL WORKFLOW</a:t>
            </a:r>
            <a:endParaRPr lang="en-US" sz="850" dirty="0"/>
          </a:p>
        </p:txBody>
      </p:sp>
      <p:sp>
        <p:nvSpPr>
          <p:cNvPr id="8" name="Text 6"/>
          <p:cNvSpPr/>
          <p:nvPr/>
        </p:nvSpPr>
        <p:spPr>
          <a:xfrm>
            <a:off x="960120" y="1993392"/>
            <a:ext cx="5943600" cy="256032"/>
          </a:xfrm>
          <a:prstGeom prst="rect">
            <a:avLst/>
          </a:prstGeom>
          <a:noFill/>
          <a:ln/>
        </p:spPr>
        <p:txBody>
          <a:bodyPr wrap="square" lIns="0" tIns="0" rIns="0" bIns="0" rtlCol="0" anchor="ctr"/>
          <a:lstStyle/>
          <a:p>
            <a:pPr indent="0" marL="0">
              <a:buNone/>
            </a:pPr>
            <a:r>
              <a:rPr lang="en-US" sz="1800" b="1" dirty="0">
                <a:solidFill>
                  <a:srgbClr val="13233F"/>
                </a:solidFill>
                <a:latin typeface="Liberation Sans" pitchFamily="34" charset="0"/>
                <a:ea typeface="Liberation Sans" pitchFamily="34" charset="-122"/>
                <a:cs typeface="Liberation Sans" pitchFamily="34" charset="-120"/>
              </a:rPr>
              <a:t>Professional publishing requires process discipline. The redesigned newsroom module adds exactly that.</a:t>
            </a:r>
            <a:endParaRPr lang="en-US" sz="1800" dirty="0"/>
          </a:p>
        </p:txBody>
      </p:sp>
      <p:sp>
        <p:nvSpPr>
          <p:cNvPr id="9" name="Shape 7"/>
          <p:cNvSpPr/>
          <p:nvPr/>
        </p:nvSpPr>
        <p:spPr>
          <a:xfrm>
            <a:off x="1005840" y="2788920"/>
            <a:ext cx="1536192"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0" name="Shape 8"/>
          <p:cNvSpPr/>
          <p:nvPr/>
        </p:nvSpPr>
        <p:spPr>
          <a:xfrm>
            <a:off x="1005840" y="2788920"/>
            <a:ext cx="1536192" cy="164592"/>
          </a:xfrm>
          <a:prstGeom prst="rect">
            <a:avLst/>
          </a:prstGeom>
          <a:solidFill>
            <a:srgbClr val="1E40AF"/>
          </a:solidFill>
          <a:ln w="12700">
            <a:solidFill>
              <a:srgbClr val="1E40AF">
                <a:alpha val="0"/>
              </a:srgbClr>
            </a:solidFill>
            <a:prstDash val="solid"/>
          </a:ln>
        </p:spPr>
      </p:sp>
      <p:sp>
        <p:nvSpPr>
          <p:cNvPr id="11" name="Text 9"/>
          <p:cNvSpPr/>
          <p:nvPr/>
        </p:nvSpPr>
        <p:spPr>
          <a:xfrm>
            <a:off x="1143000"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Draft</a:t>
            </a:r>
            <a:endParaRPr lang="en-US" sz="1350" dirty="0"/>
          </a:p>
        </p:txBody>
      </p:sp>
      <p:sp>
        <p:nvSpPr>
          <p:cNvPr id="12" name="Text 10"/>
          <p:cNvSpPr/>
          <p:nvPr/>
        </p:nvSpPr>
        <p:spPr>
          <a:xfrm>
            <a:off x="1143000"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Stories enter a structured queue.</a:t>
            </a:r>
            <a:endParaRPr lang="en-US" sz="880" dirty="0"/>
          </a:p>
        </p:txBody>
      </p:sp>
      <p:sp>
        <p:nvSpPr>
          <p:cNvPr id="13" name="Shape 11"/>
          <p:cNvSpPr/>
          <p:nvPr/>
        </p:nvSpPr>
        <p:spPr>
          <a:xfrm>
            <a:off x="2670048" y="3090672"/>
            <a:ext cx="201168" cy="256032"/>
          </a:xfrm>
          <a:prstGeom prst="chevron">
            <a:avLst/>
          </a:prstGeom>
          <a:solidFill>
            <a:srgbClr val="C8D8F0"/>
          </a:solidFill>
          <a:ln w="12700">
            <a:solidFill>
              <a:srgbClr val="C8D8F0">
                <a:alpha val="0"/>
              </a:srgbClr>
            </a:solidFill>
            <a:prstDash val="solid"/>
          </a:ln>
        </p:spPr>
      </p:sp>
      <p:sp>
        <p:nvSpPr>
          <p:cNvPr id="14" name="Shape 12"/>
          <p:cNvSpPr/>
          <p:nvPr/>
        </p:nvSpPr>
        <p:spPr>
          <a:xfrm>
            <a:off x="3035808" y="2788920"/>
            <a:ext cx="1536192"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5" name="Shape 13"/>
          <p:cNvSpPr/>
          <p:nvPr/>
        </p:nvSpPr>
        <p:spPr>
          <a:xfrm>
            <a:off x="3035808" y="2788920"/>
            <a:ext cx="1536192" cy="164592"/>
          </a:xfrm>
          <a:prstGeom prst="rect">
            <a:avLst/>
          </a:prstGeom>
          <a:solidFill>
            <a:srgbClr val="1E40AF"/>
          </a:solidFill>
          <a:ln w="12700">
            <a:solidFill>
              <a:srgbClr val="1E40AF">
                <a:alpha val="0"/>
              </a:srgbClr>
            </a:solidFill>
            <a:prstDash val="solid"/>
          </a:ln>
        </p:spPr>
      </p:sp>
      <p:sp>
        <p:nvSpPr>
          <p:cNvPr id="16" name="Text 14"/>
          <p:cNvSpPr/>
          <p:nvPr/>
        </p:nvSpPr>
        <p:spPr>
          <a:xfrm>
            <a:off x="3172968"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Review</a:t>
            </a:r>
            <a:endParaRPr lang="en-US" sz="1350" dirty="0"/>
          </a:p>
        </p:txBody>
      </p:sp>
      <p:sp>
        <p:nvSpPr>
          <p:cNvPr id="17" name="Text 15"/>
          <p:cNvSpPr/>
          <p:nvPr/>
        </p:nvSpPr>
        <p:spPr>
          <a:xfrm>
            <a:off x="3172968"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Editors apply multi-stage checks.</a:t>
            </a:r>
            <a:endParaRPr lang="en-US" sz="880" dirty="0"/>
          </a:p>
        </p:txBody>
      </p:sp>
      <p:sp>
        <p:nvSpPr>
          <p:cNvPr id="18" name="Shape 16"/>
          <p:cNvSpPr/>
          <p:nvPr/>
        </p:nvSpPr>
        <p:spPr>
          <a:xfrm>
            <a:off x="4700016" y="3090672"/>
            <a:ext cx="201168" cy="256032"/>
          </a:xfrm>
          <a:prstGeom prst="chevron">
            <a:avLst/>
          </a:prstGeom>
          <a:solidFill>
            <a:srgbClr val="C8D8F0"/>
          </a:solidFill>
          <a:ln w="12700">
            <a:solidFill>
              <a:srgbClr val="C8D8F0">
                <a:alpha val="0"/>
              </a:srgbClr>
            </a:solidFill>
            <a:prstDash val="solid"/>
          </a:ln>
        </p:spPr>
      </p:sp>
      <p:sp>
        <p:nvSpPr>
          <p:cNvPr id="19" name="Shape 17"/>
          <p:cNvSpPr/>
          <p:nvPr/>
        </p:nvSpPr>
        <p:spPr>
          <a:xfrm>
            <a:off x="5065776" y="2788920"/>
            <a:ext cx="1536192"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20" name="Shape 18"/>
          <p:cNvSpPr/>
          <p:nvPr/>
        </p:nvSpPr>
        <p:spPr>
          <a:xfrm>
            <a:off x="5065776" y="2788920"/>
            <a:ext cx="1536192" cy="164592"/>
          </a:xfrm>
          <a:prstGeom prst="rect">
            <a:avLst/>
          </a:prstGeom>
          <a:solidFill>
            <a:srgbClr val="3B82F6"/>
          </a:solidFill>
          <a:ln w="12700">
            <a:solidFill>
              <a:srgbClr val="3B82F6">
                <a:alpha val="0"/>
              </a:srgbClr>
            </a:solidFill>
            <a:prstDash val="solid"/>
          </a:ln>
        </p:spPr>
      </p:sp>
      <p:sp>
        <p:nvSpPr>
          <p:cNvPr id="21" name="Text 19"/>
          <p:cNvSpPr/>
          <p:nvPr/>
        </p:nvSpPr>
        <p:spPr>
          <a:xfrm>
            <a:off x="5202936"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Approve</a:t>
            </a:r>
            <a:endParaRPr lang="en-US" sz="1350" dirty="0"/>
          </a:p>
        </p:txBody>
      </p:sp>
      <p:sp>
        <p:nvSpPr>
          <p:cNvPr id="22" name="Text 20"/>
          <p:cNvSpPr/>
          <p:nvPr/>
        </p:nvSpPr>
        <p:spPr>
          <a:xfrm>
            <a:off x="5202936"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Formal approvals are captured.</a:t>
            </a:r>
            <a:endParaRPr lang="en-US" sz="880" dirty="0"/>
          </a:p>
        </p:txBody>
      </p:sp>
      <p:sp>
        <p:nvSpPr>
          <p:cNvPr id="23" name="Shape 21"/>
          <p:cNvSpPr/>
          <p:nvPr/>
        </p:nvSpPr>
        <p:spPr>
          <a:xfrm>
            <a:off x="6729984" y="3090672"/>
            <a:ext cx="201168" cy="256032"/>
          </a:xfrm>
          <a:prstGeom prst="chevron">
            <a:avLst/>
          </a:prstGeom>
          <a:solidFill>
            <a:srgbClr val="C8D8F0"/>
          </a:solidFill>
          <a:ln w="12700">
            <a:solidFill>
              <a:srgbClr val="C8D8F0">
                <a:alpha val="0"/>
              </a:srgbClr>
            </a:solidFill>
            <a:prstDash val="solid"/>
          </a:ln>
        </p:spPr>
      </p:sp>
      <p:sp>
        <p:nvSpPr>
          <p:cNvPr id="24" name="Shape 22"/>
          <p:cNvSpPr/>
          <p:nvPr/>
        </p:nvSpPr>
        <p:spPr>
          <a:xfrm>
            <a:off x="7095744" y="2788920"/>
            <a:ext cx="1536192"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25" name="Shape 23"/>
          <p:cNvSpPr/>
          <p:nvPr/>
        </p:nvSpPr>
        <p:spPr>
          <a:xfrm>
            <a:off x="7095744" y="2788920"/>
            <a:ext cx="1536192" cy="164592"/>
          </a:xfrm>
          <a:prstGeom prst="rect">
            <a:avLst/>
          </a:prstGeom>
          <a:solidFill>
            <a:srgbClr val="3B82F6"/>
          </a:solidFill>
          <a:ln w="12700">
            <a:solidFill>
              <a:srgbClr val="3B82F6">
                <a:alpha val="0"/>
              </a:srgbClr>
            </a:solidFill>
            <a:prstDash val="solid"/>
          </a:ln>
        </p:spPr>
      </p:sp>
      <p:sp>
        <p:nvSpPr>
          <p:cNvPr id="26" name="Text 24"/>
          <p:cNvSpPr/>
          <p:nvPr/>
        </p:nvSpPr>
        <p:spPr>
          <a:xfrm>
            <a:off x="7232904"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Track</a:t>
            </a:r>
            <a:endParaRPr lang="en-US" sz="1350" dirty="0"/>
          </a:p>
        </p:txBody>
      </p:sp>
      <p:sp>
        <p:nvSpPr>
          <p:cNvPr id="27" name="Text 25"/>
          <p:cNvSpPr/>
          <p:nvPr/>
        </p:nvSpPr>
        <p:spPr>
          <a:xfrm>
            <a:off x="7232904"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Versions and audit trails are preserved.</a:t>
            </a:r>
            <a:endParaRPr lang="en-US" sz="880" dirty="0"/>
          </a:p>
        </p:txBody>
      </p:sp>
      <p:sp>
        <p:nvSpPr>
          <p:cNvPr id="28" name="Shape 26"/>
          <p:cNvSpPr/>
          <p:nvPr/>
        </p:nvSpPr>
        <p:spPr>
          <a:xfrm>
            <a:off x="8759952" y="3090672"/>
            <a:ext cx="201168" cy="256032"/>
          </a:xfrm>
          <a:prstGeom prst="chevron">
            <a:avLst/>
          </a:prstGeom>
          <a:solidFill>
            <a:srgbClr val="C8D8F0"/>
          </a:solidFill>
          <a:ln w="12700">
            <a:solidFill>
              <a:srgbClr val="C8D8F0">
                <a:alpha val="0"/>
              </a:srgbClr>
            </a:solidFill>
            <a:prstDash val="solid"/>
          </a:ln>
        </p:spPr>
      </p:sp>
      <p:sp>
        <p:nvSpPr>
          <p:cNvPr id="29" name="Shape 27"/>
          <p:cNvSpPr/>
          <p:nvPr/>
        </p:nvSpPr>
        <p:spPr>
          <a:xfrm>
            <a:off x="9125712" y="2788920"/>
            <a:ext cx="1536192"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30" name="Shape 28"/>
          <p:cNvSpPr/>
          <p:nvPr/>
        </p:nvSpPr>
        <p:spPr>
          <a:xfrm>
            <a:off x="9125712" y="2788920"/>
            <a:ext cx="1536192" cy="164592"/>
          </a:xfrm>
          <a:prstGeom prst="rect">
            <a:avLst/>
          </a:prstGeom>
          <a:solidFill>
            <a:srgbClr val="F59E0B"/>
          </a:solidFill>
          <a:ln w="12700">
            <a:solidFill>
              <a:srgbClr val="F59E0B">
                <a:alpha val="0"/>
              </a:srgbClr>
            </a:solidFill>
            <a:prstDash val="solid"/>
          </a:ln>
        </p:spPr>
      </p:sp>
      <p:sp>
        <p:nvSpPr>
          <p:cNvPr id="31" name="Text 29"/>
          <p:cNvSpPr/>
          <p:nvPr/>
        </p:nvSpPr>
        <p:spPr>
          <a:xfrm>
            <a:off x="9262872"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Publish</a:t>
            </a:r>
            <a:endParaRPr lang="en-US" sz="1350" dirty="0"/>
          </a:p>
        </p:txBody>
      </p:sp>
      <p:sp>
        <p:nvSpPr>
          <p:cNvPr id="32" name="Text 30"/>
          <p:cNvSpPr/>
          <p:nvPr/>
        </p:nvSpPr>
        <p:spPr>
          <a:xfrm>
            <a:off x="9262872"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Publishing controls release the final story.</a:t>
            </a:r>
            <a:endParaRPr lang="en-US" sz="880" dirty="0"/>
          </a:p>
        </p:txBody>
      </p:sp>
      <p:sp>
        <p:nvSpPr>
          <p:cNvPr id="33" name="Shape 31"/>
          <p:cNvSpPr/>
          <p:nvPr/>
        </p:nvSpPr>
        <p:spPr>
          <a:xfrm>
            <a:off x="969264"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4" name="Text 32"/>
          <p:cNvSpPr/>
          <p:nvPr/>
        </p:nvSpPr>
        <p:spPr>
          <a:xfrm>
            <a:off x="1115568"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Content quality</a:t>
            </a:r>
            <a:endParaRPr lang="en-US" sz="1150" dirty="0"/>
          </a:p>
        </p:txBody>
      </p:sp>
      <p:sp>
        <p:nvSpPr>
          <p:cNvPr id="35" name="Text 33"/>
          <p:cNvSpPr/>
          <p:nvPr/>
        </p:nvSpPr>
        <p:spPr>
          <a:xfrm>
            <a:off x="1133856"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The review chain supports more consistent editorial standards.</a:t>
            </a:r>
            <a:endParaRPr lang="en-US" sz="830" dirty="0"/>
          </a:p>
        </p:txBody>
      </p:sp>
      <p:sp>
        <p:nvSpPr>
          <p:cNvPr id="36" name="Shape 34"/>
          <p:cNvSpPr/>
          <p:nvPr/>
        </p:nvSpPr>
        <p:spPr>
          <a:xfrm>
            <a:off x="4224528"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7" name="Text 35"/>
          <p:cNvSpPr/>
          <p:nvPr/>
        </p:nvSpPr>
        <p:spPr>
          <a:xfrm>
            <a:off x="4370832"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Compliance and accountability</a:t>
            </a:r>
            <a:endParaRPr lang="en-US" sz="1150" dirty="0"/>
          </a:p>
        </p:txBody>
      </p:sp>
      <p:sp>
        <p:nvSpPr>
          <p:cNvPr id="38" name="Text 36"/>
          <p:cNvSpPr/>
          <p:nvPr/>
        </p:nvSpPr>
        <p:spPr>
          <a:xfrm>
            <a:off x="4389120"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Version history and audit trails improve defensibility.</a:t>
            </a:r>
            <a:endParaRPr lang="en-US" sz="830" dirty="0"/>
          </a:p>
        </p:txBody>
      </p:sp>
      <p:sp>
        <p:nvSpPr>
          <p:cNvPr id="39" name="Shape 37"/>
          <p:cNvSpPr/>
          <p:nvPr/>
        </p:nvSpPr>
        <p:spPr>
          <a:xfrm>
            <a:off x="7479792"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40" name="Text 38"/>
          <p:cNvSpPr/>
          <p:nvPr/>
        </p:nvSpPr>
        <p:spPr>
          <a:xfrm>
            <a:off x="7626096"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Publishing confidence</a:t>
            </a:r>
            <a:endParaRPr lang="en-US" sz="1150" dirty="0"/>
          </a:p>
        </p:txBody>
      </p:sp>
      <p:sp>
        <p:nvSpPr>
          <p:cNvPr id="41" name="Text 39"/>
          <p:cNvSpPr/>
          <p:nvPr/>
        </p:nvSpPr>
        <p:spPr>
          <a:xfrm>
            <a:off x="7644384"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Release controls reduce the risk of unmanaged publication.</a:t>
            </a:r>
            <a:endParaRPr lang="en-US" sz="830" dirty="0"/>
          </a:p>
        </p:txBody>
      </p:sp>
      <p:sp>
        <p:nvSpPr>
          <p:cNvPr id="42" name="Shape 40"/>
          <p:cNvSpPr/>
          <p:nvPr/>
        </p:nvSpPr>
        <p:spPr>
          <a:xfrm>
            <a:off x="548640" y="6446520"/>
            <a:ext cx="11064240" cy="0"/>
          </a:xfrm>
          <a:prstGeom prst="line">
            <a:avLst/>
          </a:prstGeom>
          <a:noFill/>
          <a:ln w="12700">
            <a:solidFill>
              <a:srgbClr val="C8D8F0"/>
            </a:solidFill>
            <a:prstDash val="solid"/>
          </a:ln>
        </p:spPr>
      </p:sp>
      <p:sp>
        <p:nvSpPr>
          <p:cNvPr id="43" name="Text 41"/>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44" name="Text 42"/>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7</a:t>
            </a:r>
            <a:endParaRPr lang="en-US" sz="850" dirty="0"/>
          </a:p>
        </p:txBody>
      </p:sp>
      <p:sp>
        <p:nvSpPr>
          <p:cNvPr id="47"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48"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4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3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2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1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6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69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set>
                                <p:cBhvr>
                                  <p:cTn id="124" dur="1" fill="hold">
                                    <p:stCondLst>
                                      <p:cond delay="0"/>
                                    </p:stCondLst>
                                  </p:cTn>
                                  <p:tgtEl>
                                    <p:spTgt spid="10"/>
                                  </p:tgtEl>
                                  <p:attrNameLst>
                                    <p:attrName>style.visibility</p:attrName>
                                  </p:attrNameLst>
                                </p:cBhvr>
                                <p:to>
                                  <p:strVal val="visible"/>
                                </p:to>
                              </p:set>
                              <p:anim calcmode="lin" valueType="num">
                                <p:cBhvr>
                                  <p:cTn id="125" dur="500"/>
                                  <p:tgtEl>
                                    <p:spTgt spid="10"/>
                                  </p:tgtEl>
                                  <p:attrNameLst>
                                    <p:attrName>style.opacity</p:attrName>
                                  </p:attrNameLst>
                                </p:cBhvr>
                                <p:tavLst>
                                  <p:tav tm="0">
                                    <p:val>
                                      <p:fltVal val="0"/>
                                    </p:val>
                                  </p:tav>
                                  <p:tav tm="100000">
                                    <p:val>
                                      <p:fltVal val="1"/>
                                    </p:val>
                                  </p:tav>
                                </p:tavLst>
                              </p:anim>
                              <p:set>
                                <p:cBhvr>
                                  <p:cTn id="126" dur="1" fill="hold">
                                    <p:stCondLst>
                                      <p:cond delay="0"/>
                                    </p:stCondLst>
                                  </p:cTn>
                                  <p:tgtEl>
                                    <p:spTgt spid="11"/>
                                  </p:tgtEl>
                                  <p:attrNameLst>
                                    <p:attrName>style.visibility</p:attrName>
                                  </p:attrNameLst>
                                </p:cBhvr>
                                <p:to>
                                  <p:strVal val="visible"/>
                                </p:to>
                              </p:set>
                              <p:anim calcmode="lin" valueType="num">
                                <p:cBhvr>
                                  <p:cTn id="127" dur="500"/>
                                  <p:tgtEl>
                                    <p:spTgt spid="11"/>
                                  </p:tgtEl>
                                  <p:attrNameLst>
                                    <p:attrName>style.opacity</p:attrName>
                                  </p:attrNameLst>
                                </p:cBhvr>
                                <p:tavLst>
                                  <p:tav tm="0">
                                    <p:val>
                                      <p:fltVal val="0"/>
                                    </p:val>
                                  </p:tav>
                                  <p:tav tm="100000">
                                    <p:val>
                                      <p:fltVal val="1"/>
                                    </p:val>
                                  </p:tav>
                                </p:tavLst>
                              </p:anim>
                              <p:set>
                                <p:cBhvr>
                                  <p:cTn id="128" dur="1" fill="hold">
                                    <p:stCondLst>
                                      <p:cond delay="0"/>
                                    </p:stCondLst>
                                  </p:cTn>
                                  <p:tgtEl>
                                    <p:spTgt spid="12"/>
                                  </p:tgtEl>
                                  <p:attrNameLst>
                                    <p:attrName>style.visibility</p:attrName>
                                  </p:attrNameLst>
                                </p:cBhvr>
                                <p:to>
                                  <p:strVal val="visible"/>
                                </p:to>
                              </p:set>
                              <p:anim calcmode="lin" valueType="num">
                                <p:cBhvr>
                                  <p:cTn id="129" dur="500"/>
                                  <p:tgtEl>
                                    <p:spTgt spid="12"/>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780"/>
                            </p:stCondLst>
                            <p:childTnLst>
                              <p:set>
                                <p:cBhvr>
                                  <p:cTn id="131" dur="1" fill="hold">
                                    <p:stCondLst>
                                      <p:cond delay="0"/>
                                    </p:stCondLst>
                                  </p:cTn>
                                  <p:tgtEl>
                                    <p:spTgt spid="13"/>
                                  </p:tgtEl>
                                  <p:attrNameLst>
                                    <p:attrName>style.visibility</p:attrName>
                                  </p:attrNameLst>
                                </p:cBhvr>
                                <p:to>
                                  <p:strVal val="visible"/>
                                </p:to>
                              </p:set>
                              <p:anim calcmode="lin" valueType="num">
                                <p:cBhvr>
                                  <p:cTn id="132" dur="500"/>
                                  <p:tgtEl>
                                    <p:spTgt spid="13"/>
                                  </p:tgtEl>
                                  <p:attrNameLst>
                                    <p:attrName>style.opacity</p:attrName>
                                  </p:attrNameLst>
                                </p:cBhvr>
                                <p:tavLst>
                                  <p:tav tm="0">
                                    <p:val>
                                      <p:fltVal val="0"/>
                                    </p:val>
                                  </p:tav>
                                  <p:tav tm="100000">
                                    <p:val>
                                      <p:fltVal val="1"/>
                                    </p:val>
                                  </p:tav>
                                </p:tavLst>
                              </p:anim>
                            </p:childTnLst>
                          </p:cTn>
                        </p:par>
                        <p:par>
                          <p:cTn id="133" presetID="10" presetClass="entr" presetSubtype="0" fill="hold" grpId="0" nodeType="afterEffect">
                            <p:stCondLst>
                              <p:cond delay="870"/>
                            </p:stCondLst>
                            <p:childTnLst>
                              <p:set>
                                <p:cBhvr>
                                  <p:cTn id="134" dur="1" fill="hold">
                                    <p:stCondLst>
                                      <p:cond delay="0"/>
                                    </p:stCondLst>
                                  </p:cTn>
                                  <p:tgtEl>
                                    <p:spTgt spid="14"/>
                                  </p:tgtEl>
                                  <p:attrNameLst>
                                    <p:attrName>style.visibility</p:attrName>
                                  </p:attrNameLst>
                                </p:cBhvr>
                                <p:to>
                                  <p:strVal val="visible"/>
                                </p:to>
                              </p:set>
                              <p:anim calcmode="lin" valueType="num">
                                <p:cBhvr>
                                  <p:cTn id="135" dur="500"/>
                                  <p:tgtEl>
                                    <p:spTgt spid="14"/>
                                  </p:tgtEl>
                                  <p:attrNameLst>
                                    <p:attrName>style.opacity</p:attrName>
                                  </p:attrNameLst>
                                </p:cBhvr>
                                <p:tavLst>
                                  <p:tav tm="0">
                                    <p:val>
                                      <p:fltVal val="0"/>
                                    </p:val>
                                  </p:tav>
                                  <p:tav tm="100000">
                                    <p:val>
                                      <p:fltVal val="1"/>
                                    </p:val>
                                  </p:tav>
                                </p:tavLst>
                              </p:anim>
                              <p:set>
                                <p:cBhvr>
                                  <p:cTn id="136" dur="1" fill="hold">
                                    <p:stCondLst>
                                      <p:cond delay="0"/>
                                    </p:stCondLst>
                                  </p:cTn>
                                  <p:tgtEl>
                                    <p:spTgt spid="15"/>
                                  </p:tgtEl>
                                  <p:attrNameLst>
                                    <p:attrName>style.visibility</p:attrName>
                                  </p:attrNameLst>
                                </p:cBhvr>
                                <p:to>
                                  <p:strVal val="visible"/>
                                </p:to>
                              </p:set>
                              <p:anim calcmode="lin" valueType="num">
                                <p:cBhvr>
                                  <p:cTn id="137" dur="500"/>
                                  <p:tgtEl>
                                    <p:spTgt spid="15"/>
                                  </p:tgtEl>
                                  <p:attrNameLst>
                                    <p:attrName>style.opacity</p:attrName>
                                  </p:attrNameLst>
                                </p:cBhvr>
                                <p:tavLst>
                                  <p:tav tm="0">
                                    <p:val>
                                      <p:fltVal val="0"/>
                                    </p:val>
                                  </p:tav>
                                  <p:tav tm="100000">
                                    <p:val>
                                      <p:fltVal val="1"/>
                                    </p:val>
                                  </p:tav>
                                </p:tavLst>
                              </p:anim>
                              <p:set>
                                <p:cBhvr>
                                  <p:cTn id="138" dur="1" fill="hold">
                                    <p:stCondLst>
                                      <p:cond delay="0"/>
                                    </p:stCondLst>
                                  </p:cTn>
                                  <p:tgtEl>
                                    <p:spTgt spid="16"/>
                                  </p:tgtEl>
                                  <p:attrNameLst>
                                    <p:attrName>style.visibility</p:attrName>
                                  </p:attrNameLst>
                                </p:cBhvr>
                                <p:to>
                                  <p:strVal val="visible"/>
                                </p:to>
                              </p:set>
                              <p:anim calcmode="lin" valueType="num">
                                <p:cBhvr>
                                  <p:cTn id="139" dur="500"/>
                                  <p:tgtEl>
                                    <p:spTgt spid="16"/>
                                  </p:tgtEl>
                                  <p:attrNameLst>
                                    <p:attrName>style.opacity</p:attrName>
                                  </p:attrNameLst>
                                </p:cBhvr>
                                <p:tavLst>
                                  <p:tav tm="0">
                                    <p:val>
                                      <p:fltVal val="0"/>
                                    </p:val>
                                  </p:tav>
                                  <p:tav tm="100000">
                                    <p:val>
                                      <p:fltVal val="1"/>
                                    </p:val>
                                  </p:tav>
                                </p:tavLst>
                              </p:anim>
                              <p:set>
                                <p:cBhvr>
                                  <p:cTn id="140" dur="1" fill="hold">
                                    <p:stCondLst>
                                      <p:cond delay="0"/>
                                    </p:stCondLst>
                                  </p:cTn>
                                  <p:tgtEl>
                                    <p:spTgt spid="17"/>
                                  </p:tgtEl>
                                  <p:attrNameLst>
                                    <p:attrName>style.visibility</p:attrName>
                                  </p:attrNameLst>
                                </p:cBhvr>
                                <p:to>
                                  <p:strVal val="visible"/>
                                </p:to>
                              </p:set>
                              <p:anim calcmode="lin" valueType="num">
                                <p:cBhvr>
                                  <p:cTn id="141" dur="500"/>
                                  <p:tgtEl>
                                    <p:spTgt spid="17"/>
                                  </p:tgtEl>
                                  <p:attrNameLst>
                                    <p:attrName>style.opacity</p:attrName>
                                  </p:attrNameLst>
                                </p:cBhvr>
                                <p:tavLst>
                                  <p:tav tm="0">
                                    <p:val>
                                      <p:fltVal val="0"/>
                                    </p:val>
                                  </p:tav>
                                  <p:tav tm="100000">
                                    <p:val>
                                      <p:fltVal val="1"/>
                                    </p:val>
                                  </p:tav>
                                </p:tavLst>
                              </p:anim>
                            </p:childTnLst>
                          </p:cTn>
                        </p:par>
                        <p:par>
                          <p:cTn id="142" presetID="10" presetClass="entr" presetSubtype="0" fill="hold" grpId="0" nodeType="afterEffect">
                            <p:stCondLst>
                              <p:cond delay="960"/>
                            </p:stCondLst>
                            <p:childTnLst>
                              <p:set>
                                <p:cBhvr>
                                  <p:cTn id="143" dur="1" fill="hold">
                                    <p:stCondLst>
                                      <p:cond delay="0"/>
                                    </p:stCondLst>
                                  </p:cTn>
                                  <p:tgtEl>
                                    <p:spTgt spid="18"/>
                                  </p:tgtEl>
                                  <p:attrNameLst>
                                    <p:attrName>style.visibility</p:attrName>
                                  </p:attrNameLst>
                                </p:cBhvr>
                                <p:to>
                                  <p:strVal val="visible"/>
                                </p:to>
                              </p:set>
                              <p:anim calcmode="lin" valueType="num">
                                <p:cBhvr>
                                  <p:cTn id="144" dur="500"/>
                                  <p:tgtEl>
                                    <p:spTgt spid="18"/>
                                  </p:tgtEl>
                                  <p:attrNameLst>
                                    <p:attrName>style.opacity</p:attrName>
                                  </p:attrNameLst>
                                </p:cBhvr>
                                <p:tavLst>
                                  <p:tav tm="0">
                                    <p:val>
                                      <p:fltVal val="0"/>
                                    </p:val>
                                  </p:tav>
                                  <p:tav tm="100000">
                                    <p:val>
                                      <p:fltVal val="1"/>
                                    </p:val>
                                  </p:tav>
                                </p:tavLst>
                              </p:anim>
                            </p:childTnLst>
                          </p:cTn>
                        </p:par>
                        <p:par>
                          <p:cTn id="145" presetID="10" presetClass="entr" presetSubtype="0" fill="hold" grpId="0" nodeType="afterEffect">
                            <p:stCondLst>
                              <p:cond delay="1050"/>
                            </p:stCondLst>
                            <p:childTnLst>
                              <p:set>
                                <p:cBhvr>
                                  <p:cTn id="146" dur="1" fill="hold">
                                    <p:stCondLst>
                                      <p:cond delay="0"/>
                                    </p:stCondLst>
                                  </p:cTn>
                                  <p:tgtEl>
                                    <p:spTgt spid="19"/>
                                  </p:tgtEl>
                                  <p:attrNameLst>
                                    <p:attrName>style.visibility</p:attrName>
                                  </p:attrNameLst>
                                </p:cBhvr>
                                <p:to>
                                  <p:strVal val="visible"/>
                                </p:to>
                              </p:set>
                              <p:anim calcmode="lin" valueType="num">
                                <p:cBhvr>
                                  <p:cTn id="147" dur="500"/>
                                  <p:tgtEl>
                                    <p:spTgt spid="19"/>
                                  </p:tgtEl>
                                  <p:attrNameLst>
                                    <p:attrName>style.opacity</p:attrName>
                                  </p:attrNameLst>
                                </p:cBhvr>
                                <p:tavLst>
                                  <p:tav tm="0">
                                    <p:val>
                                      <p:fltVal val="0"/>
                                    </p:val>
                                  </p:tav>
                                  <p:tav tm="100000">
                                    <p:val>
                                      <p:fltVal val="1"/>
                                    </p:val>
                                  </p:tav>
                                </p:tavLst>
                              </p:anim>
                              <p:set>
                                <p:cBhvr>
                                  <p:cTn id="148" dur="1" fill="hold">
                                    <p:stCondLst>
                                      <p:cond delay="0"/>
                                    </p:stCondLst>
                                  </p:cTn>
                                  <p:tgtEl>
                                    <p:spTgt spid="20"/>
                                  </p:tgtEl>
                                  <p:attrNameLst>
                                    <p:attrName>style.visibility</p:attrName>
                                  </p:attrNameLst>
                                </p:cBhvr>
                                <p:to>
                                  <p:strVal val="visible"/>
                                </p:to>
                              </p:set>
                              <p:anim calcmode="lin" valueType="num">
                                <p:cBhvr>
                                  <p:cTn id="149" dur="500"/>
                                  <p:tgtEl>
                                    <p:spTgt spid="20"/>
                                  </p:tgtEl>
                                  <p:attrNameLst>
                                    <p:attrName>style.opacity</p:attrName>
                                  </p:attrNameLst>
                                </p:cBhvr>
                                <p:tavLst>
                                  <p:tav tm="0">
                                    <p:val>
                                      <p:fltVal val="0"/>
                                    </p:val>
                                  </p:tav>
                                  <p:tav tm="100000">
                                    <p:val>
                                      <p:fltVal val="1"/>
                                    </p:val>
                                  </p:tav>
                                </p:tavLst>
                              </p:anim>
                              <p:set>
                                <p:cBhvr>
                                  <p:cTn id="150" dur="1" fill="hold">
                                    <p:stCondLst>
                                      <p:cond delay="0"/>
                                    </p:stCondLst>
                                  </p:cTn>
                                  <p:tgtEl>
                                    <p:spTgt spid="21"/>
                                  </p:tgtEl>
                                  <p:attrNameLst>
                                    <p:attrName>style.visibility</p:attrName>
                                  </p:attrNameLst>
                                </p:cBhvr>
                                <p:to>
                                  <p:strVal val="visible"/>
                                </p:to>
                              </p:set>
                              <p:anim calcmode="lin" valueType="num">
                                <p:cBhvr>
                                  <p:cTn id="151" dur="500"/>
                                  <p:tgtEl>
                                    <p:spTgt spid="21"/>
                                  </p:tgtEl>
                                  <p:attrNameLst>
                                    <p:attrName>style.opacity</p:attrName>
                                  </p:attrNameLst>
                                </p:cBhvr>
                                <p:tavLst>
                                  <p:tav tm="0">
                                    <p:val>
                                      <p:fltVal val="0"/>
                                    </p:val>
                                  </p:tav>
                                  <p:tav tm="100000">
                                    <p:val>
                                      <p:fltVal val="1"/>
                                    </p:val>
                                  </p:tav>
                                </p:tavLst>
                              </p:anim>
                              <p:set>
                                <p:cBhvr>
                                  <p:cTn id="152" dur="1" fill="hold">
                                    <p:stCondLst>
                                      <p:cond delay="0"/>
                                    </p:stCondLst>
                                  </p:cTn>
                                  <p:tgtEl>
                                    <p:spTgt spid="22"/>
                                  </p:tgtEl>
                                  <p:attrNameLst>
                                    <p:attrName>style.visibility</p:attrName>
                                  </p:attrNameLst>
                                </p:cBhvr>
                                <p:to>
                                  <p:strVal val="visible"/>
                                </p:to>
                              </p:set>
                              <p:anim calcmode="lin" valueType="num">
                                <p:cBhvr>
                                  <p:cTn id="153" dur="500"/>
                                  <p:tgtEl>
                                    <p:spTgt spid="22"/>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14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p:tgtEl>
                                    <p:spTgt spid="23"/>
                                  </p:tgtEl>
                                  <p:attrNameLst>
                                    <p:attrName>style.opacity</p:attrName>
                                  </p:attrNameLst>
                                </p:cBhvr>
                                <p:tavLst>
                                  <p:tav tm="0">
                                    <p:val>
                                      <p:fltVal val="0"/>
                                    </p:val>
                                  </p:tav>
                                  <p:tav tm="100000">
                                    <p:val>
                                      <p:fltVal val="1"/>
                                    </p:val>
                                  </p:tav>
                                </p:tavLst>
                              </p:anim>
                            </p:childTnLst>
                          </p:cTn>
                        </p:par>
                        <p:par>
                          <p:cTn id="157" presetID="10" presetClass="entr" presetSubtype="0" fill="hold" grpId="0" nodeType="afterEffect">
                            <p:stCondLst>
                              <p:cond delay="1230"/>
                            </p:stCondLst>
                            <p:childTnLst>
                              <p:set>
                                <p:cBhvr>
                                  <p:cTn id="158" dur="1" fill="hold">
                                    <p:stCondLst>
                                      <p:cond delay="0"/>
                                    </p:stCondLst>
                                  </p:cTn>
                                  <p:tgtEl>
                                    <p:spTgt spid="24"/>
                                  </p:tgtEl>
                                  <p:attrNameLst>
                                    <p:attrName>style.visibility</p:attrName>
                                  </p:attrNameLst>
                                </p:cBhvr>
                                <p:to>
                                  <p:strVal val="visible"/>
                                </p:to>
                              </p:set>
                              <p:anim calcmode="lin" valueType="num">
                                <p:cBhvr>
                                  <p:cTn id="159" dur="500"/>
                                  <p:tgtEl>
                                    <p:spTgt spid="24"/>
                                  </p:tgtEl>
                                  <p:attrNameLst>
                                    <p:attrName>style.opacity</p:attrName>
                                  </p:attrNameLst>
                                </p:cBhvr>
                                <p:tavLst>
                                  <p:tav tm="0">
                                    <p:val>
                                      <p:fltVal val="0"/>
                                    </p:val>
                                  </p:tav>
                                  <p:tav tm="100000">
                                    <p:val>
                                      <p:fltVal val="1"/>
                                    </p:val>
                                  </p:tav>
                                </p:tavLst>
                              </p:anim>
                              <p:set>
                                <p:cBhvr>
                                  <p:cTn id="160" dur="1" fill="hold">
                                    <p:stCondLst>
                                      <p:cond delay="0"/>
                                    </p:stCondLst>
                                  </p:cTn>
                                  <p:tgtEl>
                                    <p:spTgt spid="25"/>
                                  </p:tgtEl>
                                  <p:attrNameLst>
                                    <p:attrName>style.visibility</p:attrName>
                                  </p:attrNameLst>
                                </p:cBhvr>
                                <p:to>
                                  <p:strVal val="visible"/>
                                </p:to>
                              </p:set>
                              <p:anim calcmode="lin" valueType="num">
                                <p:cBhvr>
                                  <p:cTn id="161" dur="500"/>
                                  <p:tgtEl>
                                    <p:spTgt spid="25"/>
                                  </p:tgtEl>
                                  <p:attrNameLst>
                                    <p:attrName>style.opacity</p:attrName>
                                  </p:attrNameLst>
                                </p:cBhvr>
                                <p:tavLst>
                                  <p:tav tm="0">
                                    <p:val>
                                      <p:fltVal val="0"/>
                                    </p:val>
                                  </p:tav>
                                  <p:tav tm="100000">
                                    <p:val>
                                      <p:fltVal val="1"/>
                                    </p:val>
                                  </p:tav>
                                </p:tavLst>
                              </p:anim>
                              <p:set>
                                <p:cBhvr>
                                  <p:cTn id="162" dur="1" fill="hold">
                                    <p:stCondLst>
                                      <p:cond delay="0"/>
                                    </p:stCondLst>
                                  </p:cTn>
                                  <p:tgtEl>
                                    <p:spTgt spid="26"/>
                                  </p:tgtEl>
                                  <p:attrNameLst>
                                    <p:attrName>style.visibility</p:attrName>
                                  </p:attrNameLst>
                                </p:cBhvr>
                                <p:to>
                                  <p:strVal val="visible"/>
                                </p:to>
                              </p:set>
                              <p:anim calcmode="lin" valueType="num">
                                <p:cBhvr>
                                  <p:cTn id="163" dur="500"/>
                                  <p:tgtEl>
                                    <p:spTgt spid="26"/>
                                  </p:tgtEl>
                                  <p:attrNameLst>
                                    <p:attrName>style.opacity</p:attrName>
                                  </p:attrNameLst>
                                </p:cBhvr>
                                <p:tavLst>
                                  <p:tav tm="0">
                                    <p:val>
                                      <p:fltVal val="0"/>
                                    </p:val>
                                  </p:tav>
                                  <p:tav tm="100000">
                                    <p:val>
                                      <p:fltVal val="1"/>
                                    </p:val>
                                  </p:tav>
                                </p:tavLst>
                              </p:anim>
                              <p:set>
                                <p:cBhvr>
                                  <p:cTn id="164" dur="1" fill="hold">
                                    <p:stCondLst>
                                      <p:cond delay="0"/>
                                    </p:stCondLst>
                                  </p:cTn>
                                  <p:tgtEl>
                                    <p:spTgt spid="27"/>
                                  </p:tgtEl>
                                  <p:attrNameLst>
                                    <p:attrName>style.visibility</p:attrName>
                                  </p:attrNameLst>
                                </p:cBhvr>
                                <p:to>
                                  <p:strVal val="visible"/>
                                </p:to>
                              </p:set>
                              <p:anim calcmode="lin" valueType="num">
                                <p:cBhvr>
                                  <p:cTn id="165" dur="500"/>
                                  <p:tgtEl>
                                    <p:spTgt spid="27"/>
                                  </p:tgtEl>
                                  <p:attrNameLst>
                                    <p:attrName>style.opacity</p:attrName>
                                  </p:attrNameLst>
                                </p:cBhvr>
                                <p:tavLst>
                                  <p:tav tm="0">
                                    <p:val>
                                      <p:fltVal val="0"/>
                                    </p:val>
                                  </p:tav>
                                  <p:tav tm="100000">
                                    <p:val>
                                      <p:fltVal val="1"/>
                                    </p:val>
                                  </p:tav>
                                </p:tavLst>
                              </p:anim>
                            </p:childTnLst>
                          </p:cTn>
                        </p:par>
                        <p:par>
                          <p:cTn id="166" presetID="10" presetClass="entr" presetSubtype="0" fill="hold" grpId="0" nodeType="afterEffect">
                            <p:stCondLst>
                              <p:cond delay="1320"/>
                            </p:stCondLst>
                            <p:childTnLst>
                              <p:set>
                                <p:cBhvr>
                                  <p:cTn id="167" dur="1" fill="hold">
                                    <p:stCondLst>
                                      <p:cond delay="0"/>
                                    </p:stCondLst>
                                  </p:cTn>
                                  <p:tgtEl>
                                    <p:spTgt spid="28"/>
                                  </p:tgtEl>
                                  <p:attrNameLst>
                                    <p:attrName>style.visibility</p:attrName>
                                  </p:attrNameLst>
                                </p:cBhvr>
                                <p:to>
                                  <p:strVal val="visible"/>
                                </p:to>
                              </p:set>
                              <p:anim calcmode="lin" valueType="num">
                                <p:cBhvr>
                                  <p:cTn id="168" dur="500"/>
                                  <p:tgtEl>
                                    <p:spTgt spid="28"/>
                                  </p:tgtEl>
                                  <p:attrNameLst>
                                    <p:attrName>style.opacity</p:attrName>
                                  </p:attrNameLst>
                                </p:cBhvr>
                                <p:tavLst>
                                  <p:tav tm="0">
                                    <p:val>
                                      <p:fltVal val="0"/>
                                    </p:val>
                                  </p:tav>
                                  <p:tav tm="100000">
                                    <p:val>
                                      <p:fltVal val="1"/>
                                    </p:val>
                                  </p:tav>
                                </p:tavLst>
                              </p:anim>
                            </p:childTnLst>
                          </p:cTn>
                        </p:par>
                        <p:par>
                          <p:cTn id="169" presetID="10" presetClass="entr" presetSubtype="0" fill="hold" grpId="0" nodeType="afterEffect">
                            <p:stCondLst>
                              <p:cond delay="1410"/>
                            </p:stCondLst>
                            <p:childTnLst>
                              <p:set>
                                <p:cBhvr>
                                  <p:cTn id="170" dur="1" fill="hold">
                                    <p:stCondLst>
                                      <p:cond delay="0"/>
                                    </p:stCondLst>
                                  </p:cTn>
                                  <p:tgtEl>
                                    <p:spTgt spid="29"/>
                                  </p:tgtEl>
                                  <p:attrNameLst>
                                    <p:attrName>style.visibility</p:attrName>
                                  </p:attrNameLst>
                                </p:cBhvr>
                                <p:to>
                                  <p:strVal val="visible"/>
                                </p:to>
                              </p:set>
                              <p:anim calcmode="lin" valueType="num">
                                <p:cBhvr>
                                  <p:cTn id="171" dur="500"/>
                                  <p:tgtEl>
                                    <p:spTgt spid="29"/>
                                  </p:tgtEl>
                                  <p:attrNameLst>
                                    <p:attrName>style.opacity</p:attrName>
                                  </p:attrNameLst>
                                </p:cBhvr>
                                <p:tavLst>
                                  <p:tav tm="0">
                                    <p:val>
                                      <p:fltVal val="0"/>
                                    </p:val>
                                  </p:tav>
                                  <p:tav tm="100000">
                                    <p:val>
                                      <p:fltVal val="1"/>
                                    </p:val>
                                  </p:tav>
                                </p:tavLst>
                              </p:anim>
                              <p:set>
                                <p:cBhvr>
                                  <p:cTn id="172" dur="1" fill="hold">
                                    <p:stCondLst>
                                      <p:cond delay="0"/>
                                    </p:stCondLst>
                                  </p:cTn>
                                  <p:tgtEl>
                                    <p:spTgt spid="30"/>
                                  </p:tgtEl>
                                  <p:attrNameLst>
                                    <p:attrName>style.visibility</p:attrName>
                                  </p:attrNameLst>
                                </p:cBhvr>
                                <p:to>
                                  <p:strVal val="visible"/>
                                </p:to>
                              </p:set>
                              <p:anim calcmode="lin" valueType="num">
                                <p:cBhvr>
                                  <p:cTn id="173" dur="500"/>
                                  <p:tgtEl>
                                    <p:spTgt spid="30"/>
                                  </p:tgtEl>
                                  <p:attrNameLst>
                                    <p:attrName>style.opacity</p:attrName>
                                  </p:attrNameLst>
                                </p:cBhvr>
                                <p:tavLst>
                                  <p:tav tm="0">
                                    <p:val>
                                      <p:fltVal val="0"/>
                                    </p:val>
                                  </p:tav>
                                  <p:tav tm="100000">
                                    <p:val>
                                      <p:fltVal val="1"/>
                                    </p:val>
                                  </p:tav>
                                </p:tavLst>
                              </p:anim>
                              <p:set>
                                <p:cBhvr>
                                  <p:cTn id="174" dur="1" fill="hold">
                                    <p:stCondLst>
                                      <p:cond delay="0"/>
                                    </p:stCondLst>
                                  </p:cTn>
                                  <p:tgtEl>
                                    <p:spTgt spid="31"/>
                                  </p:tgtEl>
                                  <p:attrNameLst>
                                    <p:attrName>style.visibility</p:attrName>
                                  </p:attrNameLst>
                                </p:cBhvr>
                                <p:to>
                                  <p:strVal val="visible"/>
                                </p:to>
                              </p:set>
                              <p:anim calcmode="lin" valueType="num">
                                <p:cBhvr>
                                  <p:cTn id="175" dur="500"/>
                                  <p:tgtEl>
                                    <p:spTgt spid="31"/>
                                  </p:tgtEl>
                                  <p:attrNameLst>
                                    <p:attrName>style.opacity</p:attrName>
                                  </p:attrNameLst>
                                </p:cBhvr>
                                <p:tavLst>
                                  <p:tav tm="0">
                                    <p:val>
                                      <p:fltVal val="0"/>
                                    </p:val>
                                  </p:tav>
                                  <p:tav tm="100000">
                                    <p:val>
                                      <p:fltVal val="1"/>
                                    </p:val>
                                  </p:tav>
                                </p:tavLst>
                              </p:anim>
                              <p:set>
                                <p:cBhvr>
                                  <p:cTn id="176" dur="1" fill="hold">
                                    <p:stCondLst>
                                      <p:cond delay="0"/>
                                    </p:stCondLst>
                                  </p:cTn>
                                  <p:tgtEl>
                                    <p:spTgt spid="32"/>
                                  </p:tgtEl>
                                  <p:attrNameLst>
                                    <p:attrName>style.visibility</p:attrName>
                                  </p:attrNameLst>
                                </p:cBhvr>
                                <p:to>
                                  <p:strVal val="visible"/>
                                </p:to>
                              </p:set>
                              <p:anim calcmode="lin" valueType="num">
                                <p:cBhvr>
                                  <p:cTn id="177" dur="500"/>
                                  <p:tgtEl>
                                    <p:spTgt spid="32"/>
                                  </p:tgtEl>
                                  <p:attrNameLst>
                                    <p:attrName>style.opacity</p:attrName>
                                  </p:attrNameLst>
                                </p:cBhvr>
                                <p:tavLst>
                                  <p:tav tm="0">
                                    <p:val>
                                      <p:fltVal val="0"/>
                                    </p:val>
                                  </p:tav>
                                  <p:tav tm="100000">
                                    <p:val>
                                      <p:fltVal val="1"/>
                                    </p:val>
                                  </p:tav>
                                </p:tavLst>
                              </p:anim>
                            </p:childTnLst>
                          </p:cTn>
                        </p:par>
                        <p:par>
                          <p:cTn id="178" presetID="10" presetClass="entr" presetSubtype="0" fill="hold" grpId="0" nodeType="afterEffect">
                            <p:stCondLst>
                              <p:cond delay="1500"/>
                            </p:stCondLst>
                            <p:childTnLst>
                              <p:set>
                                <p:cBhvr>
                                  <p:cTn id="179" dur="1" fill="hold">
                                    <p:stCondLst>
                                      <p:cond delay="0"/>
                                    </p:stCondLst>
                                  </p:cTn>
                                  <p:tgtEl>
                                    <p:spTgt spid="33"/>
                                  </p:tgtEl>
                                  <p:attrNameLst>
                                    <p:attrName>style.visibility</p:attrName>
                                  </p:attrNameLst>
                                </p:cBhvr>
                                <p:to>
                                  <p:strVal val="visible"/>
                                </p:to>
                              </p:set>
                              <p:anim calcmode="lin" valueType="num">
                                <p:cBhvr>
                                  <p:cTn id="180" dur="500"/>
                                  <p:tgtEl>
                                    <p:spTgt spid="33"/>
                                  </p:tgtEl>
                                  <p:attrNameLst>
                                    <p:attrName>style.opacity</p:attrName>
                                  </p:attrNameLst>
                                </p:cBhvr>
                                <p:tavLst>
                                  <p:tav tm="0">
                                    <p:val>
                                      <p:fltVal val="0"/>
                                    </p:val>
                                  </p:tav>
                                  <p:tav tm="100000">
                                    <p:val>
                                      <p:fltVal val="1"/>
                                    </p:val>
                                  </p:tav>
                                </p:tavLst>
                              </p:anim>
                              <p:set>
                                <p:cBhvr>
                                  <p:cTn id="181" dur="1" fill="hold">
                                    <p:stCondLst>
                                      <p:cond delay="0"/>
                                    </p:stCondLst>
                                  </p:cTn>
                                  <p:tgtEl>
                                    <p:spTgt spid="34"/>
                                  </p:tgtEl>
                                  <p:attrNameLst>
                                    <p:attrName>style.visibility</p:attrName>
                                  </p:attrNameLst>
                                </p:cBhvr>
                                <p:to>
                                  <p:strVal val="visible"/>
                                </p:to>
                              </p:set>
                              <p:anim calcmode="lin" valueType="num">
                                <p:cBhvr>
                                  <p:cTn id="182" dur="500"/>
                                  <p:tgtEl>
                                    <p:spTgt spid="34"/>
                                  </p:tgtEl>
                                  <p:attrNameLst>
                                    <p:attrName>style.opacity</p:attrName>
                                  </p:attrNameLst>
                                </p:cBhvr>
                                <p:tavLst>
                                  <p:tav tm="0">
                                    <p:val>
                                      <p:fltVal val="0"/>
                                    </p:val>
                                  </p:tav>
                                  <p:tav tm="100000">
                                    <p:val>
                                      <p:fltVal val="1"/>
                                    </p:val>
                                  </p:tav>
                                </p:tavLst>
                              </p:anim>
                              <p:set>
                                <p:cBhvr>
                                  <p:cTn id="183" dur="1" fill="hold">
                                    <p:stCondLst>
                                      <p:cond delay="0"/>
                                    </p:stCondLst>
                                  </p:cTn>
                                  <p:tgtEl>
                                    <p:spTgt spid="35"/>
                                  </p:tgtEl>
                                  <p:attrNameLst>
                                    <p:attrName>style.visibility</p:attrName>
                                  </p:attrNameLst>
                                </p:cBhvr>
                                <p:to>
                                  <p:strVal val="visible"/>
                                </p:to>
                              </p:set>
                              <p:anim calcmode="lin" valueType="num">
                                <p:cBhvr>
                                  <p:cTn id="184" dur="500"/>
                                  <p:tgtEl>
                                    <p:spTgt spid="35"/>
                                  </p:tgtEl>
                                  <p:attrNameLst>
                                    <p:attrName>style.opacity</p:attrName>
                                  </p:attrNameLst>
                                </p:cBhvr>
                                <p:tavLst>
                                  <p:tav tm="0">
                                    <p:val>
                                      <p:fltVal val="0"/>
                                    </p:val>
                                  </p:tav>
                                  <p:tav tm="100000">
                                    <p:val>
                                      <p:fltVal val="1"/>
                                    </p:val>
                                  </p:tav>
                                </p:tavLst>
                              </p:anim>
                            </p:childTnLst>
                          </p:cTn>
                        </p:par>
                        <p:par>
                          <p:cTn id="185" presetID="10" presetClass="entr" presetSubtype="0" fill="hold" grpId="0" nodeType="afterEffect">
                            <p:stCondLst>
                              <p:cond delay="1590"/>
                            </p:stCondLst>
                            <p:childTnLst>
                              <p:set>
                                <p:cBhvr>
                                  <p:cTn id="186" dur="1" fill="hold">
                                    <p:stCondLst>
                                      <p:cond delay="0"/>
                                    </p:stCondLst>
                                  </p:cTn>
                                  <p:tgtEl>
                                    <p:spTgt spid="36"/>
                                  </p:tgtEl>
                                  <p:attrNameLst>
                                    <p:attrName>style.visibility</p:attrName>
                                  </p:attrNameLst>
                                </p:cBhvr>
                                <p:to>
                                  <p:strVal val="visible"/>
                                </p:to>
                              </p:set>
                              <p:anim calcmode="lin" valueType="num">
                                <p:cBhvr>
                                  <p:cTn id="187" dur="500"/>
                                  <p:tgtEl>
                                    <p:spTgt spid="36"/>
                                  </p:tgtEl>
                                  <p:attrNameLst>
                                    <p:attrName>style.opacity</p:attrName>
                                  </p:attrNameLst>
                                </p:cBhvr>
                                <p:tavLst>
                                  <p:tav tm="0">
                                    <p:val>
                                      <p:fltVal val="0"/>
                                    </p:val>
                                  </p:tav>
                                  <p:tav tm="100000">
                                    <p:val>
                                      <p:fltVal val="1"/>
                                    </p:val>
                                  </p:tav>
                                </p:tavLst>
                              </p:anim>
                              <p:set>
                                <p:cBhvr>
                                  <p:cTn id="188" dur="1" fill="hold">
                                    <p:stCondLst>
                                      <p:cond delay="0"/>
                                    </p:stCondLst>
                                  </p:cTn>
                                  <p:tgtEl>
                                    <p:spTgt spid="37"/>
                                  </p:tgtEl>
                                  <p:attrNameLst>
                                    <p:attrName>style.visibility</p:attrName>
                                  </p:attrNameLst>
                                </p:cBhvr>
                                <p:to>
                                  <p:strVal val="visible"/>
                                </p:to>
                              </p:set>
                              <p:anim calcmode="lin" valueType="num">
                                <p:cBhvr>
                                  <p:cTn id="189" dur="500"/>
                                  <p:tgtEl>
                                    <p:spTgt spid="37"/>
                                  </p:tgtEl>
                                  <p:attrNameLst>
                                    <p:attrName>style.opacity</p:attrName>
                                  </p:attrNameLst>
                                </p:cBhvr>
                                <p:tavLst>
                                  <p:tav tm="0">
                                    <p:val>
                                      <p:fltVal val="0"/>
                                    </p:val>
                                  </p:tav>
                                  <p:tav tm="100000">
                                    <p:val>
                                      <p:fltVal val="1"/>
                                    </p:val>
                                  </p:tav>
                                </p:tavLst>
                              </p:anim>
                              <p:set>
                                <p:cBhvr>
                                  <p:cTn id="190" dur="1" fill="hold">
                                    <p:stCondLst>
                                      <p:cond delay="0"/>
                                    </p:stCondLst>
                                  </p:cTn>
                                  <p:tgtEl>
                                    <p:spTgt spid="38"/>
                                  </p:tgtEl>
                                  <p:attrNameLst>
                                    <p:attrName>style.visibility</p:attrName>
                                  </p:attrNameLst>
                                </p:cBhvr>
                                <p:to>
                                  <p:strVal val="visible"/>
                                </p:to>
                              </p:set>
                              <p:anim calcmode="lin" valueType="num">
                                <p:cBhvr>
                                  <p:cTn id="191" dur="500"/>
                                  <p:tgtEl>
                                    <p:spTgt spid="38"/>
                                  </p:tgtEl>
                                  <p:attrNameLst>
                                    <p:attrName>style.opacity</p:attrName>
                                  </p:attrNameLst>
                                </p:cBhvr>
                                <p:tavLst>
                                  <p:tav tm="0">
                                    <p:val>
                                      <p:fltVal val="0"/>
                                    </p:val>
                                  </p:tav>
                                  <p:tav tm="100000">
                                    <p:val>
                                      <p:fltVal val="1"/>
                                    </p:val>
                                  </p:tav>
                                </p:tavLst>
                              </p:anim>
                            </p:childTnLst>
                          </p:cTn>
                        </p:par>
                        <p:par>
                          <p:cTn id="192" presetID="10" presetClass="entr" presetSubtype="0" fill="hold" grpId="0" nodeType="afterEffect">
                            <p:stCondLst>
                              <p:cond delay="1680"/>
                            </p:stCondLst>
                            <p:childTnLst>
                              <p:set>
                                <p:cBhvr>
                                  <p:cTn id="193" dur="1" fill="hold">
                                    <p:stCondLst>
                                      <p:cond delay="0"/>
                                    </p:stCondLst>
                                  </p:cTn>
                                  <p:tgtEl>
                                    <p:spTgt spid="39"/>
                                  </p:tgtEl>
                                  <p:attrNameLst>
                                    <p:attrName>style.visibility</p:attrName>
                                  </p:attrNameLst>
                                </p:cBhvr>
                                <p:to>
                                  <p:strVal val="visible"/>
                                </p:to>
                              </p:set>
                              <p:anim calcmode="lin" valueType="num">
                                <p:cBhvr>
                                  <p:cTn id="194" dur="500"/>
                                  <p:tgtEl>
                                    <p:spTgt spid="39"/>
                                  </p:tgtEl>
                                  <p:attrNameLst>
                                    <p:attrName>style.opacity</p:attrName>
                                  </p:attrNameLst>
                                </p:cBhvr>
                                <p:tavLst>
                                  <p:tav tm="0">
                                    <p:val>
                                      <p:fltVal val="0"/>
                                    </p:val>
                                  </p:tav>
                                  <p:tav tm="100000">
                                    <p:val>
                                      <p:fltVal val="1"/>
                                    </p:val>
                                  </p:tav>
                                </p:tavLst>
                              </p:anim>
                              <p:set>
                                <p:cBhvr>
                                  <p:cTn id="195" dur="1" fill="hold">
                                    <p:stCondLst>
                                      <p:cond delay="0"/>
                                    </p:stCondLst>
                                  </p:cTn>
                                  <p:tgtEl>
                                    <p:spTgt spid="40"/>
                                  </p:tgtEl>
                                  <p:attrNameLst>
                                    <p:attrName>style.visibility</p:attrName>
                                  </p:attrNameLst>
                                </p:cBhvr>
                                <p:to>
                                  <p:strVal val="visible"/>
                                </p:to>
                              </p:set>
                              <p:anim calcmode="lin" valueType="num">
                                <p:cBhvr>
                                  <p:cTn id="196" dur="500"/>
                                  <p:tgtEl>
                                    <p:spTgt spid="40"/>
                                  </p:tgtEl>
                                  <p:attrNameLst>
                                    <p:attrName>style.opacity</p:attrName>
                                  </p:attrNameLst>
                                </p:cBhvr>
                                <p:tavLst>
                                  <p:tav tm="0">
                                    <p:val>
                                      <p:fltVal val="0"/>
                                    </p:val>
                                  </p:tav>
                                  <p:tav tm="100000">
                                    <p:val>
                                      <p:fltVal val="1"/>
                                    </p:val>
                                  </p:tav>
                                </p:tavLst>
                              </p:anim>
                              <p:set>
                                <p:cBhvr>
                                  <p:cTn id="197" dur="1" fill="hold">
                                    <p:stCondLst>
                                      <p:cond delay="0"/>
                                    </p:stCondLst>
                                  </p:cTn>
                                  <p:tgtEl>
                                    <p:spTgt spid="41"/>
                                  </p:tgtEl>
                                  <p:attrNameLst>
                                    <p:attrName>style.visibility</p:attrName>
                                  </p:attrNameLst>
                                </p:cBhvr>
                                <p:to>
                                  <p:strVal val="visible"/>
                                </p:to>
                              </p:set>
                              <p:anim calcmode="lin" valueType="num">
                                <p:cBhvr>
                                  <p:cTn id="198" dur="500"/>
                                  <p:tgtEl>
                                    <p:spTgt spid="41"/>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Security Controls Are Embedded Across the Platform</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Security is not treated as a separate add-on. It is built into access, verification, logging, resilience, and compliance.</a:t>
            </a:r>
            <a:endParaRPr lang="en-US" sz="1050" dirty="0"/>
          </a:p>
        </p:txBody>
      </p:sp>
      <p:sp>
        <p:nvSpPr>
          <p:cNvPr id="5" name="Shape 3"/>
          <p:cNvSpPr/>
          <p:nvPr/>
        </p:nvSpPr>
        <p:spPr>
          <a:xfrm>
            <a:off x="80467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5097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070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RBAC</a:t>
            </a:r>
            <a:endParaRPr lang="en-US" sz="850" dirty="0"/>
          </a:p>
        </p:txBody>
      </p:sp>
      <p:sp>
        <p:nvSpPr>
          <p:cNvPr id="8" name="Text 6"/>
          <p:cNvSpPr/>
          <p:nvPr/>
        </p:nvSpPr>
        <p:spPr>
          <a:xfrm>
            <a:off x="96926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Granular access control</a:t>
            </a:r>
            <a:endParaRPr lang="en-US" sz="1400" dirty="0"/>
          </a:p>
        </p:txBody>
      </p:sp>
      <p:sp>
        <p:nvSpPr>
          <p:cNvPr id="9" name="Text 7"/>
          <p:cNvSpPr/>
          <p:nvPr/>
        </p:nvSpPr>
        <p:spPr>
          <a:xfrm>
            <a:off x="96926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Permissions now map more precisely to each user role.</a:t>
            </a:r>
            <a:endParaRPr lang="en-US" sz="950" dirty="0"/>
          </a:p>
        </p:txBody>
      </p:sp>
      <p:sp>
        <p:nvSpPr>
          <p:cNvPr id="10" name="Shape 8"/>
          <p:cNvSpPr/>
          <p:nvPr/>
        </p:nvSpPr>
        <p:spPr>
          <a:xfrm>
            <a:off x="391363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9"/>
          <p:cNvSpPr/>
          <p:nvPr/>
        </p:nvSpPr>
        <p:spPr>
          <a:xfrm>
            <a:off x="405993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12" name="Text 10"/>
          <p:cNvSpPr/>
          <p:nvPr/>
        </p:nvSpPr>
        <p:spPr>
          <a:xfrm>
            <a:off x="416966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MFA</a:t>
            </a:r>
            <a:endParaRPr lang="en-US" sz="850" dirty="0"/>
          </a:p>
        </p:txBody>
      </p:sp>
      <p:sp>
        <p:nvSpPr>
          <p:cNvPr id="13" name="Text 11"/>
          <p:cNvSpPr/>
          <p:nvPr/>
        </p:nvSpPr>
        <p:spPr>
          <a:xfrm>
            <a:off x="407822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Secondary verification</a:t>
            </a:r>
            <a:endParaRPr lang="en-US" sz="1400" dirty="0"/>
          </a:p>
        </p:txBody>
      </p:sp>
      <p:sp>
        <p:nvSpPr>
          <p:cNvPr id="14" name="Text 12"/>
          <p:cNvSpPr/>
          <p:nvPr/>
        </p:nvSpPr>
        <p:spPr>
          <a:xfrm>
            <a:off x="407822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Authentication is strengthened beyond password-only access.</a:t>
            </a:r>
            <a:endParaRPr lang="en-US" sz="950" dirty="0"/>
          </a:p>
        </p:txBody>
      </p:sp>
      <p:sp>
        <p:nvSpPr>
          <p:cNvPr id="15" name="Shape 13"/>
          <p:cNvSpPr/>
          <p:nvPr/>
        </p:nvSpPr>
        <p:spPr>
          <a:xfrm>
            <a:off x="702259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6" name="Shape 14"/>
          <p:cNvSpPr/>
          <p:nvPr/>
        </p:nvSpPr>
        <p:spPr>
          <a:xfrm>
            <a:off x="716889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17" name="Text 15"/>
          <p:cNvSpPr/>
          <p:nvPr/>
        </p:nvSpPr>
        <p:spPr>
          <a:xfrm>
            <a:off x="727862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AUDIT</a:t>
            </a:r>
            <a:endParaRPr lang="en-US" sz="850" dirty="0"/>
          </a:p>
        </p:txBody>
      </p:sp>
      <p:sp>
        <p:nvSpPr>
          <p:cNvPr id="18" name="Text 16"/>
          <p:cNvSpPr/>
          <p:nvPr/>
        </p:nvSpPr>
        <p:spPr>
          <a:xfrm>
            <a:off x="718718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Immutable logging</a:t>
            </a:r>
            <a:endParaRPr lang="en-US" sz="1400" dirty="0"/>
          </a:p>
        </p:txBody>
      </p:sp>
      <p:sp>
        <p:nvSpPr>
          <p:cNvPr id="19" name="Text 17"/>
          <p:cNvSpPr/>
          <p:nvPr/>
        </p:nvSpPr>
        <p:spPr>
          <a:xfrm>
            <a:off x="718718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Critical user actions are permanently recorded for traceability.</a:t>
            </a:r>
            <a:endParaRPr lang="en-US" sz="950" dirty="0"/>
          </a:p>
        </p:txBody>
      </p:sp>
      <p:sp>
        <p:nvSpPr>
          <p:cNvPr id="20" name="Shape 18"/>
          <p:cNvSpPr/>
          <p:nvPr/>
        </p:nvSpPr>
        <p:spPr>
          <a:xfrm>
            <a:off x="2359152" y="3767328"/>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Shape 19"/>
          <p:cNvSpPr/>
          <p:nvPr/>
        </p:nvSpPr>
        <p:spPr>
          <a:xfrm>
            <a:off x="2505456" y="3913632"/>
            <a:ext cx="1417320" cy="310896"/>
          </a:xfrm>
          <a:prstGeom prst="roundRect">
            <a:avLst>
              <a:gd name="adj" fmla="val 23529"/>
            </a:avLst>
          </a:prstGeom>
          <a:solidFill>
            <a:srgbClr val="EAF2FF"/>
          </a:solidFill>
          <a:ln w="12700">
            <a:solidFill>
              <a:srgbClr val="EAF2FF">
                <a:alpha val="0"/>
              </a:srgbClr>
            </a:solidFill>
            <a:prstDash val="solid"/>
          </a:ln>
        </p:spPr>
      </p:sp>
      <p:sp>
        <p:nvSpPr>
          <p:cNvPr id="22" name="Text 20"/>
          <p:cNvSpPr/>
          <p:nvPr/>
        </p:nvSpPr>
        <p:spPr>
          <a:xfrm>
            <a:off x="2615184" y="396392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DEFENSE</a:t>
            </a:r>
            <a:endParaRPr lang="en-US" sz="850" dirty="0"/>
          </a:p>
        </p:txBody>
      </p:sp>
      <p:sp>
        <p:nvSpPr>
          <p:cNvPr id="23" name="Text 21"/>
          <p:cNvSpPr/>
          <p:nvPr/>
        </p:nvSpPr>
        <p:spPr>
          <a:xfrm>
            <a:off x="2523744" y="4315968"/>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Rate limiting and DDoS protection</a:t>
            </a:r>
            <a:endParaRPr lang="en-US" sz="1400" dirty="0"/>
          </a:p>
        </p:txBody>
      </p:sp>
      <p:sp>
        <p:nvSpPr>
          <p:cNvPr id="24" name="Text 22"/>
          <p:cNvSpPr/>
          <p:nvPr/>
        </p:nvSpPr>
        <p:spPr>
          <a:xfrm>
            <a:off x="2523744" y="4718304"/>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The platform is better protected against abuse and malicious traffic.</a:t>
            </a:r>
            <a:endParaRPr lang="en-US" sz="950" dirty="0"/>
          </a:p>
        </p:txBody>
      </p:sp>
      <p:sp>
        <p:nvSpPr>
          <p:cNvPr id="25" name="Shape 23"/>
          <p:cNvSpPr/>
          <p:nvPr/>
        </p:nvSpPr>
        <p:spPr>
          <a:xfrm>
            <a:off x="5468112" y="3767328"/>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6" name="Shape 24"/>
          <p:cNvSpPr/>
          <p:nvPr/>
        </p:nvSpPr>
        <p:spPr>
          <a:xfrm>
            <a:off x="5614416" y="3913632"/>
            <a:ext cx="1417320" cy="310896"/>
          </a:xfrm>
          <a:prstGeom prst="roundRect">
            <a:avLst>
              <a:gd name="adj" fmla="val 23529"/>
            </a:avLst>
          </a:prstGeom>
          <a:solidFill>
            <a:srgbClr val="FFF1D6"/>
          </a:solidFill>
          <a:ln w="12700">
            <a:solidFill>
              <a:srgbClr val="FFF1D6">
                <a:alpha val="0"/>
              </a:srgbClr>
            </a:solidFill>
            <a:prstDash val="solid"/>
          </a:ln>
        </p:spPr>
      </p:sp>
      <p:sp>
        <p:nvSpPr>
          <p:cNvPr id="27" name="Text 25"/>
          <p:cNvSpPr/>
          <p:nvPr/>
        </p:nvSpPr>
        <p:spPr>
          <a:xfrm>
            <a:off x="5724144" y="396392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COMPLIANCE</a:t>
            </a:r>
            <a:endParaRPr lang="en-US" sz="850" dirty="0"/>
          </a:p>
        </p:txBody>
      </p:sp>
      <p:sp>
        <p:nvSpPr>
          <p:cNvPr id="28" name="Text 26"/>
          <p:cNvSpPr/>
          <p:nvPr/>
        </p:nvSpPr>
        <p:spPr>
          <a:xfrm>
            <a:off x="5632704" y="4315968"/>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GDPR and ISO 27001 alignment</a:t>
            </a:r>
            <a:endParaRPr lang="en-US" sz="1400" dirty="0"/>
          </a:p>
        </p:txBody>
      </p:sp>
      <p:sp>
        <p:nvSpPr>
          <p:cNvPr id="29" name="Text 27"/>
          <p:cNvSpPr/>
          <p:nvPr/>
        </p:nvSpPr>
        <p:spPr>
          <a:xfrm>
            <a:off x="5632704" y="4718304"/>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Privacy and security best practices are reinforced across modules.</a:t>
            </a:r>
            <a:endParaRPr lang="en-US" sz="950" dirty="0"/>
          </a:p>
        </p:txBody>
      </p:sp>
      <p:sp>
        <p:nvSpPr>
          <p:cNvPr id="30" name="Shape 28"/>
          <p:cNvSpPr/>
          <p:nvPr/>
        </p:nvSpPr>
        <p:spPr>
          <a:xfrm>
            <a:off x="9729216" y="1554480"/>
            <a:ext cx="1719072" cy="3968496"/>
          </a:xfrm>
          <a:prstGeom prst="roundRect">
            <a:avLst>
              <a:gd name="adj" fmla="val 6383"/>
            </a:avLst>
          </a:prstGeom>
          <a:solidFill>
            <a:srgbClr val="13233F"/>
          </a:solidFill>
          <a:ln w="12700">
            <a:solidFill>
              <a:srgbClr val="13233F"/>
            </a:solidFill>
            <a:prstDash val="solid"/>
          </a:ln>
          <a:effectLst>
            <a:outerShdw sx="100000" sy="100000" kx="0" ky="0" algn="bl" rotWithShape="0" blurRad="25400" dist="12700" dir="2700000">
              <a:srgbClr val="7C93B8">
                <a:alpha val="18000"/>
              </a:srgbClr>
            </a:outerShdw>
          </a:effectLst>
        </p:spPr>
      </p:sp>
      <p:sp>
        <p:nvSpPr>
          <p:cNvPr id="31" name="Text 29"/>
          <p:cNvSpPr/>
          <p:nvPr/>
        </p:nvSpPr>
        <p:spPr>
          <a:xfrm>
            <a:off x="9912096" y="1847088"/>
            <a:ext cx="1325880" cy="182880"/>
          </a:xfrm>
          <a:prstGeom prst="rect">
            <a:avLst/>
          </a:prstGeom>
          <a:noFill/>
          <a:ln/>
        </p:spPr>
        <p:txBody>
          <a:bodyPr wrap="square" lIns="0" tIns="0" rIns="0" bIns="0" rtlCol="0" anchor="ctr"/>
          <a:lstStyle/>
          <a:p>
            <a:pPr algn="ctr" indent="0" marL="0">
              <a:buNone/>
            </a:pPr>
            <a:r>
              <a:rPr lang="en-US" sz="880" b="1" dirty="0">
                <a:solidFill>
                  <a:srgbClr val="CFE0FF"/>
                </a:solidFill>
                <a:latin typeface="Liberation Mono" pitchFamily="34" charset="0"/>
                <a:ea typeface="Liberation Mono" pitchFamily="34" charset="-122"/>
                <a:cs typeface="Liberation Mono" pitchFamily="34" charset="-120"/>
              </a:rPr>
              <a:t>Platform effect</a:t>
            </a:r>
            <a:endParaRPr lang="en-US" sz="880" dirty="0"/>
          </a:p>
        </p:txBody>
      </p:sp>
      <p:sp>
        <p:nvSpPr>
          <p:cNvPr id="32" name="Text 30"/>
          <p:cNvSpPr/>
          <p:nvPr/>
        </p:nvSpPr>
        <p:spPr>
          <a:xfrm>
            <a:off x="9930384" y="2331720"/>
            <a:ext cx="1280160" cy="1920240"/>
          </a:xfrm>
          <a:prstGeom prst="rect">
            <a:avLst/>
          </a:prstGeom>
          <a:noFill/>
          <a:ln/>
        </p:spPr>
        <p:txBody>
          <a:bodyPr wrap="square" lIns="0" tIns="0" rIns="0" bIns="0" rtlCol="0" anchor="ct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Compliance</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Data protection</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Operational trust</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Lower cyber risk</a:t>
            </a:r>
            <a:endParaRPr lang="en-US" sz="1500" dirty="0"/>
          </a:p>
        </p:txBody>
      </p:sp>
      <p:sp>
        <p:nvSpPr>
          <p:cNvPr id="33" name="Shape 31"/>
          <p:cNvSpPr/>
          <p:nvPr/>
        </p:nvSpPr>
        <p:spPr>
          <a:xfrm>
            <a:off x="548640" y="6446520"/>
            <a:ext cx="11064240" cy="0"/>
          </a:xfrm>
          <a:prstGeom prst="line">
            <a:avLst/>
          </a:prstGeom>
          <a:noFill/>
          <a:ln w="12700">
            <a:solidFill>
              <a:srgbClr val="C8D8F0"/>
            </a:solidFill>
            <a:prstDash val="solid"/>
          </a:ln>
        </p:spPr>
      </p:sp>
      <p:sp>
        <p:nvSpPr>
          <p:cNvPr id="34" name="Text 32"/>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5" name="Text 33"/>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8</a:t>
            </a:r>
            <a:endParaRPr lang="en-US" sz="850" dirty="0"/>
          </a:p>
        </p:txBody>
      </p:sp>
      <p:sp>
        <p:nvSpPr>
          <p:cNvPr id="38"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39"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45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60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5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5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5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500"/>
                                  <p:tgtEl>
                                    <p:spTgt spid="9"/>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750"/>
                            </p:stCondLst>
                            <p:childTnLst>
                              <p:set>
                                <p:cBhvr>
                                  <p:cTn id="122" dur="1" fill="hold">
                                    <p:stCondLst>
                                      <p:cond delay="0"/>
                                    </p:stCondLst>
                                  </p:cTn>
                                  <p:tgtEl>
                                    <p:spTgt spid="10"/>
                                  </p:tgtEl>
                                  <p:attrNameLst>
                                    <p:attrName>style.visibility</p:attrName>
                                  </p:attrNameLst>
                                </p:cBhvr>
                                <p:to>
                                  <p:strVal val="visible"/>
                                </p:to>
                              </p:set>
                              <p:anim calcmode="lin" valueType="num">
                                <p:cBhvr>
                                  <p:cTn id="123" dur="500"/>
                                  <p:tgtEl>
                                    <p:spTgt spid="10"/>
                                  </p:tgtEl>
                                  <p:attrNameLst>
                                    <p:attrName>style.opacity</p:attrName>
                                  </p:attrNameLst>
                                </p:cBhvr>
                                <p:tavLst>
                                  <p:tav tm="0">
                                    <p:val>
                                      <p:fltVal val="0"/>
                                    </p:val>
                                  </p:tav>
                                  <p:tav tm="100000">
                                    <p:val>
                                      <p:fltVal val="1"/>
                                    </p:val>
                                  </p:tav>
                                </p:tavLst>
                              </p:anim>
                              <p:set>
                                <p:cBhvr>
                                  <p:cTn id="124" dur="1" fill="hold">
                                    <p:stCondLst>
                                      <p:cond delay="0"/>
                                    </p:stCondLst>
                                  </p:cTn>
                                  <p:tgtEl>
                                    <p:spTgt spid="11"/>
                                  </p:tgtEl>
                                  <p:attrNameLst>
                                    <p:attrName>style.visibility</p:attrName>
                                  </p:attrNameLst>
                                </p:cBhvr>
                                <p:to>
                                  <p:strVal val="visible"/>
                                </p:to>
                              </p:set>
                              <p:anim calcmode="lin" valueType="num">
                                <p:cBhvr>
                                  <p:cTn id="125" dur="500"/>
                                  <p:tgtEl>
                                    <p:spTgt spid="11"/>
                                  </p:tgtEl>
                                  <p:attrNameLst>
                                    <p:attrName>style.opacity</p:attrName>
                                  </p:attrNameLst>
                                </p:cBhvr>
                                <p:tavLst>
                                  <p:tav tm="0">
                                    <p:val>
                                      <p:fltVal val="0"/>
                                    </p:val>
                                  </p:tav>
                                  <p:tav tm="100000">
                                    <p:val>
                                      <p:fltVal val="1"/>
                                    </p:val>
                                  </p:tav>
                                </p:tavLst>
                              </p:anim>
                              <p:set>
                                <p:cBhvr>
                                  <p:cTn id="126" dur="1" fill="hold">
                                    <p:stCondLst>
                                      <p:cond delay="0"/>
                                    </p:stCondLst>
                                  </p:cTn>
                                  <p:tgtEl>
                                    <p:spTgt spid="12"/>
                                  </p:tgtEl>
                                  <p:attrNameLst>
                                    <p:attrName>style.visibility</p:attrName>
                                  </p:attrNameLst>
                                </p:cBhvr>
                                <p:to>
                                  <p:strVal val="visible"/>
                                </p:to>
                              </p:set>
                              <p:anim calcmode="lin" valueType="num">
                                <p:cBhvr>
                                  <p:cTn id="127" dur="500"/>
                                  <p:tgtEl>
                                    <p:spTgt spid="12"/>
                                  </p:tgtEl>
                                  <p:attrNameLst>
                                    <p:attrName>style.opacity</p:attrName>
                                  </p:attrNameLst>
                                </p:cBhvr>
                                <p:tavLst>
                                  <p:tav tm="0">
                                    <p:val>
                                      <p:fltVal val="0"/>
                                    </p:val>
                                  </p:tav>
                                  <p:tav tm="100000">
                                    <p:val>
                                      <p:fltVal val="1"/>
                                    </p:val>
                                  </p:tav>
                                </p:tavLst>
                              </p:anim>
                              <p:set>
                                <p:cBhvr>
                                  <p:cTn id="128" dur="1" fill="hold">
                                    <p:stCondLst>
                                      <p:cond delay="0"/>
                                    </p:stCondLst>
                                  </p:cTn>
                                  <p:tgtEl>
                                    <p:spTgt spid="13"/>
                                  </p:tgtEl>
                                  <p:attrNameLst>
                                    <p:attrName>style.visibility</p:attrName>
                                  </p:attrNameLst>
                                </p:cBhvr>
                                <p:to>
                                  <p:strVal val="visible"/>
                                </p:to>
                              </p:set>
                              <p:anim calcmode="lin" valueType="num">
                                <p:cBhvr>
                                  <p:cTn id="129" dur="500"/>
                                  <p:tgtEl>
                                    <p:spTgt spid="13"/>
                                  </p:tgtEl>
                                  <p:attrNameLst>
                                    <p:attrName>style.opacity</p:attrName>
                                  </p:attrNameLst>
                                </p:cBhvr>
                                <p:tavLst>
                                  <p:tav tm="0">
                                    <p:val>
                                      <p:fltVal val="0"/>
                                    </p:val>
                                  </p:tav>
                                  <p:tav tm="100000">
                                    <p:val>
                                      <p:fltVal val="1"/>
                                    </p:val>
                                  </p:tav>
                                </p:tavLst>
                              </p:anim>
                              <p:set>
                                <p:cBhvr>
                                  <p:cTn id="130" dur="1" fill="hold">
                                    <p:stCondLst>
                                      <p:cond delay="0"/>
                                    </p:stCondLst>
                                  </p:cTn>
                                  <p:tgtEl>
                                    <p:spTgt spid="14"/>
                                  </p:tgtEl>
                                  <p:attrNameLst>
                                    <p:attrName>style.visibility</p:attrName>
                                  </p:attrNameLst>
                                </p:cBhvr>
                                <p:to>
                                  <p:strVal val="visible"/>
                                </p:to>
                              </p:set>
                              <p:anim calcmode="lin" valueType="num">
                                <p:cBhvr>
                                  <p:cTn id="131" dur="500"/>
                                  <p:tgtEl>
                                    <p:spTgt spid="14"/>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90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p:tgtEl>
                                    <p:spTgt spid="15"/>
                                  </p:tgtEl>
                                  <p:attrNameLst>
                                    <p:attrName>style.opacity</p:attrName>
                                  </p:attrNameLst>
                                </p:cBhvr>
                                <p:tavLst>
                                  <p:tav tm="0">
                                    <p:val>
                                      <p:fltVal val="0"/>
                                    </p:val>
                                  </p:tav>
                                  <p:tav tm="100000">
                                    <p:val>
                                      <p:fltVal val="1"/>
                                    </p:val>
                                  </p:tav>
                                </p:tavLst>
                              </p:anim>
                              <p:set>
                                <p:cBhvr>
                                  <p:cTn id="135" dur="1" fill="hold">
                                    <p:stCondLst>
                                      <p:cond delay="0"/>
                                    </p:stCondLst>
                                  </p:cTn>
                                  <p:tgtEl>
                                    <p:spTgt spid="16"/>
                                  </p:tgtEl>
                                  <p:attrNameLst>
                                    <p:attrName>style.visibility</p:attrName>
                                  </p:attrNameLst>
                                </p:cBhvr>
                                <p:to>
                                  <p:strVal val="visible"/>
                                </p:to>
                              </p:set>
                              <p:anim calcmode="lin" valueType="num">
                                <p:cBhvr>
                                  <p:cTn id="136" dur="500"/>
                                  <p:tgtEl>
                                    <p:spTgt spid="16"/>
                                  </p:tgtEl>
                                  <p:attrNameLst>
                                    <p:attrName>style.opacity</p:attrName>
                                  </p:attrNameLst>
                                </p:cBhvr>
                                <p:tavLst>
                                  <p:tav tm="0">
                                    <p:val>
                                      <p:fltVal val="0"/>
                                    </p:val>
                                  </p:tav>
                                  <p:tav tm="100000">
                                    <p:val>
                                      <p:fltVal val="1"/>
                                    </p:val>
                                  </p:tav>
                                </p:tavLst>
                              </p:anim>
                              <p:set>
                                <p:cBhvr>
                                  <p:cTn id="137" dur="1" fill="hold">
                                    <p:stCondLst>
                                      <p:cond delay="0"/>
                                    </p:stCondLst>
                                  </p:cTn>
                                  <p:tgtEl>
                                    <p:spTgt spid="17"/>
                                  </p:tgtEl>
                                  <p:attrNameLst>
                                    <p:attrName>style.visibility</p:attrName>
                                  </p:attrNameLst>
                                </p:cBhvr>
                                <p:to>
                                  <p:strVal val="visible"/>
                                </p:to>
                              </p:set>
                              <p:anim calcmode="lin" valueType="num">
                                <p:cBhvr>
                                  <p:cTn id="138" dur="500"/>
                                  <p:tgtEl>
                                    <p:spTgt spid="17"/>
                                  </p:tgtEl>
                                  <p:attrNameLst>
                                    <p:attrName>style.opacity</p:attrName>
                                  </p:attrNameLst>
                                </p:cBhvr>
                                <p:tavLst>
                                  <p:tav tm="0">
                                    <p:val>
                                      <p:fltVal val="0"/>
                                    </p:val>
                                  </p:tav>
                                  <p:tav tm="100000">
                                    <p:val>
                                      <p:fltVal val="1"/>
                                    </p:val>
                                  </p:tav>
                                </p:tavLst>
                              </p:anim>
                              <p:set>
                                <p:cBhvr>
                                  <p:cTn id="139" dur="1" fill="hold">
                                    <p:stCondLst>
                                      <p:cond delay="0"/>
                                    </p:stCondLst>
                                  </p:cTn>
                                  <p:tgtEl>
                                    <p:spTgt spid="18"/>
                                  </p:tgtEl>
                                  <p:attrNameLst>
                                    <p:attrName>style.visibility</p:attrName>
                                  </p:attrNameLst>
                                </p:cBhvr>
                                <p:to>
                                  <p:strVal val="visible"/>
                                </p:to>
                              </p:set>
                              <p:anim calcmode="lin" valueType="num">
                                <p:cBhvr>
                                  <p:cTn id="140" dur="500"/>
                                  <p:tgtEl>
                                    <p:spTgt spid="18"/>
                                  </p:tgtEl>
                                  <p:attrNameLst>
                                    <p:attrName>style.opacity</p:attrName>
                                  </p:attrNameLst>
                                </p:cBhvr>
                                <p:tavLst>
                                  <p:tav tm="0">
                                    <p:val>
                                      <p:fltVal val="0"/>
                                    </p:val>
                                  </p:tav>
                                  <p:tav tm="100000">
                                    <p:val>
                                      <p:fltVal val="1"/>
                                    </p:val>
                                  </p:tav>
                                </p:tavLst>
                              </p:anim>
                              <p:set>
                                <p:cBhvr>
                                  <p:cTn id="141" dur="1" fill="hold">
                                    <p:stCondLst>
                                      <p:cond delay="0"/>
                                    </p:stCondLst>
                                  </p:cTn>
                                  <p:tgtEl>
                                    <p:spTgt spid="19"/>
                                  </p:tgtEl>
                                  <p:attrNameLst>
                                    <p:attrName>style.visibility</p:attrName>
                                  </p:attrNameLst>
                                </p:cBhvr>
                                <p:to>
                                  <p:strVal val="visible"/>
                                </p:to>
                              </p:set>
                              <p:anim calcmode="lin" valueType="num">
                                <p:cBhvr>
                                  <p:cTn id="142" dur="500"/>
                                  <p:tgtEl>
                                    <p:spTgt spid="19"/>
                                  </p:tgtEl>
                                  <p:attrNameLst>
                                    <p:attrName>style.opacity</p:attrName>
                                  </p:attrNameLst>
                                </p:cBhvr>
                                <p:tavLst>
                                  <p:tav tm="0">
                                    <p:val>
                                      <p:fltVal val="0"/>
                                    </p:val>
                                  </p:tav>
                                  <p:tav tm="100000">
                                    <p:val>
                                      <p:fltVal val="1"/>
                                    </p:val>
                                  </p:tav>
                                </p:tavLst>
                              </p:anim>
                            </p:childTnLst>
                          </p:cTn>
                        </p:par>
                        <p:par>
                          <p:cTn id="143" presetID="10" presetClass="entr" presetSubtype="0" fill="hold" grpId="0" nodeType="afterEffect">
                            <p:stCondLst>
                              <p:cond delay="1050"/>
                            </p:stCondLst>
                            <p:childTnLst>
                              <p:set>
                                <p:cBhvr>
                                  <p:cTn id="144" dur="1" fill="hold">
                                    <p:stCondLst>
                                      <p:cond delay="0"/>
                                    </p:stCondLst>
                                  </p:cTn>
                                  <p:tgtEl>
                                    <p:spTgt spid="20"/>
                                  </p:tgtEl>
                                  <p:attrNameLst>
                                    <p:attrName>style.visibility</p:attrName>
                                  </p:attrNameLst>
                                </p:cBhvr>
                                <p:to>
                                  <p:strVal val="visible"/>
                                </p:to>
                              </p:set>
                              <p:anim calcmode="lin" valueType="num">
                                <p:cBhvr>
                                  <p:cTn id="145" dur="500"/>
                                  <p:tgtEl>
                                    <p:spTgt spid="20"/>
                                  </p:tgtEl>
                                  <p:attrNameLst>
                                    <p:attrName>style.opacity</p:attrName>
                                  </p:attrNameLst>
                                </p:cBhvr>
                                <p:tavLst>
                                  <p:tav tm="0">
                                    <p:val>
                                      <p:fltVal val="0"/>
                                    </p:val>
                                  </p:tav>
                                  <p:tav tm="100000">
                                    <p:val>
                                      <p:fltVal val="1"/>
                                    </p:val>
                                  </p:tav>
                                </p:tavLst>
                              </p:anim>
                              <p:set>
                                <p:cBhvr>
                                  <p:cTn id="146" dur="1" fill="hold">
                                    <p:stCondLst>
                                      <p:cond delay="0"/>
                                    </p:stCondLst>
                                  </p:cTn>
                                  <p:tgtEl>
                                    <p:spTgt spid="21"/>
                                  </p:tgtEl>
                                  <p:attrNameLst>
                                    <p:attrName>style.visibility</p:attrName>
                                  </p:attrNameLst>
                                </p:cBhvr>
                                <p:to>
                                  <p:strVal val="visible"/>
                                </p:to>
                              </p:set>
                              <p:anim calcmode="lin" valueType="num">
                                <p:cBhvr>
                                  <p:cTn id="147" dur="500"/>
                                  <p:tgtEl>
                                    <p:spTgt spid="21"/>
                                  </p:tgtEl>
                                  <p:attrNameLst>
                                    <p:attrName>style.opacity</p:attrName>
                                  </p:attrNameLst>
                                </p:cBhvr>
                                <p:tavLst>
                                  <p:tav tm="0">
                                    <p:val>
                                      <p:fltVal val="0"/>
                                    </p:val>
                                  </p:tav>
                                  <p:tav tm="100000">
                                    <p:val>
                                      <p:fltVal val="1"/>
                                    </p:val>
                                  </p:tav>
                                </p:tavLst>
                              </p:anim>
                              <p:set>
                                <p:cBhvr>
                                  <p:cTn id="148" dur="1" fill="hold">
                                    <p:stCondLst>
                                      <p:cond delay="0"/>
                                    </p:stCondLst>
                                  </p:cTn>
                                  <p:tgtEl>
                                    <p:spTgt spid="22"/>
                                  </p:tgtEl>
                                  <p:attrNameLst>
                                    <p:attrName>style.visibility</p:attrName>
                                  </p:attrNameLst>
                                </p:cBhvr>
                                <p:to>
                                  <p:strVal val="visible"/>
                                </p:to>
                              </p:set>
                              <p:anim calcmode="lin" valueType="num">
                                <p:cBhvr>
                                  <p:cTn id="149" dur="500"/>
                                  <p:tgtEl>
                                    <p:spTgt spid="22"/>
                                  </p:tgtEl>
                                  <p:attrNameLst>
                                    <p:attrName>style.opacity</p:attrName>
                                  </p:attrNameLst>
                                </p:cBhvr>
                                <p:tavLst>
                                  <p:tav tm="0">
                                    <p:val>
                                      <p:fltVal val="0"/>
                                    </p:val>
                                  </p:tav>
                                  <p:tav tm="100000">
                                    <p:val>
                                      <p:fltVal val="1"/>
                                    </p:val>
                                  </p:tav>
                                </p:tavLst>
                              </p:anim>
                              <p:set>
                                <p:cBhvr>
                                  <p:cTn id="150" dur="1" fill="hold">
                                    <p:stCondLst>
                                      <p:cond delay="0"/>
                                    </p:stCondLst>
                                  </p:cTn>
                                  <p:tgtEl>
                                    <p:spTgt spid="23"/>
                                  </p:tgtEl>
                                  <p:attrNameLst>
                                    <p:attrName>style.visibility</p:attrName>
                                  </p:attrNameLst>
                                </p:cBhvr>
                                <p:to>
                                  <p:strVal val="visible"/>
                                </p:to>
                              </p:set>
                              <p:anim calcmode="lin" valueType="num">
                                <p:cBhvr>
                                  <p:cTn id="151" dur="500"/>
                                  <p:tgtEl>
                                    <p:spTgt spid="23"/>
                                  </p:tgtEl>
                                  <p:attrNameLst>
                                    <p:attrName>style.opacity</p:attrName>
                                  </p:attrNameLst>
                                </p:cBhvr>
                                <p:tavLst>
                                  <p:tav tm="0">
                                    <p:val>
                                      <p:fltVal val="0"/>
                                    </p:val>
                                  </p:tav>
                                  <p:tav tm="100000">
                                    <p:val>
                                      <p:fltVal val="1"/>
                                    </p:val>
                                  </p:tav>
                                </p:tavLst>
                              </p:anim>
                              <p:set>
                                <p:cBhvr>
                                  <p:cTn id="152" dur="1" fill="hold">
                                    <p:stCondLst>
                                      <p:cond delay="0"/>
                                    </p:stCondLst>
                                  </p:cTn>
                                  <p:tgtEl>
                                    <p:spTgt spid="24"/>
                                  </p:tgtEl>
                                  <p:attrNameLst>
                                    <p:attrName>style.visibility</p:attrName>
                                  </p:attrNameLst>
                                </p:cBhvr>
                                <p:to>
                                  <p:strVal val="visible"/>
                                </p:to>
                              </p:set>
                              <p:anim calcmode="lin" valueType="num">
                                <p:cBhvr>
                                  <p:cTn id="153" dur="500"/>
                                  <p:tgtEl>
                                    <p:spTgt spid="24"/>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200"/>
                            </p:stCondLst>
                            <p:childTnLst>
                              <p:set>
                                <p:cBhvr>
                                  <p:cTn id="155" dur="1" fill="hold">
                                    <p:stCondLst>
                                      <p:cond delay="0"/>
                                    </p:stCondLst>
                                  </p:cTn>
                                  <p:tgtEl>
                                    <p:spTgt spid="25"/>
                                  </p:tgtEl>
                                  <p:attrNameLst>
                                    <p:attrName>style.visibility</p:attrName>
                                  </p:attrNameLst>
                                </p:cBhvr>
                                <p:to>
                                  <p:strVal val="visible"/>
                                </p:to>
                              </p:set>
                              <p:anim calcmode="lin" valueType="num">
                                <p:cBhvr>
                                  <p:cTn id="156" dur="500"/>
                                  <p:tgtEl>
                                    <p:spTgt spid="25"/>
                                  </p:tgtEl>
                                  <p:attrNameLst>
                                    <p:attrName>style.opacity</p:attrName>
                                  </p:attrNameLst>
                                </p:cBhvr>
                                <p:tavLst>
                                  <p:tav tm="0">
                                    <p:val>
                                      <p:fltVal val="0"/>
                                    </p:val>
                                  </p:tav>
                                  <p:tav tm="100000">
                                    <p:val>
                                      <p:fltVal val="1"/>
                                    </p:val>
                                  </p:tav>
                                </p:tavLst>
                              </p:anim>
                              <p:set>
                                <p:cBhvr>
                                  <p:cTn id="157" dur="1" fill="hold">
                                    <p:stCondLst>
                                      <p:cond delay="0"/>
                                    </p:stCondLst>
                                  </p:cTn>
                                  <p:tgtEl>
                                    <p:spTgt spid="26"/>
                                  </p:tgtEl>
                                  <p:attrNameLst>
                                    <p:attrName>style.visibility</p:attrName>
                                  </p:attrNameLst>
                                </p:cBhvr>
                                <p:to>
                                  <p:strVal val="visible"/>
                                </p:to>
                              </p:set>
                              <p:anim calcmode="lin" valueType="num">
                                <p:cBhvr>
                                  <p:cTn id="158" dur="500"/>
                                  <p:tgtEl>
                                    <p:spTgt spid="26"/>
                                  </p:tgtEl>
                                  <p:attrNameLst>
                                    <p:attrName>style.opacity</p:attrName>
                                  </p:attrNameLst>
                                </p:cBhvr>
                                <p:tavLst>
                                  <p:tav tm="0">
                                    <p:val>
                                      <p:fltVal val="0"/>
                                    </p:val>
                                  </p:tav>
                                  <p:tav tm="100000">
                                    <p:val>
                                      <p:fltVal val="1"/>
                                    </p:val>
                                  </p:tav>
                                </p:tavLst>
                              </p:anim>
                              <p:set>
                                <p:cBhvr>
                                  <p:cTn id="159" dur="1" fill="hold">
                                    <p:stCondLst>
                                      <p:cond delay="0"/>
                                    </p:stCondLst>
                                  </p:cTn>
                                  <p:tgtEl>
                                    <p:spTgt spid="27"/>
                                  </p:tgtEl>
                                  <p:attrNameLst>
                                    <p:attrName>style.visibility</p:attrName>
                                  </p:attrNameLst>
                                </p:cBhvr>
                                <p:to>
                                  <p:strVal val="visible"/>
                                </p:to>
                              </p:set>
                              <p:anim calcmode="lin" valueType="num">
                                <p:cBhvr>
                                  <p:cTn id="160" dur="500"/>
                                  <p:tgtEl>
                                    <p:spTgt spid="27"/>
                                  </p:tgtEl>
                                  <p:attrNameLst>
                                    <p:attrName>style.opacity</p:attrName>
                                  </p:attrNameLst>
                                </p:cBhvr>
                                <p:tavLst>
                                  <p:tav tm="0">
                                    <p:val>
                                      <p:fltVal val="0"/>
                                    </p:val>
                                  </p:tav>
                                  <p:tav tm="100000">
                                    <p:val>
                                      <p:fltVal val="1"/>
                                    </p:val>
                                  </p:tav>
                                </p:tavLst>
                              </p:anim>
                              <p:set>
                                <p:cBhvr>
                                  <p:cTn id="161" dur="1" fill="hold">
                                    <p:stCondLst>
                                      <p:cond delay="0"/>
                                    </p:stCondLst>
                                  </p:cTn>
                                  <p:tgtEl>
                                    <p:spTgt spid="28"/>
                                  </p:tgtEl>
                                  <p:attrNameLst>
                                    <p:attrName>style.visibility</p:attrName>
                                  </p:attrNameLst>
                                </p:cBhvr>
                                <p:to>
                                  <p:strVal val="visible"/>
                                </p:to>
                              </p:set>
                              <p:anim calcmode="lin" valueType="num">
                                <p:cBhvr>
                                  <p:cTn id="162" dur="500"/>
                                  <p:tgtEl>
                                    <p:spTgt spid="28"/>
                                  </p:tgtEl>
                                  <p:attrNameLst>
                                    <p:attrName>style.opacity</p:attrName>
                                  </p:attrNameLst>
                                </p:cBhvr>
                                <p:tavLst>
                                  <p:tav tm="0">
                                    <p:val>
                                      <p:fltVal val="0"/>
                                    </p:val>
                                  </p:tav>
                                  <p:tav tm="100000">
                                    <p:val>
                                      <p:fltVal val="1"/>
                                    </p:val>
                                  </p:tav>
                                </p:tavLst>
                              </p:anim>
                              <p:set>
                                <p:cBhvr>
                                  <p:cTn id="163" dur="1" fill="hold">
                                    <p:stCondLst>
                                      <p:cond delay="0"/>
                                    </p:stCondLst>
                                  </p:cTn>
                                  <p:tgtEl>
                                    <p:spTgt spid="29"/>
                                  </p:tgtEl>
                                  <p:attrNameLst>
                                    <p:attrName>style.visibility</p:attrName>
                                  </p:attrNameLst>
                                </p:cBhvr>
                                <p:to>
                                  <p:strVal val="visible"/>
                                </p:to>
                              </p:set>
                              <p:anim calcmode="lin" valueType="num">
                                <p:cBhvr>
                                  <p:cTn id="164" dur="500"/>
                                  <p:tgtEl>
                                    <p:spTgt spid="29"/>
                                  </p:tgtEl>
                                  <p:attrNameLst>
                                    <p:attrName>style.opacity</p:attrName>
                                  </p:attrNameLst>
                                </p:cBhvr>
                                <p:tavLst>
                                  <p:tav tm="0">
                                    <p:val>
                                      <p:fltVal val="0"/>
                                    </p:val>
                                  </p:tav>
                                  <p:tav tm="100000">
                                    <p:val>
                                      <p:fltVal val="1"/>
                                    </p:val>
                                  </p:tav>
                                </p:tavLst>
                              </p:anim>
                            </p:childTnLst>
                          </p:cTn>
                        </p:par>
                        <p:par>
                          <p:cTn id="165" presetID="10" presetClass="entr" presetSubtype="0" fill="hold" grpId="0" nodeType="afterEffect">
                            <p:stCondLst>
                              <p:cond delay="1350"/>
                            </p:stCondLst>
                            <p:childTnLst>
                              <p:set>
                                <p:cBhvr>
                                  <p:cTn id="166" dur="1" fill="hold">
                                    <p:stCondLst>
                                      <p:cond delay="0"/>
                                    </p:stCondLst>
                                  </p:cTn>
                                  <p:tgtEl>
                                    <p:spTgt spid="30"/>
                                  </p:tgtEl>
                                  <p:attrNameLst>
                                    <p:attrName>style.visibility</p:attrName>
                                  </p:attrNameLst>
                                </p:cBhvr>
                                <p:to>
                                  <p:strVal val="visible"/>
                                </p:to>
                              </p:set>
                              <p:anim calcmode="lin" valueType="num">
                                <p:cBhvr>
                                  <p:cTn id="167" dur="500"/>
                                  <p:tgtEl>
                                    <p:spTgt spid="30"/>
                                  </p:tgtEl>
                                  <p:attrNameLst>
                                    <p:attrName>style.opacity</p:attrName>
                                  </p:attrNameLst>
                                </p:cBhvr>
                                <p:tavLst>
                                  <p:tav tm="0">
                                    <p:val>
                                      <p:fltVal val="0"/>
                                    </p:val>
                                  </p:tav>
                                  <p:tav tm="100000">
                                    <p:val>
                                      <p:fltVal val="1"/>
                                    </p:val>
                                  </p:tav>
                                </p:tavLst>
                              </p:anim>
                              <p:set>
                                <p:cBhvr>
                                  <p:cTn id="168" dur="1" fill="hold">
                                    <p:stCondLst>
                                      <p:cond delay="0"/>
                                    </p:stCondLst>
                                  </p:cTn>
                                  <p:tgtEl>
                                    <p:spTgt spid="31"/>
                                  </p:tgtEl>
                                  <p:attrNameLst>
                                    <p:attrName>style.visibility</p:attrName>
                                  </p:attrNameLst>
                                </p:cBhvr>
                                <p:to>
                                  <p:strVal val="visible"/>
                                </p:to>
                              </p:set>
                              <p:anim calcmode="lin" valueType="num">
                                <p:cBhvr>
                                  <p:cTn id="169" dur="500"/>
                                  <p:tgtEl>
                                    <p:spTgt spid="31"/>
                                  </p:tgtEl>
                                  <p:attrNameLst>
                                    <p:attrName>style.opacity</p:attrName>
                                  </p:attrNameLst>
                                </p:cBhvr>
                                <p:tavLst>
                                  <p:tav tm="0">
                                    <p:val>
                                      <p:fltVal val="0"/>
                                    </p:val>
                                  </p:tav>
                                  <p:tav tm="100000">
                                    <p:val>
                                      <p:fltVal val="1"/>
                                    </p:val>
                                  </p:tav>
                                </p:tavLst>
                              </p:anim>
                              <p:set>
                                <p:cBhvr>
                                  <p:cTn id="170" dur="1" fill="hold">
                                    <p:stCondLst>
                                      <p:cond delay="0"/>
                                    </p:stCondLst>
                                  </p:cTn>
                                  <p:tgtEl>
                                    <p:spTgt spid="32"/>
                                  </p:tgtEl>
                                  <p:attrNameLst>
                                    <p:attrName>style.visibility</p:attrName>
                                  </p:attrNameLst>
                                </p:cBhvr>
                                <p:to>
                                  <p:strVal val="visible"/>
                                </p:to>
                              </p:set>
                              <p:anim calcmode="lin" valueType="num">
                                <p:cBhvr>
                                  <p:cTn id="171" dur="500"/>
                                  <p:tgtEl>
                                    <p:spTgt spid="32"/>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Analytics and Scalability Turn the Platform into an Enterprise Backbone</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This release strengthens both management insight and technical readiness for larger-scale usage.</a:t>
            </a:r>
            <a:endParaRPr lang="en-US" sz="1050" dirty="0"/>
          </a:p>
        </p:txBody>
      </p:sp>
      <p:sp>
        <p:nvSpPr>
          <p:cNvPr id="5" name="Shape 3"/>
          <p:cNvSpPr/>
          <p:nvPr/>
        </p:nvSpPr>
        <p:spPr>
          <a:xfrm>
            <a:off x="768096" y="1417320"/>
            <a:ext cx="5486400" cy="4526280"/>
          </a:xfrm>
          <a:prstGeom prst="roundRect">
            <a:avLst>
              <a:gd name="adj" fmla="val 242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60120" y="1609344"/>
            <a:ext cx="1572768"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9848" y="1659636"/>
            <a:ext cx="1353312"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ENHANCEMENT THEMES</a:t>
            </a:r>
            <a:endParaRPr lang="en-US" sz="850" dirty="0"/>
          </a:p>
        </p:txBody>
      </p:sp>
      <p:sp>
        <p:nvSpPr>
          <p:cNvPr id="8" name="Text 6"/>
          <p:cNvSpPr/>
          <p:nvPr/>
        </p:nvSpPr>
        <p:spPr>
          <a:xfrm>
            <a:off x="969264" y="1993392"/>
            <a:ext cx="4754880" cy="256032"/>
          </a:xfrm>
          <a:prstGeom prst="rect">
            <a:avLst/>
          </a:prstGeom>
          <a:noFill/>
          <a:ln/>
        </p:spPr>
        <p:txBody>
          <a:bodyPr wrap="square" lIns="0" tIns="0" rIns="0" bIns="0" rtlCol="0" anchor="ctr"/>
          <a:lstStyle/>
          <a:p>
            <a:pPr indent="0" marL="0">
              <a:buNone/>
            </a:pPr>
            <a:r>
              <a:rPr lang="en-US" sz="1020" dirty="0">
                <a:solidFill>
                  <a:srgbClr val="475569"/>
                </a:solidFill>
                <a:latin typeface="Liberation Sans" pitchFamily="34" charset="0"/>
                <a:ea typeface="Liberation Sans" pitchFamily="34" charset="-122"/>
                <a:cs typeface="Liberation Sans" pitchFamily="34" charset="-120"/>
              </a:rPr>
              <a:t>The report shows a broad spread of improvements, not just one isolated module upgrade.</a:t>
            </a:r>
            <a:endParaRPr lang="en-US" sz="1020" dirty="0"/>
          </a:p>
        </p:txBody>
      </p:sp>
      <p:graphicFrame>
        <p:nvGraphicFramePr>
          <p:cNvPr id="9" name="Chart 0" descr=""/>
          <p:cNvGraphicFramePr/>
          <p:nvPr/>
        </p:nvGraphicFramePr>
        <p:xfrm>
          <a:off x="932688" y="2395728"/>
          <a:ext cx="4983480" cy="30632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510528" y="1417320"/>
            <a:ext cx="4901184" cy="4526280"/>
          </a:xfrm>
          <a:prstGeom prst="roundRect">
            <a:avLst>
              <a:gd name="adj" fmla="val 2424"/>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8"/>
          <p:cNvSpPr/>
          <p:nvPr/>
        </p:nvSpPr>
        <p:spPr>
          <a:xfrm>
            <a:off x="6711696" y="1609344"/>
            <a:ext cx="1627632" cy="310896"/>
          </a:xfrm>
          <a:prstGeom prst="roundRect">
            <a:avLst>
              <a:gd name="adj" fmla="val 23529"/>
            </a:avLst>
          </a:prstGeom>
          <a:solidFill>
            <a:srgbClr val="EAF2FF"/>
          </a:solidFill>
          <a:ln w="12700">
            <a:solidFill>
              <a:srgbClr val="EAF2FF">
                <a:alpha val="0"/>
              </a:srgbClr>
            </a:solidFill>
            <a:prstDash val="solid"/>
          </a:ln>
        </p:spPr>
      </p:sp>
      <p:sp>
        <p:nvSpPr>
          <p:cNvPr id="12" name="Text 9"/>
          <p:cNvSpPr/>
          <p:nvPr/>
        </p:nvSpPr>
        <p:spPr>
          <a:xfrm>
            <a:off x="6821424" y="1659636"/>
            <a:ext cx="1408176"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ENTERPRISE READINESS</a:t>
            </a:r>
            <a:endParaRPr lang="en-US" sz="850" dirty="0"/>
          </a:p>
        </p:txBody>
      </p:sp>
      <p:sp>
        <p:nvSpPr>
          <p:cNvPr id="13" name="Shape 10"/>
          <p:cNvSpPr/>
          <p:nvPr/>
        </p:nvSpPr>
        <p:spPr>
          <a:xfrm>
            <a:off x="6748272" y="2057400"/>
            <a:ext cx="4370832"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14" name="Shape 11"/>
          <p:cNvSpPr/>
          <p:nvPr/>
        </p:nvSpPr>
        <p:spPr>
          <a:xfrm>
            <a:off x="6748272" y="2057400"/>
            <a:ext cx="4370832" cy="164592"/>
          </a:xfrm>
          <a:prstGeom prst="rect">
            <a:avLst/>
          </a:prstGeom>
          <a:solidFill>
            <a:srgbClr val="3B82F6"/>
          </a:solidFill>
          <a:ln w="12700">
            <a:solidFill>
              <a:srgbClr val="3B82F6">
                <a:alpha val="0"/>
              </a:srgbClr>
            </a:solidFill>
            <a:prstDash val="solid"/>
          </a:ln>
        </p:spPr>
      </p:sp>
      <p:sp>
        <p:nvSpPr>
          <p:cNvPr id="15" name="Text 12"/>
          <p:cNvSpPr/>
          <p:nvPr/>
        </p:nvSpPr>
        <p:spPr>
          <a:xfrm>
            <a:off x="6885432" y="2276856"/>
            <a:ext cx="409651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Insight layer</a:t>
            </a:r>
            <a:endParaRPr lang="en-US" sz="1350" dirty="0"/>
          </a:p>
        </p:txBody>
      </p:sp>
      <p:sp>
        <p:nvSpPr>
          <p:cNvPr id="16" name="Text 13"/>
          <p:cNvSpPr/>
          <p:nvPr/>
        </p:nvSpPr>
        <p:spPr>
          <a:xfrm>
            <a:off x="6885432" y="2514600"/>
            <a:ext cx="409651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Executive dashboards, predictive insight, KPI monitoring, department analytics, and financial reporting.</a:t>
            </a:r>
            <a:endParaRPr lang="en-US" sz="880" dirty="0"/>
          </a:p>
        </p:txBody>
      </p:sp>
      <p:sp>
        <p:nvSpPr>
          <p:cNvPr id="17" name="Shape 14"/>
          <p:cNvSpPr/>
          <p:nvPr/>
        </p:nvSpPr>
        <p:spPr>
          <a:xfrm>
            <a:off x="6748272" y="3310128"/>
            <a:ext cx="4370832"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8" name="Shape 15"/>
          <p:cNvSpPr/>
          <p:nvPr/>
        </p:nvSpPr>
        <p:spPr>
          <a:xfrm>
            <a:off x="6748272" y="3310128"/>
            <a:ext cx="4370832" cy="164592"/>
          </a:xfrm>
          <a:prstGeom prst="rect">
            <a:avLst/>
          </a:prstGeom>
          <a:solidFill>
            <a:srgbClr val="1E40AF"/>
          </a:solidFill>
          <a:ln w="12700">
            <a:solidFill>
              <a:srgbClr val="1E40AF">
                <a:alpha val="0"/>
              </a:srgbClr>
            </a:solidFill>
            <a:prstDash val="solid"/>
          </a:ln>
        </p:spPr>
      </p:sp>
      <p:sp>
        <p:nvSpPr>
          <p:cNvPr id="19" name="Text 16"/>
          <p:cNvSpPr/>
          <p:nvPr/>
        </p:nvSpPr>
        <p:spPr>
          <a:xfrm>
            <a:off x="6885432" y="3529584"/>
            <a:ext cx="409651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Performance layer</a:t>
            </a:r>
            <a:endParaRPr lang="en-US" sz="1350" dirty="0"/>
          </a:p>
        </p:txBody>
      </p:sp>
      <p:sp>
        <p:nvSpPr>
          <p:cNvPr id="20" name="Text 17"/>
          <p:cNvSpPr/>
          <p:nvPr/>
        </p:nvSpPr>
        <p:spPr>
          <a:xfrm>
            <a:off x="6885432" y="3767328"/>
            <a:ext cx="409651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Redis caching, PostgreSQL optimization, WebSockets, and connection pooling improve responsiveness.</a:t>
            </a:r>
            <a:endParaRPr lang="en-US" sz="880" dirty="0"/>
          </a:p>
        </p:txBody>
      </p:sp>
      <p:sp>
        <p:nvSpPr>
          <p:cNvPr id="21" name="Shape 18"/>
          <p:cNvSpPr/>
          <p:nvPr/>
        </p:nvSpPr>
        <p:spPr>
          <a:xfrm>
            <a:off x="6748272" y="4562856"/>
            <a:ext cx="4370832"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22" name="Shape 19"/>
          <p:cNvSpPr/>
          <p:nvPr/>
        </p:nvSpPr>
        <p:spPr>
          <a:xfrm>
            <a:off x="6748272" y="4562856"/>
            <a:ext cx="4370832" cy="164592"/>
          </a:xfrm>
          <a:prstGeom prst="rect">
            <a:avLst/>
          </a:prstGeom>
          <a:solidFill>
            <a:srgbClr val="F59E0B"/>
          </a:solidFill>
          <a:ln w="12700">
            <a:solidFill>
              <a:srgbClr val="F59E0B">
                <a:alpha val="0"/>
              </a:srgbClr>
            </a:solidFill>
            <a:prstDash val="solid"/>
          </a:ln>
        </p:spPr>
      </p:sp>
      <p:sp>
        <p:nvSpPr>
          <p:cNvPr id="23" name="Text 20"/>
          <p:cNvSpPr/>
          <p:nvPr/>
        </p:nvSpPr>
        <p:spPr>
          <a:xfrm>
            <a:off x="6885432" y="4782312"/>
            <a:ext cx="409651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Scale layer</a:t>
            </a:r>
            <a:endParaRPr lang="en-US" sz="1350" dirty="0"/>
          </a:p>
        </p:txBody>
      </p:sp>
      <p:sp>
        <p:nvSpPr>
          <p:cNvPr id="24" name="Text 21"/>
          <p:cNvSpPr/>
          <p:nvPr/>
        </p:nvSpPr>
        <p:spPr>
          <a:xfrm>
            <a:off x="6885432" y="5020056"/>
            <a:ext cx="409651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CDN-ready architecture and horizontal scaling support prepare the platform for larger adoption.</a:t>
            </a:r>
            <a:endParaRPr lang="en-US" sz="880" dirty="0"/>
          </a:p>
        </p:txBody>
      </p:sp>
      <p:sp>
        <p:nvSpPr>
          <p:cNvPr id="25" name="Text 22"/>
          <p:cNvSpPr/>
          <p:nvPr/>
        </p:nvSpPr>
        <p:spPr>
          <a:xfrm>
            <a:off x="6784848" y="5650992"/>
            <a:ext cx="4297680" cy="201168"/>
          </a:xfrm>
          <a:prstGeom prst="rect">
            <a:avLst/>
          </a:prstGeom>
          <a:noFill/>
          <a:ln/>
        </p:spPr>
        <p:txBody>
          <a:bodyPr wrap="square" lIns="0" tIns="0" rIns="0" bIns="0" rtlCol="0" anchor="ctr"/>
          <a:lstStyle/>
          <a:p>
            <a:pPr indent="0" marL="0">
              <a:buNone/>
            </a:pPr>
            <a:r>
              <a:rPr lang="en-US" sz="880" b="1" dirty="0">
                <a:solidFill>
                  <a:srgbClr val="1E40AF"/>
                </a:solidFill>
                <a:latin typeface="Liberation Mono" pitchFamily="34" charset="0"/>
                <a:ea typeface="Liberation Mono" pitchFamily="34" charset="-122"/>
                <a:cs typeface="Liberation Mono" pitchFamily="34" charset="-120"/>
              </a:rPr>
              <a:t>Documented outcome: readiness for more than 100,000 concurrent users.</a:t>
            </a:r>
            <a:endParaRPr lang="en-US" sz="880" dirty="0"/>
          </a:p>
        </p:txBody>
      </p:sp>
      <p:sp>
        <p:nvSpPr>
          <p:cNvPr id="26" name="Shape 23"/>
          <p:cNvSpPr/>
          <p:nvPr/>
        </p:nvSpPr>
        <p:spPr>
          <a:xfrm>
            <a:off x="548640" y="6446520"/>
            <a:ext cx="11064240" cy="0"/>
          </a:xfrm>
          <a:prstGeom prst="line">
            <a:avLst/>
          </a:prstGeom>
          <a:noFill/>
          <a:ln w="12700">
            <a:solidFill>
              <a:srgbClr val="C8D8F0"/>
            </a:solidFill>
            <a:prstDash val="solid"/>
          </a:ln>
        </p:spPr>
      </p:sp>
      <p:sp>
        <p:nvSpPr>
          <p:cNvPr id="27" name="Text 24"/>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28" name="Text 25"/>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9</a:t>
            </a:r>
            <a:endParaRPr lang="en-US" sz="850" dirty="0"/>
          </a:p>
        </p:txBody>
      </p:sp>
      <p:sp>
        <p:nvSpPr>
          <p:cNvPr id="31"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32" name="Swahilipot Logo"/>
          <p:cNvPicPr>
            <a:picLocks noChangeAspect="1"/>
          </p:cNvPicPr>
          <p:nvPr/>
        </p:nvPicPr>
        <p:blipFill>
          <a:blip r:embed="rId4"/>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6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7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8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9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7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81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childTnLst>
                          </p:cTn>
                        </p:par>
                        <p:par>
                          <p:cTn id="124" presetID="10" presetClass="entr" presetSubtype="0" fill="hold" grpId="0" nodeType="afterEffect">
                            <p:stCondLst>
                              <p:cond delay="920"/>
                            </p:stCondLst>
                            <p:childTnLst>
                              <p:set>
                                <p:cBhvr>
                                  <p:cTn id="125" dur="1" fill="hold">
                                    <p:stCondLst>
                                      <p:cond delay="0"/>
                                    </p:stCondLst>
                                  </p:cTn>
                                  <p:tgtEl>
                                    <p:spTgt spid="10"/>
                                  </p:tgtEl>
                                  <p:attrNameLst>
                                    <p:attrName>style.visibility</p:attrName>
                                  </p:attrNameLst>
                                </p:cBhvr>
                                <p:to>
                                  <p:strVal val="visible"/>
                                </p:to>
                              </p:set>
                              <p:anim calcmode="lin" valueType="num">
                                <p:cBhvr>
                                  <p:cTn id="126" dur="500"/>
                                  <p:tgtEl>
                                    <p:spTgt spid="10"/>
                                  </p:tgtEl>
                                  <p:attrNameLst>
                                    <p:attrName>style.opacity</p:attrName>
                                  </p:attrNameLst>
                                </p:cBhvr>
                                <p:tavLst>
                                  <p:tav tm="0">
                                    <p:val>
                                      <p:fltVal val="0"/>
                                    </p:val>
                                  </p:tav>
                                  <p:tav tm="100000">
                                    <p:val>
                                      <p:fltVal val="1"/>
                                    </p:val>
                                  </p:tav>
                                </p:tavLst>
                              </p:anim>
                            </p:childTnLst>
                          </p:cTn>
                        </p:par>
                        <p:par>
                          <p:cTn id="127" presetID="10" presetClass="entr" presetSubtype="0" fill="hold" grpId="0" nodeType="afterEffect">
                            <p:stCondLst>
                              <p:cond delay="1030"/>
                            </p:stCondLst>
                            <p:childTnLst>
                              <p:set>
                                <p:cBhvr>
                                  <p:cTn id="128" dur="1" fill="hold">
                                    <p:stCondLst>
                                      <p:cond delay="0"/>
                                    </p:stCondLst>
                                  </p:cTn>
                                  <p:tgtEl>
                                    <p:spTgt spid="11"/>
                                  </p:tgtEl>
                                  <p:attrNameLst>
                                    <p:attrName>style.visibility</p:attrName>
                                  </p:attrNameLst>
                                </p:cBhvr>
                                <p:to>
                                  <p:strVal val="visible"/>
                                </p:to>
                              </p:set>
                              <p:anim calcmode="lin" valueType="num">
                                <p:cBhvr>
                                  <p:cTn id="129" dur="500"/>
                                  <p:tgtEl>
                                    <p:spTgt spid="11"/>
                                  </p:tgtEl>
                                  <p:attrNameLst>
                                    <p:attrName>style.opacity</p:attrName>
                                  </p:attrNameLst>
                                </p:cBhvr>
                                <p:tavLst>
                                  <p:tav tm="0">
                                    <p:val>
                                      <p:fltVal val="0"/>
                                    </p:val>
                                  </p:tav>
                                  <p:tav tm="100000">
                                    <p:val>
                                      <p:fltVal val="1"/>
                                    </p:val>
                                  </p:tav>
                                </p:tavLst>
                              </p:anim>
                              <p:set>
                                <p:cBhvr>
                                  <p:cTn id="130" dur="1" fill="hold">
                                    <p:stCondLst>
                                      <p:cond delay="0"/>
                                    </p:stCondLst>
                                  </p:cTn>
                                  <p:tgtEl>
                                    <p:spTgt spid="12"/>
                                  </p:tgtEl>
                                  <p:attrNameLst>
                                    <p:attrName>style.visibility</p:attrName>
                                  </p:attrNameLst>
                                </p:cBhvr>
                                <p:to>
                                  <p:strVal val="visible"/>
                                </p:to>
                              </p:set>
                              <p:anim calcmode="lin" valueType="num">
                                <p:cBhvr>
                                  <p:cTn id="131" dur="500"/>
                                  <p:tgtEl>
                                    <p:spTgt spid="12"/>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1140"/>
                            </p:stCondLst>
                            <p:childTnLst>
                              <p:set>
                                <p:cBhvr>
                                  <p:cTn id="133" dur="1" fill="hold">
                                    <p:stCondLst>
                                      <p:cond delay="0"/>
                                    </p:stCondLst>
                                  </p:cTn>
                                  <p:tgtEl>
                                    <p:spTgt spid="13"/>
                                  </p:tgtEl>
                                  <p:attrNameLst>
                                    <p:attrName>style.visibility</p:attrName>
                                  </p:attrNameLst>
                                </p:cBhvr>
                                <p:to>
                                  <p:strVal val="visible"/>
                                </p:to>
                              </p:set>
                              <p:anim calcmode="lin" valueType="num">
                                <p:cBhvr>
                                  <p:cTn id="134" dur="500"/>
                                  <p:tgtEl>
                                    <p:spTgt spid="13"/>
                                  </p:tgtEl>
                                  <p:attrNameLst>
                                    <p:attrName>style.opacity</p:attrName>
                                  </p:attrNameLst>
                                </p:cBhvr>
                                <p:tavLst>
                                  <p:tav tm="0">
                                    <p:val>
                                      <p:fltVal val="0"/>
                                    </p:val>
                                  </p:tav>
                                  <p:tav tm="100000">
                                    <p:val>
                                      <p:fltVal val="1"/>
                                    </p:val>
                                  </p:tav>
                                </p:tavLst>
                              </p:anim>
                              <p:set>
                                <p:cBhvr>
                                  <p:cTn id="135" dur="1" fill="hold">
                                    <p:stCondLst>
                                      <p:cond delay="0"/>
                                    </p:stCondLst>
                                  </p:cTn>
                                  <p:tgtEl>
                                    <p:spTgt spid="14"/>
                                  </p:tgtEl>
                                  <p:attrNameLst>
                                    <p:attrName>style.visibility</p:attrName>
                                  </p:attrNameLst>
                                </p:cBhvr>
                                <p:to>
                                  <p:strVal val="visible"/>
                                </p:to>
                              </p:set>
                              <p:anim calcmode="lin" valueType="num">
                                <p:cBhvr>
                                  <p:cTn id="136" dur="500"/>
                                  <p:tgtEl>
                                    <p:spTgt spid="14"/>
                                  </p:tgtEl>
                                  <p:attrNameLst>
                                    <p:attrName>style.opacity</p:attrName>
                                  </p:attrNameLst>
                                </p:cBhvr>
                                <p:tavLst>
                                  <p:tav tm="0">
                                    <p:val>
                                      <p:fltVal val="0"/>
                                    </p:val>
                                  </p:tav>
                                  <p:tav tm="100000">
                                    <p:val>
                                      <p:fltVal val="1"/>
                                    </p:val>
                                  </p:tav>
                                </p:tavLst>
                              </p:anim>
                              <p:set>
                                <p:cBhvr>
                                  <p:cTn id="137" dur="1" fill="hold">
                                    <p:stCondLst>
                                      <p:cond delay="0"/>
                                    </p:stCondLst>
                                  </p:cTn>
                                  <p:tgtEl>
                                    <p:spTgt spid="15"/>
                                  </p:tgtEl>
                                  <p:attrNameLst>
                                    <p:attrName>style.visibility</p:attrName>
                                  </p:attrNameLst>
                                </p:cBhvr>
                                <p:to>
                                  <p:strVal val="visible"/>
                                </p:to>
                              </p:set>
                              <p:anim calcmode="lin" valueType="num">
                                <p:cBhvr>
                                  <p:cTn id="138" dur="500"/>
                                  <p:tgtEl>
                                    <p:spTgt spid="15"/>
                                  </p:tgtEl>
                                  <p:attrNameLst>
                                    <p:attrName>style.opacity</p:attrName>
                                  </p:attrNameLst>
                                </p:cBhvr>
                                <p:tavLst>
                                  <p:tav tm="0">
                                    <p:val>
                                      <p:fltVal val="0"/>
                                    </p:val>
                                  </p:tav>
                                  <p:tav tm="100000">
                                    <p:val>
                                      <p:fltVal val="1"/>
                                    </p:val>
                                  </p:tav>
                                </p:tavLst>
                              </p:anim>
                              <p:set>
                                <p:cBhvr>
                                  <p:cTn id="139" dur="1" fill="hold">
                                    <p:stCondLst>
                                      <p:cond delay="0"/>
                                    </p:stCondLst>
                                  </p:cTn>
                                  <p:tgtEl>
                                    <p:spTgt spid="16"/>
                                  </p:tgtEl>
                                  <p:attrNameLst>
                                    <p:attrName>style.visibility</p:attrName>
                                  </p:attrNameLst>
                                </p:cBhvr>
                                <p:to>
                                  <p:strVal val="visible"/>
                                </p:to>
                              </p:set>
                              <p:anim calcmode="lin" valueType="num">
                                <p:cBhvr>
                                  <p:cTn id="140" dur="500"/>
                                  <p:tgtEl>
                                    <p:spTgt spid="16"/>
                                  </p:tgtEl>
                                  <p:attrNameLst>
                                    <p:attrName>style.opacity</p:attrName>
                                  </p:attrNameLst>
                                </p:cBhvr>
                                <p:tavLst>
                                  <p:tav tm="0">
                                    <p:val>
                                      <p:fltVal val="0"/>
                                    </p:val>
                                  </p:tav>
                                  <p:tav tm="100000">
                                    <p:val>
                                      <p:fltVal val="1"/>
                                    </p:val>
                                  </p:tav>
                                </p:tavLst>
                              </p:anim>
                            </p:childTnLst>
                          </p:cTn>
                        </p:par>
                        <p:par>
                          <p:cTn id="141" presetID="10" presetClass="entr" presetSubtype="0" fill="hold" grpId="0" nodeType="afterEffect">
                            <p:stCondLst>
                              <p:cond delay="1250"/>
                            </p:stCondLst>
                            <p:childTnLst>
                              <p:set>
                                <p:cBhvr>
                                  <p:cTn id="142" dur="1" fill="hold">
                                    <p:stCondLst>
                                      <p:cond delay="0"/>
                                    </p:stCondLst>
                                  </p:cTn>
                                  <p:tgtEl>
                                    <p:spTgt spid="17"/>
                                  </p:tgtEl>
                                  <p:attrNameLst>
                                    <p:attrName>style.visibility</p:attrName>
                                  </p:attrNameLst>
                                </p:cBhvr>
                                <p:to>
                                  <p:strVal val="visible"/>
                                </p:to>
                              </p:set>
                              <p:anim calcmode="lin" valueType="num">
                                <p:cBhvr>
                                  <p:cTn id="143" dur="500"/>
                                  <p:tgtEl>
                                    <p:spTgt spid="17"/>
                                  </p:tgtEl>
                                  <p:attrNameLst>
                                    <p:attrName>style.opacity</p:attrName>
                                  </p:attrNameLst>
                                </p:cBhvr>
                                <p:tavLst>
                                  <p:tav tm="0">
                                    <p:val>
                                      <p:fltVal val="0"/>
                                    </p:val>
                                  </p:tav>
                                  <p:tav tm="100000">
                                    <p:val>
                                      <p:fltVal val="1"/>
                                    </p:val>
                                  </p:tav>
                                </p:tavLst>
                              </p:anim>
                              <p:set>
                                <p:cBhvr>
                                  <p:cTn id="144" dur="1" fill="hold">
                                    <p:stCondLst>
                                      <p:cond delay="0"/>
                                    </p:stCondLst>
                                  </p:cTn>
                                  <p:tgtEl>
                                    <p:spTgt spid="18"/>
                                  </p:tgtEl>
                                  <p:attrNameLst>
                                    <p:attrName>style.visibility</p:attrName>
                                  </p:attrNameLst>
                                </p:cBhvr>
                                <p:to>
                                  <p:strVal val="visible"/>
                                </p:to>
                              </p:set>
                              <p:anim calcmode="lin" valueType="num">
                                <p:cBhvr>
                                  <p:cTn id="145" dur="500"/>
                                  <p:tgtEl>
                                    <p:spTgt spid="18"/>
                                  </p:tgtEl>
                                  <p:attrNameLst>
                                    <p:attrName>style.opacity</p:attrName>
                                  </p:attrNameLst>
                                </p:cBhvr>
                                <p:tavLst>
                                  <p:tav tm="0">
                                    <p:val>
                                      <p:fltVal val="0"/>
                                    </p:val>
                                  </p:tav>
                                  <p:tav tm="100000">
                                    <p:val>
                                      <p:fltVal val="1"/>
                                    </p:val>
                                  </p:tav>
                                </p:tavLst>
                              </p:anim>
                              <p:set>
                                <p:cBhvr>
                                  <p:cTn id="146" dur="1" fill="hold">
                                    <p:stCondLst>
                                      <p:cond delay="0"/>
                                    </p:stCondLst>
                                  </p:cTn>
                                  <p:tgtEl>
                                    <p:spTgt spid="19"/>
                                  </p:tgtEl>
                                  <p:attrNameLst>
                                    <p:attrName>style.visibility</p:attrName>
                                  </p:attrNameLst>
                                </p:cBhvr>
                                <p:to>
                                  <p:strVal val="visible"/>
                                </p:to>
                              </p:set>
                              <p:anim calcmode="lin" valueType="num">
                                <p:cBhvr>
                                  <p:cTn id="147" dur="500"/>
                                  <p:tgtEl>
                                    <p:spTgt spid="19"/>
                                  </p:tgtEl>
                                  <p:attrNameLst>
                                    <p:attrName>style.opacity</p:attrName>
                                  </p:attrNameLst>
                                </p:cBhvr>
                                <p:tavLst>
                                  <p:tav tm="0">
                                    <p:val>
                                      <p:fltVal val="0"/>
                                    </p:val>
                                  </p:tav>
                                  <p:tav tm="100000">
                                    <p:val>
                                      <p:fltVal val="1"/>
                                    </p:val>
                                  </p:tav>
                                </p:tavLst>
                              </p:anim>
                              <p:set>
                                <p:cBhvr>
                                  <p:cTn id="148" dur="1" fill="hold">
                                    <p:stCondLst>
                                      <p:cond delay="0"/>
                                    </p:stCondLst>
                                  </p:cTn>
                                  <p:tgtEl>
                                    <p:spTgt spid="20"/>
                                  </p:tgtEl>
                                  <p:attrNameLst>
                                    <p:attrName>style.visibility</p:attrName>
                                  </p:attrNameLst>
                                </p:cBhvr>
                                <p:to>
                                  <p:strVal val="visible"/>
                                </p:to>
                              </p:set>
                              <p:anim calcmode="lin" valueType="num">
                                <p:cBhvr>
                                  <p:cTn id="149" dur="500"/>
                                  <p:tgtEl>
                                    <p:spTgt spid="20"/>
                                  </p:tgtEl>
                                  <p:attrNameLst>
                                    <p:attrName>style.opacity</p:attrName>
                                  </p:attrNameLst>
                                </p:cBhvr>
                                <p:tavLst>
                                  <p:tav tm="0">
                                    <p:val>
                                      <p:fltVal val="0"/>
                                    </p:val>
                                  </p:tav>
                                  <p:tav tm="100000">
                                    <p:val>
                                      <p:fltVal val="1"/>
                                    </p:val>
                                  </p:tav>
                                </p:tavLst>
                              </p:anim>
                            </p:childTnLst>
                          </p:cTn>
                        </p:par>
                        <p:par>
                          <p:cTn id="150" presetID="10" presetClass="entr" presetSubtype="0" fill="hold" grpId="0" nodeType="afterEffect">
                            <p:stCondLst>
                              <p:cond delay="1360"/>
                            </p:stCondLst>
                            <p:childTnLst>
                              <p:set>
                                <p:cBhvr>
                                  <p:cTn id="151" dur="1" fill="hold">
                                    <p:stCondLst>
                                      <p:cond delay="0"/>
                                    </p:stCondLst>
                                  </p:cTn>
                                  <p:tgtEl>
                                    <p:spTgt spid="21"/>
                                  </p:tgtEl>
                                  <p:attrNameLst>
                                    <p:attrName>style.visibility</p:attrName>
                                  </p:attrNameLst>
                                </p:cBhvr>
                                <p:to>
                                  <p:strVal val="visible"/>
                                </p:to>
                              </p:set>
                              <p:anim calcmode="lin" valueType="num">
                                <p:cBhvr>
                                  <p:cTn id="152" dur="500"/>
                                  <p:tgtEl>
                                    <p:spTgt spid="21"/>
                                  </p:tgtEl>
                                  <p:attrNameLst>
                                    <p:attrName>style.opacity</p:attrName>
                                  </p:attrNameLst>
                                </p:cBhvr>
                                <p:tavLst>
                                  <p:tav tm="0">
                                    <p:val>
                                      <p:fltVal val="0"/>
                                    </p:val>
                                  </p:tav>
                                  <p:tav tm="100000">
                                    <p:val>
                                      <p:fltVal val="1"/>
                                    </p:val>
                                  </p:tav>
                                </p:tavLst>
                              </p:anim>
                              <p:set>
                                <p:cBhvr>
                                  <p:cTn id="153" dur="1" fill="hold">
                                    <p:stCondLst>
                                      <p:cond delay="0"/>
                                    </p:stCondLst>
                                  </p:cTn>
                                  <p:tgtEl>
                                    <p:spTgt spid="22"/>
                                  </p:tgtEl>
                                  <p:attrNameLst>
                                    <p:attrName>style.visibility</p:attrName>
                                  </p:attrNameLst>
                                </p:cBhvr>
                                <p:to>
                                  <p:strVal val="visible"/>
                                </p:to>
                              </p:set>
                              <p:anim calcmode="lin" valueType="num">
                                <p:cBhvr>
                                  <p:cTn id="154" dur="500"/>
                                  <p:tgtEl>
                                    <p:spTgt spid="22"/>
                                  </p:tgtEl>
                                  <p:attrNameLst>
                                    <p:attrName>style.opacity</p:attrName>
                                  </p:attrNameLst>
                                </p:cBhvr>
                                <p:tavLst>
                                  <p:tav tm="0">
                                    <p:val>
                                      <p:fltVal val="0"/>
                                    </p:val>
                                  </p:tav>
                                  <p:tav tm="100000">
                                    <p:val>
                                      <p:fltVal val="1"/>
                                    </p:val>
                                  </p:tav>
                                </p:tavLst>
                              </p:anim>
                              <p:set>
                                <p:cBhvr>
                                  <p:cTn id="155" dur="1" fill="hold">
                                    <p:stCondLst>
                                      <p:cond delay="0"/>
                                    </p:stCondLst>
                                  </p:cTn>
                                  <p:tgtEl>
                                    <p:spTgt spid="23"/>
                                  </p:tgtEl>
                                  <p:attrNameLst>
                                    <p:attrName>style.visibility</p:attrName>
                                  </p:attrNameLst>
                                </p:cBhvr>
                                <p:to>
                                  <p:strVal val="visible"/>
                                </p:to>
                              </p:set>
                              <p:anim calcmode="lin" valueType="num">
                                <p:cBhvr>
                                  <p:cTn id="156" dur="500"/>
                                  <p:tgtEl>
                                    <p:spTgt spid="23"/>
                                  </p:tgtEl>
                                  <p:attrNameLst>
                                    <p:attrName>style.opacity</p:attrName>
                                  </p:attrNameLst>
                                </p:cBhvr>
                                <p:tavLst>
                                  <p:tav tm="0">
                                    <p:val>
                                      <p:fltVal val="0"/>
                                    </p:val>
                                  </p:tav>
                                  <p:tav tm="100000">
                                    <p:val>
                                      <p:fltVal val="1"/>
                                    </p:val>
                                  </p:tav>
                                </p:tavLst>
                              </p:anim>
                              <p:set>
                                <p:cBhvr>
                                  <p:cTn id="157" dur="1" fill="hold">
                                    <p:stCondLst>
                                      <p:cond delay="0"/>
                                    </p:stCondLst>
                                  </p:cTn>
                                  <p:tgtEl>
                                    <p:spTgt spid="24"/>
                                  </p:tgtEl>
                                  <p:attrNameLst>
                                    <p:attrName>style.visibility</p:attrName>
                                  </p:attrNameLst>
                                </p:cBhvr>
                                <p:to>
                                  <p:strVal val="visible"/>
                                </p:to>
                              </p:set>
                              <p:anim calcmode="lin" valueType="num">
                                <p:cBhvr>
                                  <p:cTn id="158" dur="500"/>
                                  <p:tgtEl>
                                    <p:spTgt spid="24"/>
                                  </p:tgtEl>
                                  <p:attrNameLst>
                                    <p:attrName>style.opacity</p:attrName>
                                  </p:attrNameLst>
                                </p:cBhvr>
                                <p:tavLst>
                                  <p:tav tm="0">
                                    <p:val>
                                      <p:fltVal val="0"/>
                                    </p:val>
                                  </p:tav>
                                  <p:tav tm="100000">
                                    <p:val>
                                      <p:fltVal val="1"/>
                                    </p:val>
                                  </p:tav>
                                </p:tavLst>
                              </p:anim>
                            </p:childTnLst>
                          </p:cTn>
                        </p:par>
                        <p:par>
                          <p:cTn id="159" presetID="10" presetClass="entr" presetSubtype="0" fill="hold" grpId="0" nodeType="afterEffect">
                            <p:stCondLst>
                              <p:cond delay="147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500"/>
                                  <p:tgtEl>
                                    <p:spTgt spid="25"/>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The Release Delivers Measurable Operational Value</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Across all modules, the changes move the organization from reactive administration toward disciplined, monitored operations.</a:t>
            </a:r>
            <a:endParaRPr lang="en-US" sz="1050" dirty="0"/>
          </a:p>
        </p:txBody>
      </p:sp>
      <p:sp>
        <p:nvSpPr>
          <p:cNvPr id="5" name="Shape 3"/>
          <p:cNvSpPr/>
          <p:nvPr/>
        </p:nvSpPr>
        <p:spPr>
          <a:xfrm>
            <a:off x="768096" y="1536192"/>
            <a:ext cx="5138928" cy="4407408"/>
          </a:xfrm>
          <a:prstGeom prst="roundRect">
            <a:avLst>
              <a:gd name="adj" fmla="val 2490"/>
            </a:avLst>
          </a:prstGeom>
          <a:solidFill>
            <a:srgbClr val="FFF8F1"/>
          </a:solidFill>
          <a:ln w="12700">
            <a:solidFill>
              <a:srgbClr val="F2D7A7"/>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6291072" y="1536192"/>
            <a:ext cx="5138928" cy="4407408"/>
          </a:xfrm>
          <a:prstGeom prst="roundRect">
            <a:avLst>
              <a:gd name="adj" fmla="val 2490"/>
            </a:avLst>
          </a:prstGeom>
          <a:solidFill>
            <a:srgbClr val="EEF5FF"/>
          </a:solidFill>
          <a:ln w="12700">
            <a:solidFill>
              <a:srgbClr val="D5E3FB"/>
            </a:solidFill>
            <a:prstDash val="solid"/>
          </a:ln>
          <a:effectLst>
            <a:outerShdw sx="100000" sy="100000" kx="0" ky="0" algn="bl" rotWithShape="0" blurRad="25400" dist="12700" dir="2700000">
              <a:srgbClr val="7C93B8">
                <a:alpha val="18000"/>
              </a:srgbClr>
            </a:outerShdw>
          </a:effectLst>
        </p:spPr>
      </p:sp>
      <p:sp>
        <p:nvSpPr>
          <p:cNvPr id="7" name="Text 5"/>
          <p:cNvSpPr/>
          <p:nvPr/>
        </p:nvSpPr>
        <p:spPr>
          <a:xfrm>
            <a:off x="987552" y="1828800"/>
            <a:ext cx="914400" cy="274320"/>
          </a:xfrm>
          <a:prstGeom prst="rect">
            <a:avLst/>
          </a:prstGeom>
          <a:noFill/>
          <a:ln/>
        </p:spPr>
        <p:txBody>
          <a:bodyPr wrap="square" lIns="0" tIns="0" rIns="0" bIns="0" rtlCol="0" anchor="ctr"/>
          <a:lstStyle/>
          <a:p>
            <a:pPr indent="0" marL="0">
              <a:buNone/>
            </a:pPr>
            <a:r>
              <a:rPr lang="en-US" sz="2200" b="1" dirty="0">
                <a:solidFill>
                  <a:srgbClr val="C2410C"/>
                </a:solidFill>
                <a:latin typeface="Liberation Sans" pitchFamily="34" charset="0"/>
                <a:ea typeface="Liberation Sans" pitchFamily="34" charset="-122"/>
                <a:cs typeface="Liberation Sans" pitchFamily="34" charset="-120"/>
              </a:rPr>
              <a:t>Before</a:t>
            </a:r>
            <a:endParaRPr lang="en-US" sz="2200" dirty="0"/>
          </a:p>
        </p:txBody>
      </p:sp>
      <p:sp>
        <p:nvSpPr>
          <p:cNvPr id="8" name="Text 6"/>
          <p:cNvSpPr/>
          <p:nvPr/>
        </p:nvSpPr>
        <p:spPr>
          <a:xfrm>
            <a:off x="1005840" y="2340864"/>
            <a:ext cx="3566160" cy="2011680"/>
          </a:xfrm>
          <a:prstGeom prst="rect">
            <a:avLst/>
          </a:prstGeom>
          <a:noFill/>
          <a:ln/>
        </p:spPr>
        <p:txBody>
          <a:bodyPr wrap="square" lIns="0" tIns="0" rIns="0" bIns="0" rtlCol="0" anchor="ctr"/>
          <a:lstStyle/>
          <a:p>
            <a:pPr indent="0" marL="0">
              <a:buNone/>
            </a:pPr>
            <a:r>
              <a:rPr lang="en-US" sz="1350" dirty="0">
                <a:solidFill>
                  <a:srgbClr val="13233F"/>
                </a:solidFill>
                <a:latin typeface="Liberation Sans" pitchFamily="34" charset="0"/>
                <a:ea typeface="Liberation Sans" pitchFamily="34" charset="-122"/>
                <a:cs typeface="Liberation Sans" pitchFamily="34" charset="-120"/>
              </a:rPr>
              <a:t>Manual verification</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Siloed follow-up</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Delayed incident visibility</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Weaker auditability</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Higher administrative effort</a:t>
            </a:r>
            <a:endParaRPr lang="en-US" sz="1350" dirty="0"/>
          </a:p>
        </p:txBody>
      </p:sp>
      <p:sp>
        <p:nvSpPr>
          <p:cNvPr id="9" name="Text 7"/>
          <p:cNvSpPr/>
          <p:nvPr/>
        </p:nvSpPr>
        <p:spPr>
          <a:xfrm>
            <a:off x="6528816" y="1828800"/>
            <a:ext cx="914400" cy="274320"/>
          </a:xfrm>
          <a:prstGeom prst="rect">
            <a:avLst/>
          </a:prstGeom>
          <a:noFill/>
          <a:ln/>
        </p:spPr>
        <p:txBody>
          <a:bodyPr wrap="square" lIns="0" tIns="0" rIns="0" bIns="0" rtlCol="0" anchor="ctr"/>
          <a:lstStyle/>
          <a:p>
            <a:pPr indent="0" marL="0">
              <a:buNone/>
            </a:pPr>
            <a:r>
              <a:rPr lang="en-US" sz="2200" b="1" dirty="0">
                <a:solidFill>
                  <a:srgbClr val="1E40AF"/>
                </a:solidFill>
                <a:latin typeface="Liberation Sans" pitchFamily="34" charset="0"/>
                <a:ea typeface="Liberation Sans" pitchFamily="34" charset="-122"/>
                <a:cs typeface="Liberation Sans" pitchFamily="34" charset="-120"/>
              </a:rPr>
              <a:t>After</a:t>
            </a:r>
            <a:endParaRPr lang="en-US" sz="2200" dirty="0"/>
          </a:p>
        </p:txBody>
      </p:sp>
      <p:sp>
        <p:nvSpPr>
          <p:cNvPr id="10" name="Text 8"/>
          <p:cNvSpPr/>
          <p:nvPr/>
        </p:nvSpPr>
        <p:spPr>
          <a:xfrm>
            <a:off x="6547104" y="2340864"/>
            <a:ext cx="3566160" cy="2011680"/>
          </a:xfrm>
          <a:prstGeom prst="rect">
            <a:avLst/>
          </a:prstGeom>
          <a:noFill/>
          <a:ln/>
        </p:spPr>
        <p:txBody>
          <a:bodyPr wrap="square" lIns="0" tIns="0" rIns="0" bIns="0" rtlCol="0" anchor="ctr"/>
          <a:lstStyle/>
          <a:p>
            <a:pPr indent="0" marL="0">
              <a:buNone/>
            </a:pPr>
            <a:r>
              <a:rPr lang="en-US" sz="1350" dirty="0">
                <a:solidFill>
                  <a:srgbClr val="13233F"/>
                </a:solidFill>
                <a:latin typeface="Liberation Sans" pitchFamily="34" charset="0"/>
                <a:ea typeface="Liberation Sans" pitchFamily="34" charset="-122"/>
                <a:cs typeface="Liberation Sans" pitchFamily="34" charset="-120"/>
              </a:rPr>
              <a:t>Automated controls</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Real-time monitoring and alerts</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Clearer governance trails</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Better executive reporting</a:t>
            </a:r>
            <a:endParaRPr lang="en-US" sz="1350" dirty="0"/>
          </a:p>
          <a:p>
            <a:pPr indent="0" marL="0">
              <a:buNone/>
            </a:pPr>
            <a:r>
              <a:rPr lang="en-US" sz="1350" dirty="0">
                <a:solidFill>
                  <a:srgbClr val="13233F"/>
                </a:solidFill>
                <a:latin typeface="Liberation Sans" pitchFamily="34" charset="0"/>
                <a:ea typeface="Liberation Sans" pitchFamily="34" charset="-122"/>
                <a:cs typeface="Liberation Sans" pitchFamily="34" charset="-120"/>
              </a:rPr>
              <a:t>Enterprise-ready performance</a:t>
            </a:r>
            <a:endParaRPr lang="en-US" sz="1350" dirty="0"/>
          </a:p>
        </p:txBody>
      </p:sp>
      <p:sp>
        <p:nvSpPr>
          <p:cNvPr id="11" name="Shape 9"/>
          <p:cNvSpPr/>
          <p:nvPr/>
        </p:nvSpPr>
        <p:spPr>
          <a:xfrm>
            <a:off x="960120" y="4727448"/>
            <a:ext cx="2048256" cy="841248"/>
          </a:xfrm>
          <a:prstGeom prst="roundRect">
            <a:avLst>
              <a:gd name="adj" fmla="val 1304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2" name="Text 10"/>
          <p:cNvSpPr/>
          <p:nvPr/>
        </p:nvSpPr>
        <p:spPr>
          <a:xfrm>
            <a:off x="1051560" y="4846320"/>
            <a:ext cx="1865376" cy="146304"/>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Compliance</a:t>
            </a:r>
            <a:endParaRPr lang="en-US" sz="1150" dirty="0"/>
          </a:p>
        </p:txBody>
      </p:sp>
      <p:sp>
        <p:nvSpPr>
          <p:cNvPr id="13" name="Text 11"/>
          <p:cNvSpPr/>
          <p:nvPr/>
        </p:nvSpPr>
        <p:spPr>
          <a:xfrm>
            <a:off x="1069848" y="5084064"/>
            <a:ext cx="1828800" cy="182880"/>
          </a:xfrm>
          <a:prstGeom prst="rect">
            <a:avLst/>
          </a:prstGeom>
          <a:noFill/>
          <a:ln/>
        </p:spPr>
        <p:txBody>
          <a:bodyPr wrap="square" lIns="0" tIns="0" rIns="0" bIns="0" rtlCol="0" anchor="ctr"/>
          <a:lstStyle/>
          <a:p>
            <a:pPr algn="ctr" indent="0" marL="0">
              <a:buNone/>
            </a:pPr>
            <a:r>
              <a:rPr lang="en-US" sz="810" dirty="0">
                <a:solidFill>
                  <a:srgbClr val="475569"/>
                </a:solidFill>
                <a:latin typeface="Liberation Sans" pitchFamily="34" charset="0"/>
                <a:ea typeface="Liberation Sans" pitchFamily="34" charset="-122"/>
                <a:cs typeface="Liberation Sans" pitchFamily="34" charset="-120"/>
              </a:rPr>
              <a:t>Stronger policy enforcement in attendance, approvals, and access.</a:t>
            </a:r>
            <a:endParaRPr lang="en-US" sz="810" dirty="0"/>
          </a:p>
        </p:txBody>
      </p:sp>
      <p:sp>
        <p:nvSpPr>
          <p:cNvPr id="14" name="Shape 12"/>
          <p:cNvSpPr/>
          <p:nvPr/>
        </p:nvSpPr>
        <p:spPr>
          <a:xfrm>
            <a:off x="3227832" y="4727448"/>
            <a:ext cx="2048256" cy="841248"/>
          </a:xfrm>
          <a:prstGeom prst="roundRect">
            <a:avLst>
              <a:gd name="adj" fmla="val 1304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5" name="Text 13"/>
          <p:cNvSpPr/>
          <p:nvPr/>
        </p:nvSpPr>
        <p:spPr>
          <a:xfrm>
            <a:off x="3319272" y="4846320"/>
            <a:ext cx="1865376" cy="146304"/>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Efficiency</a:t>
            </a:r>
            <a:endParaRPr lang="en-US" sz="1150" dirty="0"/>
          </a:p>
        </p:txBody>
      </p:sp>
      <p:sp>
        <p:nvSpPr>
          <p:cNvPr id="16" name="Text 14"/>
          <p:cNvSpPr/>
          <p:nvPr/>
        </p:nvSpPr>
        <p:spPr>
          <a:xfrm>
            <a:off x="3337560" y="5084064"/>
            <a:ext cx="1828800" cy="182880"/>
          </a:xfrm>
          <a:prstGeom prst="rect">
            <a:avLst/>
          </a:prstGeom>
          <a:noFill/>
          <a:ln/>
        </p:spPr>
        <p:txBody>
          <a:bodyPr wrap="square" lIns="0" tIns="0" rIns="0" bIns="0" rtlCol="0" anchor="ctr"/>
          <a:lstStyle/>
          <a:p>
            <a:pPr algn="ctr" indent="0" marL="0">
              <a:buNone/>
            </a:pPr>
            <a:r>
              <a:rPr lang="en-US" sz="810" dirty="0">
                <a:solidFill>
                  <a:srgbClr val="475569"/>
                </a:solidFill>
                <a:latin typeface="Liberation Sans" pitchFamily="34" charset="0"/>
                <a:ea typeface="Liberation Sans" pitchFamily="34" charset="-122"/>
                <a:cs typeface="Liberation Sans" pitchFamily="34" charset="-120"/>
              </a:rPr>
              <a:t>Less manual intervention across certificates, returns, and evaluations.</a:t>
            </a:r>
            <a:endParaRPr lang="en-US" sz="810" dirty="0"/>
          </a:p>
        </p:txBody>
      </p:sp>
      <p:sp>
        <p:nvSpPr>
          <p:cNvPr id="17" name="Shape 15"/>
          <p:cNvSpPr/>
          <p:nvPr/>
        </p:nvSpPr>
        <p:spPr>
          <a:xfrm>
            <a:off x="6510528" y="4727448"/>
            <a:ext cx="2048256" cy="841248"/>
          </a:xfrm>
          <a:prstGeom prst="roundRect">
            <a:avLst>
              <a:gd name="adj" fmla="val 1304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8" name="Text 16"/>
          <p:cNvSpPr/>
          <p:nvPr/>
        </p:nvSpPr>
        <p:spPr>
          <a:xfrm>
            <a:off x="6601968" y="4846320"/>
            <a:ext cx="1865376" cy="146304"/>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Visibility</a:t>
            </a:r>
            <a:endParaRPr lang="en-US" sz="1150" dirty="0"/>
          </a:p>
        </p:txBody>
      </p:sp>
      <p:sp>
        <p:nvSpPr>
          <p:cNvPr id="19" name="Text 17"/>
          <p:cNvSpPr/>
          <p:nvPr/>
        </p:nvSpPr>
        <p:spPr>
          <a:xfrm>
            <a:off x="6620256" y="5084064"/>
            <a:ext cx="1828800" cy="182880"/>
          </a:xfrm>
          <a:prstGeom prst="rect">
            <a:avLst/>
          </a:prstGeom>
          <a:noFill/>
          <a:ln/>
        </p:spPr>
        <p:txBody>
          <a:bodyPr wrap="square" lIns="0" tIns="0" rIns="0" bIns="0" rtlCol="0" anchor="ctr"/>
          <a:lstStyle/>
          <a:p>
            <a:pPr algn="ctr" indent="0" marL="0">
              <a:buNone/>
            </a:pPr>
            <a:r>
              <a:rPr lang="en-US" sz="810" dirty="0">
                <a:solidFill>
                  <a:srgbClr val="475569"/>
                </a:solidFill>
                <a:latin typeface="Liberation Sans" pitchFamily="34" charset="0"/>
                <a:ea typeface="Liberation Sans" pitchFamily="34" charset="-122"/>
                <a:cs typeface="Liberation Sans" pitchFamily="34" charset="-120"/>
              </a:rPr>
              <a:t>Better monitoring through dashboards, alerts, and audit logs.</a:t>
            </a:r>
            <a:endParaRPr lang="en-US" sz="810" dirty="0"/>
          </a:p>
        </p:txBody>
      </p:sp>
      <p:sp>
        <p:nvSpPr>
          <p:cNvPr id="20" name="Shape 18"/>
          <p:cNvSpPr/>
          <p:nvPr/>
        </p:nvSpPr>
        <p:spPr>
          <a:xfrm>
            <a:off x="8778240" y="4727448"/>
            <a:ext cx="2048256" cy="841248"/>
          </a:xfrm>
          <a:prstGeom prst="roundRect">
            <a:avLst>
              <a:gd name="adj" fmla="val 1304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Text 19"/>
          <p:cNvSpPr/>
          <p:nvPr/>
        </p:nvSpPr>
        <p:spPr>
          <a:xfrm>
            <a:off x="8869680" y="4846320"/>
            <a:ext cx="1865376" cy="146304"/>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Resilience</a:t>
            </a:r>
            <a:endParaRPr lang="en-US" sz="1150" dirty="0"/>
          </a:p>
        </p:txBody>
      </p:sp>
      <p:sp>
        <p:nvSpPr>
          <p:cNvPr id="22" name="Text 20"/>
          <p:cNvSpPr/>
          <p:nvPr/>
        </p:nvSpPr>
        <p:spPr>
          <a:xfrm>
            <a:off x="8887968" y="5084064"/>
            <a:ext cx="1828800" cy="182880"/>
          </a:xfrm>
          <a:prstGeom prst="rect">
            <a:avLst/>
          </a:prstGeom>
          <a:noFill/>
          <a:ln/>
        </p:spPr>
        <p:txBody>
          <a:bodyPr wrap="square" lIns="0" tIns="0" rIns="0" bIns="0" rtlCol="0" anchor="ctr"/>
          <a:lstStyle/>
          <a:p>
            <a:pPr algn="ctr" indent="0" marL="0">
              <a:buNone/>
            </a:pPr>
            <a:r>
              <a:rPr lang="en-US" sz="810" dirty="0">
                <a:solidFill>
                  <a:srgbClr val="475569"/>
                </a:solidFill>
                <a:latin typeface="Liberation Sans" pitchFamily="34" charset="0"/>
                <a:ea typeface="Liberation Sans" pitchFamily="34" charset="-122"/>
                <a:cs typeface="Liberation Sans" pitchFamily="34" charset="-120"/>
              </a:rPr>
              <a:t>Improved security posture and readiness for larger-scale use.</a:t>
            </a:r>
            <a:endParaRPr lang="en-US" sz="810" dirty="0"/>
          </a:p>
        </p:txBody>
      </p:sp>
      <p:sp>
        <p:nvSpPr>
          <p:cNvPr id="23" name="Shape 21"/>
          <p:cNvSpPr/>
          <p:nvPr/>
        </p:nvSpPr>
        <p:spPr>
          <a:xfrm>
            <a:off x="548640" y="6446520"/>
            <a:ext cx="11064240" cy="0"/>
          </a:xfrm>
          <a:prstGeom prst="line">
            <a:avLst/>
          </a:prstGeom>
          <a:noFill/>
          <a:ln w="12700">
            <a:solidFill>
              <a:srgbClr val="C8D8F0"/>
            </a:solidFill>
            <a:prstDash val="solid"/>
          </a:ln>
        </p:spPr>
      </p:sp>
      <p:sp>
        <p:nvSpPr>
          <p:cNvPr id="24" name="Text 22"/>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25" name="Text 23"/>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10</a:t>
            </a:r>
            <a:endParaRPr lang="en-US" sz="850" dirty="0"/>
          </a:p>
        </p:txBody>
      </p:sp>
      <p:sp>
        <p:nvSpPr>
          <p:cNvPr id="28"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29" name="Swahilipot Logo"/>
          <p:cNvPicPr>
            <a:picLocks noChangeAspect="1"/>
          </p:cNvPicPr>
          <p:nvPr/>
        </p:nvPicPr>
        <p:blipFill>
          <a:blip r:embed="rId3"/>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6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7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8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9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childTnLst>
                          </p:cTn>
                        </p:par>
                        <p:par>
                          <p:cTn id="116" presetID="10" presetClass="entr" presetSubtype="0" fill="hold" grpId="0" nodeType="afterEffect">
                            <p:stCondLst>
                              <p:cond delay="700"/>
                            </p:stCondLst>
                            <p:childTnLst>
                              <p:set>
                                <p:cBhvr>
                                  <p:cTn id="117" dur="1" fill="hold">
                                    <p:stCondLst>
                                      <p:cond delay="0"/>
                                    </p:stCondLst>
                                  </p:cTn>
                                  <p:tgtEl>
                                    <p:spTgt spid="7"/>
                                  </p:tgtEl>
                                  <p:attrNameLst>
                                    <p:attrName>style.visibility</p:attrName>
                                  </p:attrNameLst>
                                </p:cBhvr>
                                <p:to>
                                  <p:strVal val="visible"/>
                                </p:to>
                              </p:set>
                              <p:anim calcmode="lin" valueType="num">
                                <p:cBhvr>
                                  <p:cTn id="118" dur="500"/>
                                  <p:tgtEl>
                                    <p:spTgt spid="7"/>
                                  </p:tgtEl>
                                  <p:attrNameLst>
                                    <p:attrName>style.opacity</p:attrName>
                                  </p:attrNameLst>
                                </p:cBhvr>
                                <p:tavLst>
                                  <p:tav tm="0">
                                    <p:val>
                                      <p:fltVal val="0"/>
                                    </p:val>
                                  </p:tav>
                                  <p:tav tm="100000">
                                    <p:val>
                                      <p:fltVal val="1"/>
                                    </p:val>
                                  </p:tav>
                                </p:tavLst>
                              </p:anim>
                            </p:childTnLst>
                          </p:cTn>
                        </p:par>
                        <p:par>
                          <p:cTn id="119" presetID="10" presetClass="entr" presetSubtype="0" fill="hold" grpId="0" nodeType="afterEffect">
                            <p:stCondLst>
                              <p:cond delay="810"/>
                            </p:stCondLst>
                            <p:childTnLst>
                              <p:set>
                                <p:cBhvr>
                                  <p:cTn id="120" dur="1" fill="hold">
                                    <p:stCondLst>
                                      <p:cond delay="0"/>
                                    </p:stCondLst>
                                  </p:cTn>
                                  <p:tgtEl>
                                    <p:spTgt spid="8"/>
                                  </p:tgtEl>
                                  <p:attrNameLst>
                                    <p:attrName>style.visibility</p:attrName>
                                  </p:attrNameLst>
                                </p:cBhvr>
                                <p:to>
                                  <p:strVal val="visible"/>
                                </p:to>
                              </p:set>
                              <p:anim calcmode="lin" valueType="num">
                                <p:cBhvr>
                                  <p:cTn id="121" dur="500"/>
                                  <p:tgtEl>
                                    <p:spTgt spid="8"/>
                                  </p:tgtEl>
                                  <p:attrNameLst>
                                    <p:attrName>style.opacity</p:attrName>
                                  </p:attrNameLst>
                                </p:cBhvr>
                                <p:tavLst>
                                  <p:tav tm="0">
                                    <p:val>
                                      <p:fltVal val="0"/>
                                    </p:val>
                                  </p:tav>
                                  <p:tav tm="100000">
                                    <p:val>
                                      <p:fltVal val="1"/>
                                    </p:val>
                                  </p:tav>
                                </p:tavLst>
                              </p:anim>
                            </p:childTnLst>
                          </p:cTn>
                        </p:par>
                        <p:par>
                          <p:cTn id="122" presetID="10" presetClass="entr" presetSubtype="0" fill="hold" grpId="0" nodeType="afterEffect">
                            <p:stCondLst>
                              <p:cond delay="920"/>
                            </p:stCondLst>
                            <p:childTnLst>
                              <p:set>
                                <p:cBhvr>
                                  <p:cTn id="123" dur="1" fill="hold">
                                    <p:stCondLst>
                                      <p:cond delay="0"/>
                                    </p:stCondLst>
                                  </p:cTn>
                                  <p:tgtEl>
                                    <p:spTgt spid="9"/>
                                  </p:tgtEl>
                                  <p:attrNameLst>
                                    <p:attrName>style.visibility</p:attrName>
                                  </p:attrNameLst>
                                </p:cBhvr>
                                <p:to>
                                  <p:strVal val="visible"/>
                                </p:to>
                              </p:set>
                              <p:anim calcmode="lin" valueType="num">
                                <p:cBhvr>
                                  <p:cTn id="124" dur="500"/>
                                  <p:tgtEl>
                                    <p:spTgt spid="9"/>
                                  </p:tgtEl>
                                  <p:attrNameLst>
                                    <p:attrName>style.opacity</p:attrName>
                                  </p:attrNameLst>
                                </p:cBhvr>
                                <p:tavLst>
                                  <p:tav tm="0">
                                    <p:val>
                                      <p:fltVal val="0"/>
                                    </p:val>
                                  </p:tav>
                                  <p:tav tm="100000">
                                    <p:val>
                                      <p:fltVal val="1"/>
                                    </p:val>
                                  </p:tav>
                                </p:tavLst>
                              </p:anim>
                            </p:childTnLst>
                          </p:cTn>
                        </p:par>
                        <p:par>
                          <p:cTn id="125" presetID="10" presetClass="entr" presetSubtype="0" fill="hold" grpId="0" nodeType="afterEffect">
                            <p:stCondLst>
                              <p:cond delay="1030"/>
                            </p:stCondLst>
                            <p:childTnLst>
                              <p:set>
                                <p:cBhvr>
                                  <p:cTn id="126" dur="1" fill="hold">
                                    <p:stCondLst>
                                      <p:cond delay="0"/>
                                    </p:stCondLst>
                                  </p:cTn>
                                  <p:tgtEl>
                                    <p:spTgt spid="10"/>
                                  </p:tgtEl>
                                  <p:attrNameLst>
                                    <p:attrName>style.visibility</p:attrName>
                                  </p:attrNameLst>
                                </p:cBhvr>
                                <p:to>
                                  <p:strVal val="visible"/>
                                </p:to>
                              </p:set>
                              <p:anim calcmode="lin" valueType="num">
                                <p:cBhvr>
                                  <p:cTn id="127" dur="500"/>
                                  <p:tgtEl>
                                    <p:spTgt spid="10"/>
                                  </p:tgtEl>
                                  <p:attrNameLst>
                                    <p:attrName>style.opacity</p:attrName>
                                  </p:attrNameLst>
                                </p:cBhvr>
                                <p:tavLst>
                                  <p:tav tm="0">
                                    <p:val>
                                      <p:fltVal val="0"/>
                                    </p:val>
                                  </p:tav>
                                  <p:tav tm="100000">
                                    <p:val>
                                      <p:fltVal val="1"/>
                                    </p:val>
                                  </p:tav>
                                </p:tavLst>
                              </p:anim>
                            </p:childTnLst>
                          </p:cTn>
                        </p:par>
                        <p:par>
                          <p:cTn id="128" presetID="10" presetClass="entr" presetSubtype="0" fill="hold" grpId="0" nodeType="afterEffect">
                            <p:stCondLst>
                              <p:cond delay="1140"/>
                            </p:stCondLst>
                            <p:childTnLst>
                              <p:set>
                                <p:cBhvr>
                                  <p:cTn id="129" dur="1" fill="hold">
                                    <p:stCondLst>
                                      <p:cond delay="0"/>
                                    </p:stCondLst>
                                  </p:cTn>
                                  <p:tgtEl>
                                    <p:spTgt spid="11"/>
                                  </p:tgtEl>
                                  <p:attrNameLst>
                                    <p:attrName>style.visibility</p:attrName>
                                  </p:attrNameLst>
                                </p:cBhvr>
                                <p:to>
                                  <p:strVal val="visible"/>
                                </p:to>
                              </p:set>
                              <p:anim calcmode="lin" valueType="num">
                                <p:cBhvr>
                                  <p:cTn id="130" dur="500"/>
                                  <p:tgtEl>
                                    <p:spTgt spid="11"/>
                                  </p:tgtEl>
                                  <p:attrNameLst>
                                    <p:attrName>style.opacity</p:attrName>
                                  </p:attrNameLst>
                                </p:cBhvr>
                                <p:tavLst>
                                  <p:tav tm="0">
                                    <p:val>
                                      <p:fltVal val="0"/>
                                    </p:val>
                                  </p:tav>
                                  <p:tav tm="100000">
                                    <p:val>
                                      <p:fltVal val="1"/>
                                    </p:val>
                                  </p:tav>
                                </p:tavLst>
                              </p:anim>
                              <p:set>
                                <p:cBhvr>
                                  <p:cTn id="131" dur="1" fill="hold">
                                    <p:stCondLst>
                                      <p:cond delay="0"/>
                                    </p:stCondLst>
                                  </p:cTn>
                                  <p:tgtEl>
                                    <p:spTgt spid="12"/>
                                  </p:tgtEl>
                                  <p:attrNameLst>
                                    <p:attrName>style.visibility</p:attrName>
                                  </p:attrNameLst>
                                </p:cBhvr>
                                <p:to>
                                  <p:strVal val="visible"/>
                                </p:to>
                              </p:set>
                              <p:anim calcmode="lin" valueType="num">
                                <p:cBhvr>
                                  <p:cTn id="132" dur="500"/>
                                  <p:tgtEl>
                                    <p:spTgt spid="12"/>
                                  </p:tgtEl>
                                  <p:attrNameLst>
                                    <p:attrName>style.opacity</p:attrName>
                                  </p:attrNameLst>
                                </p:cBhvr>
                                <p:tavLst>
                                  <p:tav tm="0">
                                    <p:val>
                                      <p:fltVal val="0"/>
                                    </p:val>
                                  </p:tav>
                                  <p:tav tm="100000">
                                    <p:val>
                                      <p:fltVal val="1"/>
                                    </p:val>
                                  </p:tav>
                                </p:tavLst>
                              </p:anim>
                              <p:set>
                                <p:cBhvr>
                                  <p:cTn id="133" dur="1" fill="hold">
                                    <p:stCondLst>
                                      <p:cond delay="0"/>
                                    </p:stCondLst>
                                  </p:cTn>
                                  <p:tgtEl>
                                    <p:spTgt spid="13"/>
                                  </p:tgtEl>
                                  <p:attrNameLst>
                                    <p:attrName>style.visibility</p:attrName>
                                  </p:attrNameLst>
                                </p:cBhvr>
                                <p:to>
                                  <p:strVal val="visible"/>
                                </p:to>
                              </p:set>
                              <p:anim calcmode="lin" valueType="num">
                                <p:cBhvr>
                                  <p:cTn id="134" dur="500"/>
                                  <p:tgtEl>
                                    <p:spTgt spid="13"/>
                                  </p:tgtEl>
                                  <p:attrNameLst>
                                    <p:attrName>style.opacity</p:attrName>
                                  </p:attrNameLst>
                                </p:cBhvr>
                                <p:tavLst>
                                  <p:tav tm="0">
                                    <p:val>
                                      <p:fltVal val="0"/>
                                    </p:val>
                                  </p:tav>
                                  <p:tav tm="100000">
                                    <p:val>
                                      <p:fltVal val="1"/>
                                    </p:val>
                                  </p:tav>
                                </p:tavLst>
                              </p:anim>
                            </p:childTnLst>
                          </p:cTn>
                        </p:par>
                        <p:par>
                          <p:cTn id="135" presetID="10" presetClass="entr" presetSubtype="0" fill="hold" grpId="0" nodeType="afterEffect">
                            <p:stCondLst>
                              <p:cond delay="1250"/>
                            </p:stCondLst>
                            <p:childTnLst>
                              <p:set>
                                <p:cBhvr>
                                  <p:cTn id="136" dur="1" fill="hold">
                                    <p:stCondLst>
                                      <p:cond delay="0"/>
                                    </p:stCondLst>
                                  </p:cTn>
                                  <p:tgtEl>
                                    <p:spTgt spid="14"/>
                                  </p:tgtEl>
                                  <p:attrNameLst>
                                    <p:attrName>style.visibility</p:attrName>
                                  </p:attrNameLst>
                                </p:cBhvr>
                                <p:to>
                                  <p:strVal val="visible"/>
                                </p:to>
                              </p:set>
                              <p:anim calcmode="lin" valueType="num">
                                <p:cBhvr>
                                  <p:cTn id="137" dur="500"/>
                                  <p:tgtEl>
                                    <p:spTgt spid="14"/>
                                  </p:tgtEl>
                                  <p:attrNameLst>
                                    <p:attrName>style.opacity</p:attrName>
                                  </p:attrNameLst>
                                </p:cBhvr>
                                <p:tavLst>
                                  <p:tav tm="0">
                                    <p:val>
                                      <p:fltVal val="0"/>
                                    </p:val>
                                  </p:tav>
                                  <p:tav tm="100000">
                                    <p:val>
                                      <p:fltVal val="1"/>
                                    </p:val>
                                  </p:tav>
                                </p:tavLst>
                              </p:anim>
                              <p:set>
                                <p:cBhvr>
                                  <p:cTn id="138" dur="1" fill="hold">
                                    <p:stCondLst>
                                      <p:cond delay="0"/>
                                    </p:stCondLst>
                                  </p:cTn>
                                  <p:tgtEl>
                                    <p:spTgt spid="15"/>
                                  </p:tgtEl>
                                  <p:attrNameLst>
                                    <p:attrName>style.visibility</p:attrName>
                                  </p:attrNameLst>
                                </p:cBhvr>
                                <p:to>
                                  <p:strVal val="visible"/>
                                </p:to>
                              </p:set>
                              <p:anim calcmode="lin" valueType="num">
                                <p:cBhvr>
                                  <p:cTn id="139" dur="500"/>
                                  <p:tgtEl>
                                    <p:spTgt spid="15"/>
                                  </p:tgtEl>
                                  <p:attrNameLst>
                                    <p:attrName>style.opacity</p:attrName>
                                  </p:attrNameLst>
                                </p:cBhvr>
                                <p:tavLst>
                                  <p:tav tm="0">
                                    <p:val>
                                      <p:fltVal val="0"/>
                                    </p:val>
                                  </p:tav>
                                  <p:tav tm="100000">
                                    <p:val>
                                      <p:fltVal val="1"/>
                                    </p:val>
                                  </p:tav>
                                </p:tavLst>
                              </p:anim>
                              <p:set>
                                <p:cBhvr>
                                  <p:cTn id="140" dur="1" fill="hold">
                                    <p:stCondLst>
                                      <p:cond delay="0"/>
                                    </p:stCondLst>
                                  </p:cTn>
                                  <p:tgtEl>
                                    <p:spTgt spid="16"/>
                                  </p:tgtEl>
                                  <p:attrNameLst>
                                    <p:attrName>style.visibility</p:attrName>
                                  </p:attrNameLst>
                                </p:cBhvr>
                                <p:to>
                                  <p:strVal val="visible"/>
                                </p:to>
                              </p:set>
                              <p:anim calcmode="lin" valueType="num">
                                <p:cBhvr>
                                  <p:cTn id="141" dur="500"/>
                                  <p:tgtEl>
                                    <p:spTgt spid="16"/>
                                  </p:tgtEl>
                                  <p:attrNameLst>
                                    <p:attrName>style.opacity</p:attrName>
                                  </p:attrNameLst>
                                </p:cBhvr>
                                <p:tavLst>
                                  <p:tav tm="0">
                                    <p:val>
                                      <p:fltVal val="0"/>
                                    </p:val>
                                  </p:tav>
                                  <p:tav tm="100000">
                                    <p:val>
                                      <p:fltVal val="1"/>
                                    </p:val>
                                  </p:tav>
                                </p:tavLst>
                              </p:anim>
                            </p:childTnLst>
                          </p:cTn>
                        </p:par>
                        <p:par>
                          <p:cTn id="142" presetID="10" presetClass="entr" presetSubtype="0" fill="hold" grpId="0" nodeType="afterEffect">
                            <p:stCondLst>
                              <p:cond delay="1360"/>
                            </p:stCondLst>
                            <p:childTnLst>
                              <p:set>
                                <p:cBhvr>
                                  <p:cTn id="143" dur="1" fill="hold">
                                    <p:stCondLst>
                                      <p:cond delay="0"/>
                                    </p:stCondLst>
                                  </p:cTn>
                                  <p:tgtEl>
                                    <p:spTgt spid="17"/>
                                  </p:tgtEl>
                                  <p:attrNameLst>
                                    <p:attrName>style.visibility</p:attrName>
                                  </p:attrNameLst>
                                </p:cBhvr>
                                <p:to>
                                  <p:strVal val="visible"/>
                                </p:to>
                              </p:set>
                              <p:anim calcmode="lin" valueType="num">
                                <p:cBhvr>
                                  <p:cTn id="144" dur="500"/>
                                  <p:tgtEl>
                                    <p:spTgt spid="17"/>
                                  </p:tgtEl>
                                  <p:attrNameLst>
                                    <p:attrName>style.opacity</p:attrName>
                                  </p:attrNameLst>
                                </p:cBhvr>
                                <p:tavLst>
                                  <p:tav tm="0">
                                    <p:val>
                                      <p:fltVal val="0"/>
                                    </p:val>
                                  </p:tav>
                                  <p:tav tm="100000">
                                    <p:val>
                                      <p:fltVal val="1"/>
                                    </p:val>
                                  </p:tav>
                                </p:tavLst>
                              </p:anim>
                              <p:set>
                                <p:cBhvr>
                                  <p:cTn id="145" dur="1" fill="hold">
                                    <p:stCondLst>
                                      <p:cond delay="0"/>
                                    </p:stCondLst>
                                  </p:cTn>
                                  <p:tgtEl>
                                    <p:spTgt spid="18"/>
                                  </p:tgtEl>
                                  <p:attrNameLst>
                                    <p:attrName>style.visibility</p:attrName>
                                  </p:attrNameLst>
                                </p:cBhvr>
                                <p:to>
                                  <p:strVal val="visible"/>
                                </p:to>
                              </p:set>
                              <p:anim calcmode="lin" valueType="num">
                                <p:cBhvr>
                                  <p:cTn id="146" dur="500"/>
                                  <p:tgtEl>
                                    <p:spTgt spid="18"/>
                                  </p:tgtEl>
                                  <p:attrNameLst>
                                    <p:attrName>style.opacity</p:attrName>
                                  </p:attrNameLst>
                                </p:cBhvr>
                                <p:tavLst>
                                  <p:tav tm="0">
                                    <p:val>
                                      <p:fltVal val="0"/>
                                    </p:val>
                                  </p:tav>
                                  <p:tav tm="100000">
                                    <p:val>
                                      <p:fltVal val="1"/>
                                    </p:val>
                                  </p:tav>
                                </p:tavLst>
                              </p:anim>
                              <p:set>
                                <p:cBhvr>
                                  <p:cTn id="147" dur="1" fill="hold">
                                    <p:stCondLst>
                                      <p:cond delay="0"/>
                                    </p:stCondLst>
                                  </p:cTn>
                                  <p:tgtEl>
                                    <p:spTgt spid="19"/>
                                  </p:tgtEl>
                                  <p:attrNameLst>
                                    <p:attrName>style.visibility</p:attrName>
                                  </p:attrNameLst>
                                </p:cBhvr>
                                <p:to>
                                  <p:strVal val="visible"/>
                                </p:to>
                              </p:set>
                              <p:anim calcmode="lin" valueType="num">
                                <p:cBhvr>
                                  <p:cTn id="148" dur="500"/>
                                  <p:tgtEl>
                                    <p:spTgt spid="19"/>
                                  </p:tgtEl>
                                  <p:attrNameLst>
                                    <p:attrName>style.opacity</p:attrName>
                                  </p:attrNameLst>
                                </p:cBhvr>
                                <p:tavLst>
                                  <p:tav tm="0">
                                    <p:val>
                                      <p:fltVal val="0"/>
                                    </p:val>
                                  </p:tav>
                                  <p:tav tm="100000">
                                    <p:val>
                                      <p:fltVal val="1"/>
                                    </p:val>
                                  </p:tav>
                                </p:tavLst>
                              </p:anim>
                            </p:childTnLst>
                          </p:cTn>
                        </p:par>
                        <p:par>
                          <p:cTn id="149" presetID="10" presetClass="entr" presetSubtype="0" fill="hold" grpId="0" nodeType="afterEffect">
                            <p:stCondLst>
                              <p:cond delay="1470"/>
                            </p:stCondLst>
                            <p:childTnLst>
                              <p:set>
                                <p:cBhvr>
                                  <p:cTn id="150" dur="1" fill="hold">
                                    <p:stCondLst>
                                      <p:cond delay="0"/>
                                    </p:stCondLst>
                                  </p:cTn>
                                  <p:tgtEl>
                                    <p:spTgt spid="20"/>
                                  </p:tgtEl>
                                  <p:attrNameLst>
                                    <p:attrName>style.visibility</p:attrName>
                                  </p:attrNameLst>
                                </p:cBhvr>
                                <p:to>
                                  <p:strVal val="visible"/>
                                </p:to>
                              </p:set>
                              <p:anim calcmode="lin" valueType="num">
                                <p:cBhvr>
                                  <p:cTn id="151" dur="500"/>
                                  <p:tgtEl>
                                    <p:spTgt spid="20"/>
                                  </p:tgtEl>
                                  <p:attrNameLst>
                                    <p:attrName>style.opacity</p:attrName>
                                  </p:attrNameLst>
                                </p:cBhvr>
                                <p:tavLst>
                                  <p:tav tm="0">
                                    <p:val>
                                      <p:fltVal val="0"/>
                                    </p:val>
                                  </p:tav>
                                  <p:tav tm="100000">
                                    <p:val>
                                      <p:fltVal val="1"/>
                                    </p:val>
                                  </p:tav>
                                </p:tavLst>
                              </p:anim>
                              <p:set>
                                <p:cBhvr>
                                  <p:cTn id="152" dur="1" fill="hold">
                                    <p:stCondLst>
                                      <p:cond delay="0"/>
                                    </p:stCondLst>
                                  </p:cTn>
                                  <p:tgtEl>
                                    <p:spTgt spid="21"/>
                                  </p:tgtEl>
                                  <p:attrNameLst>
                                    <p:attrName>style.visibility</p:attrName>
                                  </p:attrNameLst>
                                </p:cBhvr>
                                <p:to>
                                  <p:strVal val="visible"/>
                                </p:to>
                              </p:set>
                              <p:anim calcmode="lin" valueType="num">
                                <p:cBhvr>
                                  <p:cTn id="153" dur="500"/>
                                  <p:tgtEl>
                                    <p:spTgt spid="21"/>
                                  </p:tgtEl>
                                  <p:attrNameLst>
                                    <p:attrName>style.opacity</p:attrName>
                                  </p:attrNameLst>
                                </p:cBhvr>
                                <p:tavLst>
                                  <p:tav tm="0">
                                    <p:val>
                                      <p:fltVal val="0"/>
                                    </p:val>
                                  </p:tav>
                                  <p:tav tm="100000">
                                    <p:val>
                                      <p:fltVal val="1"/>
                                    </p:val>
                                  </p:tav>
                                </p:tavLst>
                              </p:anim>
                              <p:set>
                                <p:cBhvr>
                                  <p:cTn id="154" dur="1" fill="hold">
                                    <p:stCondLst>
                                      <p:cond delay="0"/>
                                    </p:stCondLst>
                                  </p:cTn>
                                  <p:tgtEl>
                                    <p:spTgt spid="22"/>
                                  </p:tgtEl>
                                  <p:attrNameLst>
                                    <p:attrName>style.visibility</p:attrName>
                                  </p:attrNameLst>
                                </p:cBhvr>
                                <p:to>
                                  <p:strVal val="visible"/>
                                </p:to>
                              </p:set>
                              <p:anim calcmode="lin" valueType="num">
                                <p:cBhvr>
                                  <p:cTn id="155" dur="500"/>
                                  <p:tgtEl>
                                    <p:spTgt spid="22"/>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workspace/assets/swahilipot_cover_hero.jpg"/>
          <p:cNvPicPr>
            <a:picLocks noChangeAspect="1"/>
          </p:cNvPicPr>
          <p:nvPr/>
        </p:nvPicPr>
        <p:blipFill>
          <a:blip r:embed="rId1"/>
          <a:srcRect l="389" r="389"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72A">
              <a:alpha val="44000"/>
            </a:srgbClr>
          </a:solidFill>
          <a:ln w="12700">
            <a:solidFill>
              <a:srgbClr val="0F172A">
                <a:alpha val="0"/>
              </a:srgbClr>
            </a:solidFill>
            <a:prstDash val="solid"/>
          </a:ln>
        </p:spPr>
      </p:sp>
      <p:sp>
        <p:nvSpPr>
          <p:cNvPr id="4" name="Shape 1"/>
          <p:cNvSpPr/>
          <p:nvPr/>
        </p:nvSpPr>
        <p:spPr>
          <a:xfrm>
            <a:off x="804672" y="960120"/>
            <a:ext cx="10469880" cy="4892040"/>
          </a:xfrm>
          <a:prstGeom prst="rect">
            <a:avLst/>
          </a:prstGeom>
          <a:solidFill>
            <a:srgbClr val="13233F">
              <a:alpha val="46000"/>
            </a:srgbClr>
          </a:solidFill>
          <a:ln w="12700">
            <a:solidFill>
              <a:srgbClr val="FFFFFF">
                <a:alpha val="22000"/>
              </a:srgbClr>
            </a:solidFill>
            <a:prstDash val="solid"/>
          </a:ln>
        </p:spPr>
      </p:sp>
      <p:sp>
        <p:nvSpPr>
          <p:cNvPr id="5" name="Shape 2"/>
          <p:cNvSpPr/>
          <p:nvPr/>
        </p:nvSpPr>
        <p:spPr>
          <a:xfrm>
            <a:off x="4937760" y="1353312"/>
            <a:ext cx="1335024" cy="310896"/>
          </a:xfrm>
          <a:prstGeom prst="roundRect">
            <a:avLst>
              <a:gd name="adj" fmla="val 23529"/>
            </a:avLst>
          </a:prstGeom>
          <a:solidFill>
            <a:srgbClr val="2C5193"/>
          </a:solidFill>
          <a:ln w="12700">
            <a:solidFill>
              <a:srgbClr val="2C5193">
                <a:alpha val="0"/>
              </a:srgbClr>
            </a:solidFill>
            <a:prstDash val="solid"/>
          </a:ln>
        </p:spPr>
      </p:sp>
      <p:sp>
        <p:nvSpPr>
          <p:cNvPr id="6" name="Text 3"/>
          <p:cNvSpPr/>
          <p:nvPr/>
        </p:nvSpPr>
        <p:spPr>
          <a:xfrm>
            <a:off x="5047488" y="1403604"/>
            <a:ext cx="1115568" cy="164592"/>
          </a:xfrm>
          <a:prstGeom prst="rect">
            <a:avLst/>
          </a:prstGeom>
          <a:noFill/>
          <a:ln/>
        </p:spPr>
        <p:txBody>
          <a:bodyPr wrap="square" lIns="0" tIns="0" rIns="0" bIns="0" rtlCol="0" anchor="ctr"/>
          <a:lstStyle/>
          <a:p>
            <a:pPr algn="ctr" indent="0" marL="0">
              <a:buNone/>
            </a:pPr>
            <a:r>
              <a:rPr lang="en-US" sz="850" b="1" dirty="0">
                <a:solidFill>
                  <a:srgbClr val="FFFFFF"/>
                </a:solidFill>
                <a:latin typeface="Liberation Mono" pitchFamily="34" charset="0"/>
                <a:ea typeface="Liberation Mono" pitchFamily="34" charset="-122"/>
                <a:cs typeface="Liberation Mono" pitchFamily="34" charset="-120"/>
              </a:rPr>
              <a:t>CLOSING NOTE</a:t>
            </a:r>
            <a:endParaRPr lang="en-US" sz="850" dirty="0"/>
          </a:p>
        </p:txBody>
      </p:sp>
      <p:sp>
        <p:nvSpPr>
          <p:cNvPr id="7" name="Text 4"/>
          <p:cNvSpPr/>
          <p:nvPr/>
        </p:nvSpPr>
        <p:spPr>
          <a:xfrm>
            <a:off x="3886200" y="2103120"/>
            <a:ext cx="438912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Liberation Sans" pitchFamily="34" charset="0"/>
                <a:ea typeface="Liberation Sans" pitchFamily="34" charset="-122"/>
                <a:cs typeface="Liberation Sans" pitchFamily="34" charset="-120"/>
              </a:rPr>
              <a:t>Thank You</a:t>
            </a:r>
            <a:endParaRPr lang="en-US" sz="2800" dirty="0"/>
          </a:p>
        </p:txBody>
      </p:sp>
      <p:sp>
        <p:nvSpPr>
          <p:cNvPr id="8" name="Text 5"/>
          <p:cNvSpPr/>
          <p:nvPr/>
        </p:nvSpPr>
        <p:spPr>
          <a:xfrm>
            <a:off x="2011680" y="2889504"/>
            <a:ext cx="8183880" cy="804672"/>
          </a:xfrm>
          <a:prstGeom prst="rect">
            <a:avLst/>
          </a:prstGeom>
          <a:noFill/>
          <a:ln/>
        </p:spPr>
        <p:txBody>
          <a:bodyPr wrap="square" lIns="0" tIns="0" rIns="0" bIns="0" rtlCol="0" anchor="ctr"/>
          <a:lstStyle/>
          <a:p>
            <a:pPr algn="ctr" indent="0" marL="0">
              <a:buNone/>
            </a:pPr>
            <a:r>
              <a:rPr lang="en-US" sz="1500" dirty="0">
                <a:solidFill>
                  <a:srgbClr val="E7F0FF"/>
                </a:solidFill>
                <a:latin typeface="Liberation Sans" pitchFamily="34" charset="0"/>
                <a:ea typeface="Liberation Sans" pitchFamily="34" charset="-122"/>
                <a:cs typeface="Liberation Sans" pitchFamily="34" charset="-120"/>
              </a:rPr>
              <a:t>The Swahilipot Management System now presents a stronger foundation for accountable operations, institutional collaboration, reporting, security, and future growth.</a:t>
            </a:r>
            <a:endParaRPr lang="en-US" sz="1500" dirty="0"/>
          </a:p>
        </p:txBody>
      </p:sp>
      <p:sp>
        <p:nvSpPr>
          <p:cNvPr id="9" name="Text 6"/>
          <p:cNvSpPr/>
          <p:nvPr/>
        </p:nvSpPr>
        <p:spPr>
          <a:xfrm>
            <a:off x="3858768" y="4754880"/>
            <a:ext cx="4480560" cy="201168"/>
          </a:xfrm>
          <a:prstGeom prst="rect">
            <a:avLst/>
          </a:prstGeom>
          <a:noFill/>
          <a:ln/>
        </p:spPr>
        <p:txBody>
          <a:bodyPr wrap="square" lIns="0" tIns="0" rIns="0" bIns="0" rtlCol="0" anchor="ctr"/>
          <a:lstStyle/>
          <a:p>
            <a:pPr algn="ctr" indent="0" marL="0">
              <a:buNone/>
            </a:pPr>
            <a:r>
              <a:rPr lang="en-US" sz="920" dirty="0">
                <a:solidFill>
                  <a:srgbClr val="D7E6FF"/>
                </a:solidFill>
                <a:latin typeface="Liberation Mono" pitchFamily="34" charset="0"/>
                <a:ea typeface="Liberation Mono" pitchFamily="34" charset="-122"/>
                <a:cs typeface="Liberation Mono" pitchFamily="34" charset="-120"/>
              </a:rPr>
              <a:t>Prepared from the enhancement report provided.</a:t>
            </a:r>
            <a:endParaRPr lang="en-US" sz="920" dirty="0"/>
          </a:p>
        </p:txBody>
      </p:sp>
      <p:sp>
        <p:nvSpPr>
          <p:cNvPr id="12"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13" name="Swahilipot Logo"/>
          <p:cNvPicPr>
            <a:picLocks noChangeAspect="1"/>
          </p:cNvPicPr>
          <p:nvPr/>
        </p:nvPicPr>
        <p:blipFill>
          <a:blip r:embed="rId4"/>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4"/>
                                  </p:tgtEl>
                                  <p:attrNameLst>
                                    <p:attrName>style.visibility</p:attrName>
                                  </p:attrNameLst>
                                </p:cBhvr>
                                <p:to>
                                  <p:strVal val="visible"/>
                                </p:to>
                              </p:set>
                              <p:anim calcmode="lin" valueType="num">
                                <p:cBhvr>
                                  <p:cTn id="103" dur="500"/>
                                  <p:tgtEl>
                                    <p:spTgt spid="4"/>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5"/>
                                  </p:tgtEl>
                                  <p:attrNameLst>
                                    <p:attrName>style.visibility</p:attrName>
                                  </p:attrNameLst>
                                </p:cBhvr>
                                <p:to>
                                  <p:strVal val="visible"/>
                                </p:to>
                              </p:set>
                              <p:anim calcmode="lin" valueType="num">
                                <p:cBhvr>
                                  <p:cTn id="106" dur="500"/>
                                  <p:tgtEl>
                                    <p:spTgt spid="5"/>
                                  </p:tgtEl>
                                  <p:attrNameLst>
                                    <p:attrName>style.opacity</p:attrName>
                                  </p:attrNameLst>
                                </p:cBhvr>
                                <p:tavLst>
                                  <p:tav tm="0">
                                    <p:val>
                                      <p:fltVal val="0"/>
                                    </p:val>
                                  </p:tav>
                                  <p:tav tm="100000">
                                    <p:val>
                                      <p:fltVal val="1"/>
                                    </p:val>
                                  </p:tav>
                                </p:tavLst>
                              </p:anim>
                              <p:set>
                                <p:cBhvr>
                                  <p:cTn id="107" dur="1" fill="hold">
                                    <p:stCondLst>
                                      <p:cond delay="0"/>
                                    </p:stCondLst>
                                  </p:cTn>
                                  <p:tgtEl>
                                    <p:spTgt spid="6"/>
                                  </p:tgtEl>
                                  <p:attrNameLst>
                                    <p:attrName>style.visibility</p:attrName>
                                  </p:attrNameLst>
                                </p:cBhvr>
                                <p:to>
                                  <p:strVal val="visible"/>
                                </p:to>
                              </p:set>
                              <p:anim calcmode="lin" valueType="num">
                                <p:cBhvr>
                                  <p:cTn id="108" dur="500"/>
                                  <p:tgtEl>
                                    <p:spTgt spid="6"/>
                                  </p:tgtEl>
                                  <p:attrNameLst>
                                    <p:attrName>style.opacity</p:attrName>
                                  </p:attrNameLst>
                                </p:cBhvr>
                                <p:tavLst>
                                  <p:tav tm="0">
                                    <p:val>
                                      <p:fltVal val="0"/>
                                    </p:val>
                                  </p:tav>
                                  <p:tav tm="100000">
                                    <p:val>
                                      <p:fltVal val="1"/>
                                    </p:val>
                                  </p:tav>
                                </p:tavLst>
                              </p:anim>
                            </p:childTnLst>
                          </p:cTn>
                        </p:par>
                        <p:par>
                          <p:cTn id="109" presetID="10" presetClass="entr" presetSubtype="0" fill="hold" grpId="0" nodeType="afterEffect">
                            <p:stCondLst>
                              <p:cond delay="450"/>
                            </p:stCondLst>
                            <p:childTnLst>
                              <p:set>
                                <p:cBhvr>
                                  <p:cTn id="110" dur="1" fill="hold">
                                    <p:stCondLst>
                                      <p:cond delay="0"/>
                                    </p:stCondLst>
                                  </p:cTn>
                                  <p:tgtEl>
                                    <p:spTgt spid="7"/>
                                  </p:tgtEl>
                                  <p:attrNameLst>
                                    <p:attrName>style.visibility</p:attrName>
                                  </p:attrNameLst>
                                </p:cBhvr>
                                <p:to>
                                  <p:strVal val="visible"/>
                                </p:to>
                              </p:set>
                              <p:anim calcmode="lin" valueType="num">
                                <p:cBhvr>
                                  <p:cTn id="111" dur="500"/>
                                  <p:tgtEl>
                                    <p:spTgt spid="7"/>
                                  </p:tgtEl>
                                  <p:attrNameLst>
                                    <p:attrName>style.opacity</p:attrName>
                                  </p:attrNameLst>
                                </p:cBhvr>
                                <p:tavLst>
                                  <p:tav tm="0">
                                    <p:val>
                                      <p:fltVal val="0"/>
                                    </p:val>
                                  </p:tav>
                                  <p:tav tm="100000">
                                    <p:val>
                                      <p:fltVal val="1"/>
                                    </p:val>
                                  </p:tav>
                                </p:tavLst>
                              </p:anim>
                            </p:childTnLst>
                          </p:cTn>
                        </p:par>
                        <p:par>
                          <p:cTn id="112" presetID="10" presetClass="entr" presetSubtype="0" fill="hold" grpId="0" nodeType="afterEffect">
                            <p:stCondLst>
                              <p:cond delay="600"/>
                            </p:stCondLst>
                            <p:childTnLst>
                              <p:set>
                                <p:cBhvr>
                                  <p:cTn id="113" dur="1" fill="hold">
                                    <p:stCondLst>
                                      <p:cond delay="0"/>
                                    </p:stCondLst>
                                  </p:cTn>
                                  <p:tgtEl>
                                    <p:spTgt spid="8"/>
                                  </p:tgtEl>
                                  <p:attrNameLst>
                                    <p:attrName>style.visibility</p:attrName>
                                  </p:attrNameLst>
                                </p:cBhvr>
                                <p:to>
                                  <p:strVal val="visible"/>
                                </p:to>
                              </p:set>
                              <p:anim calcmode="lin" valueType="num">
                                <p:cBhvr>
                                  <p:cTn id="114" dur="500"/>
                                  <p:tgtEl>
                                    <p:spTgt spid="8"/>
                                  </p:tgtEl>
                                  <p:attrNameLst>
                                    <p:attrName>style.opacity</p:attrName>
                                  </p:attrNameLst>
                                </p:cBhvr>
                                <p:tavLst>
                                  <p:tav tm="0">
                                    <p:val>
                                      <p:fltVal val="0"/>
                                    </p:val>
                                  </p:tav>
                                  <p:tav tm="100000">
                                    <p:val>
                                      <p:fltVal val="1"/>
                                    </p:val>
                                  </p:tav>
                                </p:tavLst>
                              </p:anim>
                            </p:childTnLst>
                          </p:cTn>
                        </p:par>
                        <p:par>
                          <p:cTn id="115" presetID="10" presetClass="entr" presetSubtype="0" fill="hold" grpId="0" nodeType="afterEffect">
                            <p:stCondLst>
                              <p:cond delay="750"/>
                            </p:stCondLst>
                            <p:childTnLst>
                              <p:set>
                                <p:cBhvr>
                                  <p:cTn id="116" dur="1" fill="hold">
                                    <p:stCondLst>
                                      <p:cond delay="0"/>
                                    </p:stCondLst>
                                  </p:cTn>
                                  <p:tgtEl>
                                    <p:spTgt spid="9"/>
                                  </p:tgtEl>
                                  <p:attrNameLst>
                                    <p:attrName>style.visibility</p:attrName>
                                  </p:attrNameLst>
                                </p:cBhvr>
                                <p:to>
                                  <p:strVal val="visible"/>
                                </p:to>
                              </p:set>
                              <p:anim calcmode="lin" valueType="num">
                                <p:cBhvr>
                                  <p:cTn id="117" dur="500"/>
                                  <p:tgtEl>
                                    <p:spTgt spid="9"/>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Messaging Platform Creates Faster Internal and User Communication</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A structured messaging layer can connect alerts, updates, and collaboration without forcing users to leave the system.</a:t>
            </a:r>
            <a:endParaRPr lang="en-US" sz="1050" dirty="0"/>
          </a:p>
        </p:txBody>
      </p:sp>
      <p:sp>
        <p:nvSpPr>
          <p:cNvPr id="5" name="Shape 3"/>
          <p:cNvSpPr/>
          <p:nvPr/>
        </p:nvSpPr>
        <p:spPr>
          <a:xfrm>
            <a:off x="749808" y="1444752"/>
            <a:ext cx="10698480" cy="4352544"/>
          </a:xfrm>
          <a:prstGeom prst="roundRect">
            <a:avLst>
              <a:gd name="adj" fmla="val 2521"/>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60120" y="1645920"/>
            <a:ext cx="1572768"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9848" y="1696212"/>
            <a:ext cx="1353312"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MESSAGING PLATFORM</a:t>
            </a:r>
            <a:endParaRPr lang="en-US" sz="850" dirty="0"/>
          </a:p>
        </p:txBody>
      </p:sp>
      <p:sp>
        <p:nvSpPr>
          <p:cNvPr id="8" name="Text 6"/>
          <p:cNvSpPr/>
          <p:nvPr/>
        </p:nvSpPr>
        <p:spPr>
          <a:xfrm>
            <a:off x="960120" y="1993392"/>
            <a:ext cx="5943600" cy="256032"/>
          </a:xfrm>
          <a:prstGeom prst="rect">
            <a:avLst/>
          </a:prstGeom>
          <a:noFill/>
          <a:ln/>
        </p:spPr>
        <p:txBody>
          <a:bodyPr wrap="square" lIns="0" tIns="0" rIns="0" bIns="0" rtlCol="0" anchor="ctr"/>
          <a:lstStyle/>
          <a:p>
            <a:pPr indent="0" marL="0">
              <a:buNone/>
            </a:pPr>
            <a:r>
              <a:rPr lang="en-US" sz="1800" b="1" dirty="0">
                <a:solidFill>
                  <a:srgbClr val="13233F"/>
                </a:solidFill>
                <a:latin typeface="Liberation Sans" pitchFamily="34" charset="0"/>
                <a:ea typeface="Liberation Sans" pitchFamily="34" charset="-122"/>
                <a:cs typeface="Liberation Sans" pitchFamily="34" charset="-120"/>
              </a:rPr>
              <a:t>Messaging works best when operational notifications, direct conversations, and audit trails are handled in one coordinated flow.</a:t>
            </a:r>
            <a:endParaRPr lang="en-US" sz="1800" dirty="0"/>
          </a:p>
        </p:txBody>
      </p:sp>
      <p:sp>
        <p:nvSpPr>
          <p:cNvPr id="9" name="Shape 7"/>
          <p:cNvSpPr/>
          <p:nvPr/>
        </p:nvSpPr>
        <p:spPr>
          <a:xfrm>
            <a:off x="1005840" y="2788920"/>
            <a:ext cx="1536192"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0" name="Shape 8"/>
          <p:cNvSpPr/>
          <p:nvPr/>
        </p:nvSpPr>
        <p:spPr>
          <a:xfrm>
            <a:off x="1005840" y="2788920"/>
            <a:ext cx="1536192" cy="164592"/>
          </a:xfrm>
          <a:prstGeom prst="rect">
            <a:avLst/>
          </a:prstGeom>
          <a:solidFill>
            <a:srgbClr val="1E40AF"/>
          </a:solidFill>
          <a:ln w="12700">
            <a:solidFill>
              <a:srgbClr val="1E40AF">
                <a:alpha val="0"/>
              </a:srgbClr>
            </a:solidFill>
            <a:prstDash val="solid"/>
          </a:ln>
        </p:spPr>
      </p:sp>
      <p:sp>
        <p:nvSpPr>
          <p:cNvPr id="11" name="Text 9"/>
          <p:cNvSpPr/>
          <p:nvPr/>
        </p:nvSpPr>
        <p:spPr>
          <a:xfrm>
            <a:off x="1143000"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Notify</a:t>
            </a:r>
            <a:endParaRPr lang="en-US" sz="1350" dirty="0"/>
          </a:p>
        </p:txBody>
      </p:sp>
      <p:sp>
        <p:nvSpPr>
          <p:cNvPr id="12" name="Text 10"/>
          <p:cNvSpPr/>
          <p:nvPr/>
        </p:nvSpPr>
        <p:spPr>
          <a:xfrm>
            <a:off x="1143000"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System events can trigger targeted messages for users, supervisors, or admins.</a:t>
            </a:r>
            <a:endParaRPr lang="en-US" sz="880" dirty="0"/>
          </a:p>
        </p:txBody>
      </p:sp>
      <p:sp>
        <p:nvSpPr>
          <p:cNvPr id="13" name="Shape 11"/>
          <p:cNvSpPr/>
          <p:nvPr/>
        </p:nvSpPr>
        <p:spPr>
          <a:xfrm>
            <a:off x="2670048" y="3090672"/>
            <a:ext cx="201168" cy="256032"/>
          </a:xfrm>
          <a:prstGeom prst="chevron">
            <a:avLst/>
          </a:prstGeom>
          <a:solidFill>
            <a:srgbClr val="C8D8F0"/>
          </a:solidFill>
          <a:ln w="12700">
            <a:solidFill>
              <a:srgbClr val="C8D8F0">
                <a:alpha val="0"/>
              </a:srgbClr>
            </a:solidFill>
            <a:prstDash val="solid"/>
          </a:ln>
        </p:spPr>
      </p:sp>
      <p:sp>
        <p:nvSpPr>
          <p:cNvPr id="14" name="Shape 12"/>
          <p:cNvSpPr/>
          <p:nvPr/>
        </p:nvSpPr>
        <p:spPr>
          <a:xfrm>
            <a:off x="3035808" y="2788920"/>
            <a:ext cx="1536192" cy="960120"/>
          </a:xfrm>
          <a:prstGeom prst="roundRect">
            <a:avLst>
              <a:gd name="adj" fmla="val 9524"/>
            </a:avLst>
          </a:prstGeom>
          <a:solidFill>
            <a:srgbClr val="FFFFFF"/>
          </a:solidFill>
          <a:ln w="12700">
            <a:solidFill>
              <a:srgbClr val="1E40AF"/>
            </a:solidFill>
            <a:prstDash val="solid"/>
          </a:ln>
          <a:effectLst>
            <a:outerShdw sx="100000" sy="100000" kx="0" ky="0" algn="bl" rotWithShape="0" blurRad="25400" dist="12700" dir="2700000">
              <a:srgbClr val="7C93B8">
                <a:alpha val="15000"/>
              </a:srgbClr>
            </a:outerShdw>
          </a:effectLst>
        </p:spPr>
      </p:sp>
      <p:sp>
        <p:nvSpPr>
          <p:cNvPr id="15" name="Shape 13"/>
          <p:cNvSpPr/>
          <p:nvPr/>
        </p:nvSpPr>
        <p:spPr>
          <a:xfrm>
            <a:off x="3035808" y="2788920"/>
            <a:ext cx="1536192" cy="164592"/>
          </a:xfrm>
          <a:prstGeom prst="rect">
            <a:avLst/>
          </a:prstGeom>
          <a:solidFill>
            <a:srgbClr val="1E40AF"/>
          </a:solidFill>
          <a:ln w="12700">
            <a:solidFill>
              <a:srgbClr val="1E40AF">
                <a:alpha val="0"/>
              </a:srgbClr>
            </a:solidFill>
            <a:prstDash val="solid"/>
          </a:ln>
        </p:spPr>
      </p:sp>
      <p:sp>
        <p:nvSpPr>
          <p:cNvPr id="16" name="Text 14"/>
          <p:cNvSpPr/>
          <p:nvPr/>
        </p:nvSpPr>
        <p:spPr>
          <a:xfrm>
            <a:off x="3172968"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Route</a:t>
            </a:r>
            <a:endParaRPr lang="en-US" sz="1350" dirty="0"/>
          </a:p>
        </p:txBody>
      </p:sp>
      <p:sp>
        <p:nvSpPr>
          <p:cNvPr id="17" name="Text 15"/>
          <p:cNvSpPr/>
          <p:nvPr/>
        </p:nvSpPr>
        <p:spPr>
          <a:xfrm>
            <a:off x="3172968"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Messages can be directed by module, role, urgency, or channel preference.</a:t>
            </a:r>
            <a:endParaRPr lang="en-US" sz="880" dirty="0"/>
          </a:p>
        </p:txBody>
      </p:sp>
      <p:sp>
        <p:nvSpPr>
          <p:cNvPr id="18" name="Shape 16"/>
          <p:cNvSpPr/>
          <p:nvPr/>
        </p:nvSpPr>
        <p:spPr>
          <a:xfrm>
            <a:off x="4700016" y="3090672"/>
            <a:ext cx="201168" cy="256032"/>
          </a:xfrm>
          <a:prstGeom prst="chevron">
            <a:avLst/>
          </a:prstGeom>
          <a:solidFill>
            <a:srgbClr val="C8D8F0"/>
          </a:solidFill>
          <a:ln w="12700">
            <a:solidFill>
              <a:srgbClr val="C8D8F0">
                <a:alpha val="0"/>
              </a:srgbClr>
            </a:solidFill>
            <a:prstDash val="solid"/>
          </a:ln>
        </p:spPr>
      </p:sp>
      <p:sp>
        <p:nvSpPr>
          <p:cNvPr id="19" name="Shape 17"/>
          <p:cNvSpPr/>
          <p:nvPr/>
        </p:nvSpPr>
        <p:spPr>
          <a:xfrm>
            <a:off x="5065776" y="2788920"/>
            <a:ext cx="1536192"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20" name="Shape 18"/>
          <p:cNvSpPr/>
          <p:nvPr/>
        </p:nvSpPr>
        <p:spPr>
          <a:xfrm>
            <a:off x="5065776" y="2788920"/>
            <a:ext cx="1536192" cy="164592"/>
          </a:xfrm>
          <a:prstGeom prst="rect">
            <a:avLst/>
          </a:prstGeom>
          <a:solidFill>
            <a:srgbClr val="3B82F6"/>
          </a:solidFill>
          <a:ln w="12700">
            <a:solidFill>
              <a:srgbClr val="3B82F6">
                <a:alpha val="0"/>
              </a:srgbClr>
            </a:solidFill>
            <a:prstDash val="solid"/>
          </a:ln>
        </p:spPr>
      </p:sp>
      <p:sp>
        <p:nvSpPr>
          <p:cNvPr id="21" name="Text 19"/>
          <p:cNvSpPr/>
          <p:nvPr/>
        </p:nvSpPr>
        <p:spPr>
          <a:xfrm>
            <a:off x="5202936"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Respond</a:t>
            </a:r>
            <a:endParaRPr lang="en-US" sz="1350" dirty="0"/>
          </a:p>
        </p:txBody>
      </p:sp>
      <p:sp>
        <p:nvSpPr>
          <p:cNvPr id="22" name="Text 20"/>
          <p:cNvSpPr/>
          <p:nvPr/>
        </p:nvSpPr>
        <p:spPr>
          <a:xfrm>
            <a:off x="5202936"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Users can reply or act directly from the notification context.</a:t>
            </a:r>
            <a:endParaRPr lang="en-US" sz="880" dirty="0"/>
          </a:p>
        </p:txBody>
      </p:sp>
      <p:sp>
        <p:nvSpPr>
          <p:cNvPr id="23" name="Shape 21"/>
          <p:cNvSpPr/>
          <p:nvPr/>
        </p:nvSpPr>
        <p:spPr>
          <a:xfrm>
            <a:off x="6729984" y="3090672"/>
            <a:ext cx="201168" cy="256032"/>
          </a:xfrm>
          <a:prstGeom prst="chevron">
            <a:avLst/>
          </a:prstGeom>
          <a:solidFill>
            <a:srgbClr val="C8D8F0"/>
          </a:solidFill>
          <a:ln w="12700">
            <a:solidFill>
              <a:srgbClr val="C8D8F0">
                <a:alpha val="0"/>
              </a:srgbClr>
            </a:solidFill>
            <a:prstDash val="solid"/>
          </a:ln>
        </p:spPr>
      </p:sp>
      <p:sp>
        <p:nvSpPr>
          <p:cNvPr id="24" name="Shape 22"/>
          <p:cNvSpPr/>
          <p:nvPr/>
        </p:nvSpPr>
        <p:spPr>
          <a:xfrm>
            <a:off x="7095744" y="2788920"/>
            <a:ext cx="1536192" cy="960120"/>
          </a:xfrm>
          <a:prstGeom prst="roundRect">
            <a:avLst>
              <a:gd name="adj" fmla="val 9524"/>
            </a:avLst>
          </a:prstGeom>
          <a:solidFill>
            <a:srgbClr val="FFFFFF"/>
          </a:solidFill>
          <a:ln w="12700">
            <a:solidFill>
              <a:srgbClr val="3B82F6"/>
            </a:solidFill>
            <a:prstDash val="solid"/>
          </a:ln>
          <a:effectLst>
            <a:outerShdw sx="100000" sy="100000" kx="0" ky="0" algn="bl" rotWithShape="0" blurRad="25400" dist="12700" dir="2700000">
              <a:srgbClr val="7C93B8">
                <a:alpha val="15000"/>
              </a:srgbClr>
            </a:outerShdw>
          </a:effectLst>
        </p:spPr>
      </p:sp>
      <p:sp>
        <p:nvSpPr>
          <p:cNvPr id="25" name="Shape 23"/>
          <p:cNvSpPr/>
          <p:nvPr/>
        </p:nvSpPr>
        <p:spPr>
          <a:xfrm>
            <a:off x="7095744" y="2788920"/>
            <a:ext cx="1536192" cy="164592"/>
          </a:xfrm>
          <a:prstGeom prst="rect">
            <a:avLst/>
          </a:prstGeom>
          <a:solidFill>
            <a:srgbClr val="3B82F6"/>
          </a:solidFill>
          <a:ln w="12700">
            <a:solidFill>
              <a:srgbClr val="3B82F6">
                <a:alpha val="0"/>
              </a:srgbClr>
            </a:solidFill>
            <a:prstDash val="solid"/>
          </a:ln>
        </p:spPr>
      </p:sp>
      <p:sp>
        <p:nvSpPr>
          <p:cNvPr id="26" name="Text 24"/>
          <p:cNvSpPr/>
          <p:nvPr/>
        </p:nvSpPr>
        <p:spPr>
          <a:xfrm>
            <a:off x="7232904"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Track</a:t>
            </a:r>
            <a:endParaRPr lang="en-US" sz="1350" dirty="0"/>
          </a:p>
        </p:txBody>
      </p:sp>
      <p:sp>
        <p:nvSpPr>
          <p:cNvPr id="27" name="Text 25"/>
          <p:cNvSpPr/>
          <p:nvPr/>
        </p:nvSpPr>
        <p:spPr>
          <a:xfrm>
            <a:off x="7232904"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Conversation history keeps a searchable trail of updates and decisions.</a:t>
            </a:r>
            <a:endParaRPr lang="en-US" sz="880" dirty="0"/>
          </a:p>
        </p:txBody>
      </p:sp>
      <p:sp>
        <p:nvSpPr>
          <p:cNvPr id="28" name="Shape 26"/>
          <p:cNvSpPr/>
          <p:nvPr/>
        </p:nvSpPr>
        <p:spPr>
          <a:xfrm>
            <a:off x="8759952" y="3090672"/>
            <a:ext cx="201168" cy="256032"/>
          </a:xfrm>
          <a:prstGeom prst="chevron">
            <a:avLst/>
          </a:prstGeom>
          <a:solidFill>
            <a:srgbClr val="C8D8F0"/>
          </a:solidFill>
          <a:ln w="12700">
            <a:solidFill>
              <a:srgbClr val="C8D8F0">
                <a:alpha val="0"/>
              </a:srgbClr>
            </a:solidFill>
            <a:prstDash val="solid"/>
          </a:ln>
        </p:spPr>
      </p:sp>
      <p:sp>
        <p:nvSpPr>
          <p:cNvPr id="29" name="Shape 27"/>
          <p:cNvSpPr/>
          <p:nvPr/>
        </p:nvSpPr>
        <p:spPr>
          <a:xfrm>
            <a:off x="9125712" y="2788920"/>
            <a:ext cx="1536192" cy="960120"/>
          </a:xfrm>
          <a:prstGeom prst="roundRect">
            <a:avLst>
              <a:gd name="adj" fmla="val 9524"/>
            </a:avLst>
          </a:prstGeom>
          <a:solidFill>
            <a:srgbClr val="FFFFFF"/>
          </a:solidFill>
          <a:ln w="12700">
            <a:solidFill>
              <a:srgbClr val="F59E0B"/>
            </a:solidFill>
            <a:prstDash val="solid"/>
          </a:ln>
          <a:effectLst>
            <a:outerShdw sx="100000" sy="100000" kx="0" ky="0" algn="bl" rotWithShape="0" blurRad="25400" dist="12700" dir="2700000">
              <a:srgbClr val="7C93B8">
                <a:alpha val="15000"/>
              </a:srgbClr>
            </a:outerShdw>
          </a:effectLst>
        </p:spPr>
      </p:sp>
      <p:sp>
        <p:nvSpPr>
          <p:cNvPr id="30" name="Shape 28"/>
          <p:cNvSpPr/>
          <p:nvPr/>
        </p:nvSpPr>
        <p:spPr>
          <a:xfrm>
            <a:off x="9125712" y="2788920"/>
            <a:ext cx="1536192" cy="164592"/>
          </a:xfrm>
          <a:prstGeom prst="rect">
            <a:avLst/>
          </a:prstGeom>
          <a:solidFill>
            <a:srgbClr val="F59E0B"/>
          </a:solidFill>
          <a:ln w="12700">
            <a:solidFill>
              <a:srgbClr val="F59E0B">
                <a:alpha val="0"/>
              </a:srgbClr>
            </a:solidFill>
            <a:prstDash val="solid"/>
          </a:ln>
        </p:spPr>
      </p:sp>
      <p:sp>
        <p:nvSpPr>
          <p:cNvPr id="31" name="Text 29"/>
          <p:cNvSpPr/>
          <p:nvPr/>
        </p:nvSpPr>
        <p:spPr>
          <a:xfrm>
            <a:off x="9262872" y="3008376"/>
            <a:ext cx="1261872" cy="201168"/>
          </a:xfrm>
          <a:prstGeom prst="rect">
            <a:avLst/>
          </a:prstGeom>
          <a:noFill/>
          <a:ln/>
        </p:spPr>
        <p:txBody>
          <a:bodyPr wrap="square" lIns="0" tIns="0" rIns="0" bIns="0" rtlCol="0" anchor="ctr"/>
          <a:lstStyle/>
          <a:p>
            <a:pPr algn="ctr" indent="0" marL="0">
              <a:buNone/>
            </a:pPr>
            <a:r>
              <a:rPr lang="en-US" sz="1350" b="1" dirty="0">
                <a:solidFill>
                  <a:srgbClr val="13233F"/>
                </a:solidFill>
                <a:latin typeface="Liberation Sans" pitchFamily="34" charset="0"/>
                <a:ea typeface="Liberation Sans" pitchFamily="34" charset="-122"/>
                <a:cs typeface="Liberation Sans" pitchFamily="34" charset="-120"/>
              </a:rPr>
              <a:t>Escalate</a:t>
            </a:r>
            <a:endParaRPr lang="en-US" sz="1350" dirty="0"/>
          </a:p>
        </p:txBody>
      </p:sp>
      <p:sp>
        <p:nvSpPr>
          <p:cNvPr id="32" name="Text 30"/>
          <p:cNvSpPr/>
          <p:nvPr/>
        </p:nvSpPr>
        <p:spPr>
          <a:xfrm>
            <a:off x="9262872" y="3246120"/>
            <a:ext cx="1261872" cy="292608"/>
          </a:xfrm>
          <a:prstGeom prst="rect">
            <a:avLst/>
          </a:prstGeom>
          <a:noFill/>
          <a:ln/>
        </p:spPr>
        <p:txBody>
          <a:bodyPr wrap="square" lIns="0" tIns="0" rIns="0" bIns="0" rtlCol="0" anchor="ctr"/>
          <a:lstStyle/>
          <a:p>
            <a:pPr algn="ctr" indent="0" marL="0">
              <a:buNone/>
            </a:pPr>
            <a:r>
              <a:rPr lang="en-US" sz="880" dirty="0">
                <a:solidFill>
                  <a:srgbClr val="475569"/>
                </a:solidFill>
                <a:latin typeface="Liberation Sans" pitchFamily="34" charset="0"/>
                <a:ea typeface="Liberation Sans" pitchFamily="34" charset="-122"/>
                <a:cs typeface="Liberation Sans" pitchFamily="34" charset="-120"/>
              </a:rPr>
              <a:t>Unanswered or high-risk issues can escalate through email, SMS, or in-app prompts.</a:t>
            </a:r>
            <a:endParaRPr lang="en-US" sz="880" dirty="0"/>
          </a:p>
        </p:txBody>
      </p:sp>
      <p:sp>
        <p:nvSpPr>
          <p:cNvPr id="33" name="Shape 31"/>
          <p:cNvSpPr/>
          <p:nvPr/>
        </p:nvSpPr>
        <p:spPr>
          <a:xfrm>
            <a:off x="969264"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4" name="Text 32"/>
          <p:cNvSpPr/>
          <p:nvPr/>
        </p:nvSpPr>
        <p:spPr>
          <a:xfrm>
            <a:off x="1115568"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Faster coordination</a:t>
            </a:r>
            <a:endParaRPr lang="en-US" sz="1150" dirty="0"/>
          </a:p>
        </p:txBody>
      </p:sp>
      <p:sp>
        <p:nvSpPr>
          <p:cNvPr id="35" name="Text 33"/>
          <p:cNvSpPr/>
          <p:nvPr/>
        </p:nvSpPr>
        <p:spPr>
          <a:xfrm>
            <a:off x="1133856"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Teams act on updates without waiting for manual follow-up.</a:t>
            </a:r>
            <a:endParaRPr lang="en-US" sz="830" dirty="0"/>
          </a:p>
        </p:txBody>
      </p:sp>
      <p:sp>
        <p:nvSpPr>
          <p:cNvPr id="36" name="Shape 34"/>
          <p:cNvSpPr/>
          <p:nvPr/>
        </p:nvSpPr>
        <p:spPr>
          <a:xfrm>
            <a:off x="4224528"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7" name="Text 35"/>
          <p:cNvSpPr/>
          <p:nvPr/>
        </p:nvSpPr>
        <p:spPr>
          <a:xfrm>
            <a:off x="4370832"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Better accountability</a:t>
            </a:r>
            <a:endParaRPr lang="en-US" sz="1150" dirty="0"/>
          </a:p>
        </p:txBody>
      </p:sp>
      <p:sp>
        <p:nvSpPr>
          <p:cNvPr id="38" name="Text 36"/>
          <p:cNvSpPr/>
          <p:nvPr/>
        </p:nvSpPr>
        <p:spPr>
          <a:xfrm>
            <a:off x="4389120"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Message history makes communication traceable across workflows.</a:t>
            </a:r>
            <a:endParaRPr lang="en-US" sz="830" dirty="0"/>
          </a:p>
        </p:txBody>
      </p:sp>
      <p:sp>
        <p:nvSpPr>
          <p:cNvPr id="39" name="Shape 37"/>
          <p:cNvSpPr/>
          <p:nvPr/>
        </p:nvSpPr>
        <p:spPr>
          <a:xfrm>
            <a:off x="7479792" y="4626864"/>
            <a:ext cx="3017520" cy="822960"/>
          </a:xfrm>
          <a:prstGeom prst="roundRect">
            <a:avLst>
              <a:gd name="adj" fmla="val 13333"/>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40" name="Text 38"/>
          <p:cNvSpPr/>
          <p:nvPr/>
        </p:nvSpPr>
        <p:spPr>
          <a:xfrm>
            <a:off x="7626096" y="4773168"/>
            <a:ext cx="2706624" cy="164592"/>
          </a:xfrm>
          <a:prstGeom prst="rect">
            <a:avLst/>
          </a:prstGeom>
          <a:noFill/>
          <a:ln/>
        </p:spPr>
        <p:txBody>
          <a:bodyPr wrap="square" lIns="0" tIns="0" rIns="0" bIns="0" rtlCol="0" anchor="ctr"/>
          <a:lstStyle/>
          <a:p>
            <a:pPr algn="ctr" indent="0" marL="0">
              <a:buNone/>
            </a:pPr>
            <a:r>
              <a:rPr lang="en-US" sz="1150" b="1" dirty="0">
                <a:solidFill>
                  <a:srgbClr val="13233F"/>
                </a:solidFill>
                <a:latin typeface="Liberation Sans" pitchFamily="34" charset="0"/>
                <a:ea typeface="Liberation Sans" pitchFamily="34" charset="-122"/>
                <a:cs typeface="Liberation Sans" pitchFamily="34" charset="-120"/>
              </a:rPr>
              <a:t>Higher engagement</a:t>
            </a:r>
            <a:endParaRPr lang="en-US" sz="1150" dirty="0"/>
          </a:p>
        </p:txBody>
      </p:sp>
      <p:sp>
        <p:nvSpPr>
          <p:cNvPr id="41" name="Text 39"/>
          <p:cNvSpPr/>
          <p:nvPr/>
        </p:nvSpPr>
        <p:spPr>
          <a:xfrm>
            <a:off x="7644384" y="5001768"/>
            <a:ext cx="2670048" cy="182880"/>
          </a:xfrm>
          <a:prstGeom prst="rect">
            <a:avLst/>
          </a:prstGeom>
          <a:noFill/>
          <a:ln/>
        </p:spPr>
        <p:txBody>
          <a:bodyPr wrap="square" lIns="0" tIns="0" rIns="0" bIns="0" rtlCol="0" anchor="ctr"/>
          <a:lstStyle/>
          <a:p>
            <a:pPr algn="ctr" indent="0" marL="0">
              <a:buNone/>
            </a:pPr>
            <a:r>
              <a:rPr lang="en-US" sz="830" dirty="0">
                <a:solidFill>
                  <a:srgbClr val="475569"/>
                </a:solidFill>
                <a:latin typeface="Liberation Sans" pitchFamily="34" charset="0"/>
                <a:ea typeface="Liberation Sans" pitchFamily="34" charset="-122"/>
                <a:cs typeface="Liberation Sans" pitchFamily="34" charset="-120"/>
              </a:rPr>
              <a:t>Users stay informed through channels they already use.</a:t>
            </a:r>
            <a:endParaRPr lang="en-US" sz="830" dirty="0"/>
          </a:p>
        </p:txBody>
      </p:sp>
      <p:sp>
        <p:nvSpPr>
          <p:cNvPr id="42" name="Shape 40"/>
          <p:cNvSpPr/>
          <p:nvPr/>
        </p:nvSpPr>
        <p:spPr>
          <a:xfrm>
            <a:off x="548640" y="6446520"/>
            <a:ext cx="11064240" cy="0"/>
          </a:xfrm>
          <a:prstGeom prst="line">
            <a:avLst/>
          </a:prstGeom>
          <a:noFill/>
          <a:ln w="12700">
            <a:solidFill>
              <a:srgbClr val="C8D8F0"/>
            </a:solidFill>
            <a:prstDash val="solid"/>
          </a:ln>
        </p:spPr>
      </p:sp>
      <p:sp>
        <p:nvSpPr>
          <p:cNvPr id="43" name="Text 41"/>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44" name="Text 42"/>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11</a:t>
            </a:r>
            <a:endParaRPr lang="en-US" sz="850" dirty="0"/>
          </a:p>
        </p:txBody>
      </p:sp>
      <p:sp>
        <p:nvSpPr>
          <p:cNvPr id="47"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48" name="Swahilipot Logo"/>
          <p:cNvPicPr>
            <a:picLocks noChangeAspect="1"/>
          </p:cNvPicPr>
          <p:nvPr/>
        </p:nvPicPr>
        <p:blipFill>
          <a:blip r:embed="rId2"/>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24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33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42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childTnLst>
                          </p:cTn>
                        </p:par>
                        <p:par>
                          <p:cTn id="113" presetID="10" presetClass="entr" presetSubtype="0" fill="hold" grpId="0" nodeType="afterEffect">
                            <p:stCondLst>
                              <p:cond delay="510"/>
                            </p:stCondLst>
                            <p:childTnLst>
                              <p:set>
                                <p:cBhvr>
                                  <p:cTn id="114" dur="1" fill="hold">
                                    <p:stCondLst>
                                      <p:cond delay="0"/>
                                    </p:stCondLst>
                                  </p:cTn>
                                  <p:tgtEl>
                                    <p:spTgt spid="6"/>
                                  </p:tgtEl>
                                  <p:attrNameLst>
                                    <p:attrName>style.visibility</p:attrName>
                                  </p:attrNameLst>
                                </p:cBhvr>
                                <p:to>
                                  <p:strVal val="visible"/>
                                </p:to>
                              </p:set>
                              <p:anim calcmode="lin" valueType="num">
                                <p:cBhvr>
                                  <p:cTn id="115" dur="500"/>
                                  <p:tgtEl>
                                    <p:spTgt spid="6"/>
                                  </p:tgtEl>
                                  <p:attrNameLst>
                                    <p:attrName>style.opacity</p:attrName>
                                  </p:attrNameLst>
                                </p:cBhvr>
                                <p:tavLst>
                                  <p:tav tm="0">
                                    <p:val>
                                      <p:fltVal val="0"/>
                                    </p:val>
                                  </p:tav>
                                  <p:tav tm="100000">
                                    <p:val>
                                      <p:fltVal val="1"/>
                                    </p:val>
                                  </p:tav>
                                </p:tavLst>
                              </p:anim>
                              <p:set>
                                <p:cBhvr>
                                  <p:cTn id="116" dur="1" fill="hold">
                                    <p:stCondLst>
                                      <p:cond delay="0"/>
                                    </p:stCondLst>
                                  </p:cTn>
                                  <p:tgtEl>
                                    <p:spTgt spid="7"/>
                                  </p:tgtEl>
                                  <p:attrNameLst>
                                    <p:attrName>style.visibility</p:attrName>
                                  </p:attrNameLst>
                                </p:cBhvr>
                                <p:to>
                                  <p:strVal val="visible"/>
                                </p:to>
                              </p:set>
                              <p:anim calcmode="lin" valueType="num">
                                <p:cBhvr>
                                  <p:cTn id="117" dur="500"/>
                                  <p:tgtEl>
                                    <p:spTgt spid="7"/>
                                  </p:tgtEl>
                                  <p:attrNameLst>
                                    <p:attrName>style.opacity</p:attrName>
                                  </p:attrNameLst>
                                </p:cBhvr>
                                <p:tavLst>
                                  <p:tav tm="0">
                                    <p:val>
                                      <p:fltVal val="0"/>
                                    </p:val>
                                  </p:tav>
                                  <p:tav tm="100000">
                                    <p:val>
                                      <p:fltVal val="1"/>
                                    </p:val>
                                  </p:tav>
                                </p:tavLst>
                              </p:anim>
                            </p:childTnLst>
                          </p:cTn>
                        </p:par>
                        <p:par>
                          <p:cTn id="118" presetID="10" presetClass="entr" presetSubtype="0" fill="hold" grpId="0" nodeType="afterEffect">
                            <p:stCondLst>
                              <p:cond delay="600"/>
                            </p:stCondLst>
                            <p:childTnLst>
                              <p:set>
                                <p:cBhvr>
                                  <p:cTn id="119" dur="1" fill="hold">
                                    <p:stCondLst>
                                      <p:cond delay="0"/>
                                    </p:stCondLst>
                                  </p:cTn>
                                  <p:tgtEl>
                                    <p:spTgt spid="8"/>
                                  </p:tgtEl>
                                  <p:attrNameLst>
                                    <p:attrName>style.visibility</p:attrName>
                                  </p:attrNameLst>
                                </p:cBhvr>
                                <p:to>
                                  <p:strVal val="visible"/>
                                </p:to>
                              </p:set>
                              <p:anim calcmode="lin" valueType="num">
                                <p:cBhvr>
                                  <p:cTn id="120" dur="500"/>
                                  <p:tgtEl>
                                    <p:spTgt spid="8"/>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690"/>
                            </p:stCondLst>
                            <p:childTnLst>
                              <p:set>
                                <p:cBhvr>
                                  <p:cTn id="122" dur="1" fill="hold">
                                    <p:stCondLst>
                                      <p:cond delay="0"/>
                                    </p:stCondLst>
                                  </p:cTn>
                                  <p:tgtEl>
                                    <p:spTgt spid="9"/>
                                  </p:tgtEl>
                                  <p:attrNameLst>
                                    <p:attrName>style.visibility</p:attrName>
                                  </p:attrNameLst>
                                </p:cBhvr>
                                <p:to>
                                  <p:strVal val="visible"/>
                                </p:to>
                              </p:set>
                              <p:anim calcmode="lin" valueType="num">
                                <p:cBhvr>
                                  <p:cTn id="123" dur="500"/>
                                  <p:tgtEl>
                                    <p:spTgt spid="9"/>
                                  </p:tgtEl>
                                  <p:attrNameLst>
                                    <p:attrName>style.opacity</p:attrName>
                                  </p:attrNameLst>
                                </p:cBhvr>
                                <p:tavLst>
                                  <p:tav tm="0">
                                    <p:val>
                                      <p:fltVal val="0"/>
                                    </p:val>
                                  </p:tav>
                                  <p:tav tm="100000">
                                    <p:val>
                                      <p:fltVal val="1"/>
                                    </p:val>
                                  </p:tav>
                                </p:tavLst>
                              </p:anim>
                              <p:set>
                                <p:cBhvr>
                                  <p:cTn id="124" dur="1" fill="hold">
                                    <p:stCondLst>
                                      <p:cond delay="0"/>
                                    </p:stCondLst>
                                  </p:cTn>
                                  <p:tgtEl>
                                    <p:spTgt spid="10"/>
                                  </p:tgtEl>
                                  <p:attrNameLst>
                                    <p:attrName>style.visibility</p:attrName>
                                  </p:attrNameLst>
                                </p:cBhvr>
                                <p:to>
                                  <p:strVal val="visible"/>
                                </p:to>
                              </p:set>
                              <p:anim calcmode="lin" valueType="num">
                                <p:cBhvr>
                                  <p:cTn id="125" dur="500"/>
                                  <p:tgtEl>
                                    <p:spTgt spid="10"/>
                                  </p:tgtEl>
                                  <p:attrNameLst>
                                    <p:attrName>style.opacity</p:attrName>
                                  </p:attrNameLst>
                                </p:cBhvr>
                                <p:tavLst>
                                  <p:tav tm="0">
                                    <p:val>
                                      <p:fltVal val="0"/>
                                    </p:val>
                                  </p:tav>
                                  <p:tav tm="100000">
                                    <p:val>
                                      <p:fltVal val="1"/>
                                    </p:val>
                                  </p:tav>
                                </p:tavLst>
                              </p:anim>
                              <p:set>
                                <p:cBhvr>
                                  <p:cTn id="126" dur="1" fill="hold">
                                    <p:stCondLst>
                                      <p:cond delay="0"/>
                                    </p:stCondLst>
                                  </p:cTn>
                                  <p:tgtEl>
                                    <p:spTgt spid="11"/>
                                  </p:tgtEl>
                                  <p:attrNameLst>
                                    <p:attrName>style.visibility</p:attrName>
                                  </p:attrNameLst>
                                </p:cBhvr>
                                <p:to>
                                  <p:strVal val="visible"/>
                                </p:to>
                              </p:set>
                              <p:anim calcmode="lin" valueType="num">
                                <p:cBhvr>
                                  <p:cTn id="127" dur="500"/>
                                  <p:tgtEl>
                                    <p:spTgt spid="11"/>
                                  </p:tgtEl>
                                  <p:attrNameLst>
                                    <p:attrName>style.opacity</p:attrName>
                                  </p:attrNameLst>
                                </p:cBhvr>
                                <p:tavLst>
                                  <p:tav tm="0">
                                    <p:val>
                                      <p:fltVal val="0"/>
                                    </p:val>
                                  </p:tav>
                                  <p:tav tm="100000">
                                    <p:val>
                                      <p:fltVal val="1"/>
                                    </p:val>
                                  </p:tav>
                                </p:tavLst>
                              </p:anim>
                              <p:set>
                                <p:cBhvr>
                                  <p:cTn id="128" dur="1" fill="hold">
                                    <p:stCondLst>
                                      <p:cond delay="0"/>
                                    </p:stCondLst>
                                  </p:cTn>
                                  <p:tgtEl>
                                    <p:spTgt spid="12"/>
                                  </p:tgtEl>
                                  <p:attrNameLst>
                                    <p:attrName>style.visibility</p:attrName>
                                  </p:attrNameLst>
                                </p:cBhvr>
                                <p:to>
                                  <p:strVal val="visible"/>
                                </p:to>
                              </p:set>
                              <p:anim calcmode="lin" valueType="num">
                                <p:cBhvr>
                                  <p:cTn id="129" dur="500"/>
                                  <p:tgtEl>
                                    <p:spTgt spid="12"/>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780"/>
                            </p:stCondLst>
                            <p:childTnLst>
                              <p:set>
                                <p:cBhvr>
                                  <p:cTn id="131" dur="1" fill="hold">
                                    <p:stCondLst>
                                      <p:cond delay="0"/>
                                    </p:stCondLst>
                                  </p:cTn>
                                  <p:tgtEl>
                                    <p:spTgt spid="13"/>
                                  </p:tgtEl>
                                  <p:attrNameLst>
                                    <p:attrName>style.visibility</p:attrName>
                                  </p:attrNameLst>
                                </p:cBhvr>
                                <p:to>
                                  <p:strVal val="visible"/>
                                </p:to>
                              </p:set>
                              <p:anim calcmode="lin" valueType="num">
                                <p:cBhvr>
                                  <p:cTn id="132" dur="500"/>
                                  <p:tgtEl>
                                    <p:spTgt spid="13"/>
                                  </p:tgtEl>
                                  <p:attrNameLst>
                                    <p:attrName>style.opacity</p:attrName>
                                  </p:attrNameLst>
                                </p:cBhvr>
                                <p:tavLst>
                                  <p:tav tm="0">
                                    <p:val>
                                      <p:fltVal val="0"/>
                                    </p:val>
                                  </p:tav>
                                  <p:tav tm="100000">
                                    <p:val>
                                      <p:fltVal val="1"/>
                                    </p:val>
                                  </p:tav>
                                </p:tavLst>
                              </p:anim>
                            </p:childTnLst>
                          </p:cTn>
                        </p:par>
                        <p:par>
                          <p:cTn id="133" presetID="10" presetClass="entr" presetSubtype="0" fill="hold" grpId="0" nodeType="afterEffect">
                            <p:stCondLst>
                              <p:cond delay="870"/>
                            </p:stCondLst>
                            <p:childTnLst>
                              <p:set>
                                <p:cBhvr>
                                  <p:cTn id="134" dur="1" fill="hold">
                                    <p:stCondLst>
                                      <p:cond delay="0"/>
                                    </p:stCondLst>
                                  </p:cTn>
                                  <p:tgtEl>
                                    <p:spTgt spid="14"/>
                                  </p:tgtEl>
                                  <p:attrNameLst>
                                    <p:attrName>style.visibility</p:attrName>
                                  </p:attrNameLst>
                                </p:cBhvr>
                                <p:to>
                                  <p:strVal val="visible"/>
                                </p:to>
                              </p:set>
                              <p:anim calcmode="lin" valueType="num">
                                <p:cBhvr>
                                  <p:cTn id="135" dur="500"/>
                                  <p:tgtEl>
                                    <p:spTgt spid="14"/>
                                  </p:tgtEl>
                                  <p:attrNameLst>
                                    <p:attrName>style.opacity</p:attrName>
                                  </p:attrNameLst>
                                </p:cBhvr>
                                <p:tavLst>
                                  <p:tav tm="0">
                                    <p:val>
                                      <p:fltVal val="0"/>
                                    </p:val>
                                  </p:tav>
                                  <p:tav tm="100000">
                                    <p:val>
                                      <p:fltVal val="1"/>
                                    </p:val>
                                  </p:tav>
                                </p:tavLst>
                              </p:anim>
                              <p:set>
                                <p:cBhvr>
                                  <p:cTn id="136" dur="1" fill="hold">
                                    <p:stCondLst>
                                      <p:cond delay="0"/>
                                    </p:stCondLst>
                                  </p:cTn>
                                  <p:tgtEl>
                                    <p:spTgt spid="15"/>
                                  </p:tgtEl>
                                  <p:attrNameLst>
                                    <p:attrName>style.visibility</p:attrName>
                                  </p:attrNameLst>
                                </p:cBhvr>
                                <p:to>
                                  <p:strVal val="visible"/>
                                </p:to>
                              </p:set>
                              <p:anim calcmode="lin" valueType="num">
                                <p:cBhvr>
                                  <p:cTn id="137" dur="500"/>
                                  <p:tgtEl>
                                    <p:spTgt spid="15"/>
                                  </p:tgtEl>
                                  <p:attrNameLst>
                                    <p:attrName>style.opacity</p:attrName>
                                  </p:attrNameLst>
                                </p:cBhvr>
                                <p:tavLst>
                                  <p:tav tm="0">
                                    <p:val>
                                      <p:fltVal val="0"/>
                                    </p:val>
                                  </p:tav>
                                  <p:tav tm="100000">
                                    <p:val>
                                      <p:fltVal val="1"/>
                                    </p:val>
                                  </p:tav>
                                </p:tavLst>
                              </p:anim>
                              <p:set>
                                <p:cBhvr>
                                  <p:cTn id="138" dur="1" fill="hold">
                                    <p:stCondLst>
                                      <p:cond delay="0"/>
                                    </p:stCondLst>
                                  </p:cTn>
                                  <p:tgtEl>
                                    <p:spTgt spid="16"/>
                                  </p:tgtEl>
                                  <p:attrNameLst>
                                    <p:attrName>style.visibility</p:attrName>
                                  </p:attrNameLst>
                                </p:cBhvr>
                                <p:to>
                                  <p:strVal val="visible"/>
                                </p:to>
                              </p:set>
                              <p:anim calcmode="lin" valueType="num">
                                <p:cBhvr>
                                  <p:cTn id="139" dur="500"/>
                                  <p:tgtEl>
                                    <p:spTgt spid="16"/>
                                  </p:tgtEl>
                                  <p:attrNameLst>
                                    <p:attrName>style.opacity</p:attrName>
                                  </p:attrNameLst>
                                </p:cBhvr>
                                <p:tavLst>
                                  <p:tav tm="0">
                                    <p:val>
                                      <p:fltVal val="0"/>
                                    </p:val>
                                  </p:tav>
                                  <p:tav tm="100000">
                                    <p:val>
                                      <p:fltVal val="1"/>
                                    </p:val>
                                  </p:tav>
                                </p:tavLst>
                              </p:anim>
                              <p:set>
                                <p:cBhvr>
                                  <p:cTn id="140" dur="1" fill="hold">
                                    <p:stCondLst>
                                      <p:cond delay="0"/>
                                    </p:stCondLst>
                                  </p:cTn>
                                  <p:tgtEl>
                                    <p:spTgt spid="17"/>
                                  </p:tgtEl>
                                  <p:attrNameLst>
                                    <p:attrName>style.visibility</p:attrName>
                                  </p:attrNameLst>
                                </p:cBhvr>
                                <p:to>
                                  <p:strVal val="visible"/>
                                </p:to>
                              </p:set>
                              <p:anim calcmode="lin" valueType="num">
                                <p:cBhvr>
                                  <p:cTn id="141" dur="500"/>
                                  <p:tgtEl>
                                    <p:spTgt spid="17"/>
                                  </p:tgtEl>
                                  <p:attrNameLst>
                                    <p:attrName>style.opacity</p:attrName>
                                  </p:attrNameLst>
                                </p:cBhvr>
                                <p:tavLst>
                                  <p:tav tm="0">
                                    <p:val>
                                      <p:fltVal val="0"/>
                                    </p:val>
                                  </p:tav>
                                  <p:tav tm="100000">
                                    <p:val>
                                      <p:fltVal val="1"/>
                                    </p:val>
                                  </p:tav>
                                </p:tavLst>
                              </p:anim>
                            </p:childTnLst>
                          </p:cTn>
                        </p:par>
                        <p:par>
                          <p:cTn id="142" presetID="10" presetClass="entr" presetSubtype="0" fill="hold" grpId="0" nodeType="afterEffect">
                            <p:stCondLst>
                              <p:cond delay="960"/>
                            </p:stCondLst>
                            <p:childTnLst>
                              <p:set>
                                <p:cBhvr>
                                  <p:cTn id="143" dur="1" fill="hold">
                                    <p:stCondLst>
                                      <p:cond delay="0"/>
                                    </p:stCondLst>
                                  </p:cTn>
                                  <p:tgtEl>
                                    <p:spTgt spid="18"/>
                                  </p:tgtEl>
                                  <p:attrNameLst>
                                    <p:attrName>style.visibility</p:attrName>
                                  </p:attrNameLst>
                                </p:cBhvr>
                                <p:to>
                                  <p:strVal val="visible"/>
                                </p:to>
                              </p:set>
                              <p:anim calcmode="lin" valueType="num">
                                <p:cBhvr>
                                  <p:cTn id="144" dur="500"/>
                                  <p:tgtEl>
                                    <p:spTgt spid="18"/>
                                  </p:tgtEl>
                                  <p:attrNameLst>
                                    <p:attrName>style.opacity</p:attrName>
                                  </p:attrNameLst>
                                </p:cBhvr>
                                <p:tavLst>
                                  <p:tav tm="0">
                                    <p:val>
                                      <p:fltVal val="0"/>
                                    </p:val>
                                  </p:tav>
                                  <p:tav tm="100000">
                                    <p:val>
                                      <p:fltVal val="1"/>
                                    </p:val>
                                  </p:tav>
                                </p:tavLst>
                              </p:anim>
                            </p:childTnLst>
                          </p:cTn>
                        </p:par>
                        <p:par>
                          <p:cTn id="145" presetID="10" presetClass="entr" presetSubtype="0" fill="hold" grpId="0" nodeType="afterEffect">
                            <p:stCondLst>
                              <p:cond delay="1050"/>
                            </p:stCondLst>
                            <p:childTnLst>
                              <p:set>
                                <p:cBhvr>
                                  <p:cTn id="146" dur="1" fill="hold">
                                    <p:stCondLst>
                                      <p:cond delay="0"/>
                                    </p:stCondLst>
                                  </p:cTn>
                                  <p:tgtEl>
                                    <p:spTgt spid="19"/>
                                  </p:tgtEl>
                                  <p:attrNameLst>
                                    <p:attrName>style.visibility</p:attrName>
                                  </p:attrNameLst>
                                </p:cBhvr>
                                <p:to>
                                  <p:strVal val="visible"/>
                                </p:to>
                              </p:set>
                              <p:anim calcmode="lin" valueType="num">
                                <p:cBhvr>
                                  <p:cTn id="147" dur="500"/>
                                  <p:tgtEl>
                                    <p:spTgt spid="19"/>
                                  </p:tgtEl>
                                  <p:attrNameLst>
                                    <p:attrName>style.opacity</p:attrName>
                                  </p:attrNameLst>
                                </p:cBhvr>
                                <p:tavLst>
                                  <p:tav tm="0">
                                    <p:val>
                                      <p:fltVal val="0"/>
                                    </p:val>
                                  </p:tav>
                                  <p:tav tm="100000">
                                    <p:val>
                                      <p:fltVal val="1"/>
                                    </p:val>
                                  </p:tav>
                                </p:tavLst>
                              </p:anim>
                              <p:set>
                                <p:cBhvr>
                                  <p:cTn id="148" dur="1" fill="hold">
                                    <p:stCondLst>
                                      <p:cond delay="0"/>
                                    </p:stCondLst>
                                  </p:cTn>
                                  <p:tgtEl>
                                    <p:spTgt spid="20"/>
                                  </p:tgtEl>
                                  <p:attrNameLst>
                                    <p:attrName>style.visibility</p:attrName>
                                  </p:attrNameLst>
                                </p:cBhvr>
                                <p:to>
                                  <p:strVal val="visible"/>
                                </p:to>
                              </p:set>
                              <p:anim calcmode="lin" valueType="num">
                                <p:cBhvr>
                                  <p:cTn id="149" dur="500"/>
                                  <p:tgtEl>
                                    <p:spTgt spid="20"/>
                                  </p:tgtEl>
                                  <p:attrNameLst>
                                    <p:attrName>style.opacity</p:attrName>
                                  </p:attrNameLst>
                                </p:cBhvr>
                                <p:tavLst>
                                  <p:tav tm="0">
                                    <p:val>
                                      <p:fltVal val="0"/>
                                    </p:val>
                                  </p:tav>
                                  <p:tav tm="100000">
                                    <p:val>
                                      <p:fltVal val="1"/>
                                    </p:val>
                                  </p:tav>
                                </p:tavLst>
                              </p:anim>
                              <p:set>
                                <p:cBhvr>
                                  <p:cTn id="150" dur="1" fill="hold">
                                    <p:stCondLst>
                                      <p:cond delay="0"/>
                                    </p:stCondLst>
                                  </p:cTn>
                                  <p:tgtEl>
                                    <p:spTgt spid="21"/>
                                  </p:tgtEl>
                                  <p:attrNameLst>
                                    <p:attrName>style.visibility</p:attrName>
                                  </p:attrNameLst>
                                </p:cBhvr>
                                <p:to>
                                  <p:strVal val="visible"/>
                                </p:to>
                              </p:set>
                              <p:anim calcmode="lin" valueType="num">
                                <p:cBhvr>
                                  <p:cTn id="151" dur="500"/>
                                  <p:tgtEl>
                                    <p:spTgt spid="21"/>
                                  </p:tgtEl>
                                  <p:attrNameLst>
                                    <p:attrName>style.opacity</p:attrName>
                                  </p:attrNameLst>
                                </p:cBhvr>
                                <p:tavLst>
                                  <p:tav tm="0">
                                    <p:val>
                                      <p:fltVal val="0"/>
                                    </p:val>
                                  </p:tav>
                                  <p:tav tm="100000">
                                    <p:val>
                                      <p:fltVal val="1"/>
                                    </p:val>
                                  </p:tav>
                                </p:tavLst>
                              </p:anim>
                              <p:set>
                                <p:cBhvr>
                                  <p:cTn id="152" dur="1" fill="hold">
                                    <p:stCondLst>
                                      <p:cond delay="0"/>
                                    </p:stCondLst>
                                  </p:cTn>
                                  <p:tgtEl>
                                    <p:spTgt spid="22"/>
                                  </p:tgtEl>
                                  <p:attrNameLst>
                                    <p:attrName>style.visibility</p:attrName>
                                  </p:attrNameLst>
                                </p:cBhvr>
                                <p:to>
                                  <p:strVal val="visible"/>
                                </p:to>
                              </p:set>
                              <p:anim calcmode="lin" valueType="num">
                                <p:cBhvr>
                                  <p:cTn id="153" dur="500"/>
                                  <p:tgtEl>
                                    <p:spTgt spid="22"/>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14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p:tgtEl>
                                    <p:spTgt spid="23"/>
                                  </p:tgtEl>
                                  <p:attrNameLst>
                                    <p:attrName>style.opacity</p:attrName>
                                  </p:attrNameLst>
                                </p:cBhvr>
                                <p:tavLst>
                                  <p:tav tm="0">
                                    <p:val>
                                      <p:fltVal val="0"/>
                                    </p:val>
                                  </p:tav>
                                  <p:tav tm="100000">
                                    <p:val>
                                      <p:fltVal val="1"/>
                                    </p:val>
                                  </p:tav>
                                </p:tavLst>
                              </p:anim>
                            </p:childTnLst>
                          </p:cTn>
                        </p:par>
                        <p:par>
                          <p:cTn id="157" presetID="10" presetClass="entr" presetSubtype="0" fill="hold" grpId="0" nodeType="afterEffect">
                            <p:stCondLst>
                              <p:cond delay="1230"/>
                            </p:stCondLst>
                            <p:childTnLst>
                              <p:set>
                                <p:cBhvr>
                                  <p:cTn id="158" dur="1" fill="hold">
                                    <p:stCondLst>
                                      <p:cond delay="0"/>
                                    </p:stCondLst>
                                  </p:cTn>
                                  <p:tgtEl>
                                    <p:spTgt spid="24"/>
                                  </p:tgtEl>
                                  <p:attrNameLst>
                                    <p:attrName>style.visibility</p:attrName>
                                  </p:attrNameLst>
                                </p:cBhvr>
                                <p:to>
                                  <p:strVal val="visible"/>
                                </p:to>
                              </p:set>
                              <p:anim calcmode="lin" valueType="num">
                                <p:cBhvr>
                                  <p:cTn id="159" dur="500"/>
                                  <p:tgtEl>
                                    <p:spTgt spid="24"/>
                                  </p:tgtEl>
                                  <p:attrNameLst>
                                    <p:attrName>style.opacity</p:attrName>
                                  </p:attrNameLst>
                                </p:cBhvr>
                                <p:tavLst>
                                  <p:tav tm="0">
                                    <p:val>
                                      <p:fltVal val="0"/>
                                    </p:val>
                                  </p:tav>
                                  <p:tav tm="100000">
                                    <p:val>
                                      <p:fltVal val="1"/>
                                    </p:val>
                                  </p:tav>
                                </p:tavLst>
                              </p:anim>
                              <p:set>
                                <p:cBhvr>
                                  <p:cTn id="160" dur="1" fill="hold">
                                    <p:stCondLst>
                                      <p:cond delay="0"/>
                                    </p:stCondLst>
                                  </p:cTn>
                                  <p:tgtEl>
                                    <p:spTgt spid="25"/>
                                  </p:tgtEl>
                                  <p:attrNameLst>
                                    <p:attrName>style.visibility</p:attrName>
                                  </p:attrNameLst>
                                </p:cBhvr>
                                <p:to>
                                  <p:strVal val="visible"/>
                                </p:to>
                              </p:set>
                              <p:anim calcmode="lin" valueType="num">
                                <p:cBhvr>
                                  <p:cTn id="161" dur="500"/>
                                  <p:tgtEl>
                                    <p:spTgt spid="25"/>
                                  </p:tgtEl>
                                  <p:attrNameLst>
                                    <p:attrName>style.opacity</p:attrName>
                                  </p:attrNameLst>
                                </p:cBhvr>
                                <p:tavLst>
                                  <p:tav tm="0">
                                    <p:val>
                                      <p:fltVal val="0"/>
                                    </p:val>
                                  </p:tav>
                                  <p:tav tm="100000">
                                    <p:val>
                                      <p:fltVal val="1"/>
                                    </p:val>
                                  </p:tav>
                                </p:tavLst>
                              </p:anim>
                              <p:set>
                                <p:cBhvr>
                                  <p:cTn id="162" dur="1" fill="hold">
                                    <p:stCondLst>
                                      <p:cond delay="0"/>
                                    </p:stCondLst>
                                  </p:cTn>
                                  <p:tgtEl>
                                    <p:spTgt spid="26"/>
                                  </p:tgtEl>
                                  <p:attrNameLst>
                                    <p:attrName>style.visibility</p:attrName>
                                  </p:attrNameLst>
                                </p:cBhvr>
                                <p:to>
                                  <p:strVal val="visible"/>
                                </p:to>
                              </p:set>
                              <p:anim calcmode="lin" valueType="num">
                                <p:cBhvr>
                                  <p:cTn id="163" dur="500"/>
                                  <p:tgtEl>
                                    <p:spTgt spid="26"/>
                                  </p:tgtEl>
                                  <p:attrNameLst>
                                    <p:attrName>style.opacity</p:attrName>
                                  </p:attrNameLst>
                                </p:cBhvr>
                                <p:tavLst>
                                  <p:tav tm="0">
                                    <p:val>
                                      <p:fltVal val="0"/>
                                    </p:val>
                                  </p:tav>
                                  <p:tav tm="100000">
                                    <p:val>
                                      <p:fltVal val="1"/>
                                    </p:val>
                                  </p:tav>
                                </p:tavLst>
                              </p:anim>
                              <p:set>
                                <p:cBhvr>
                                  <p:cTn id="164" dur="1" fill="hold">
                                    <p:stCondLst>
                                      <p:cond delay="0"/>
                                    </p:stCondLst>
                                  </p:cTn>
                                  <p:tgtEl>
                                    <p:spTgt spid="27"/>
                                  </p:tgtEl>
                                  <p:attrNameLst>
                                    <p:attrName>style.visibility</p:attrName>
                                  </p:attrNameLst>
                                </p:cBhvr>
                                <p:to>
                                  <p:strVal val="visible"/>
                                </p:to>
                              </p:set>
                              <p:anim calcmode="lin" valueType="num">
                                <p:cBhvr>
                                  <p:cTn id="165" dur="500"/>
                                  <p:tgtEl>
                                    <p:spTgt spid="27"/>
                                  </p:tgtEl>
                                  <p:attrNameLst>
                                    <p:attrName>style.opacity</p:attrName>
                                  </p:attrNameLst>
                                </p:cBhvr>
                                <p:tavLst>
                                  <p:tav tm="0">
                                    <p:val>
                                      <p:fltVal val="0"/>
                                    </p:val>
                                  </p:tav>
                                  <p:tav tm="100000">
                                    <p:val>
                                      <p:fltVal val="1"/>
                                    </p:val>
                                  </p:tav>
                                </p:tavLst>
                              </p:anim>
                            </p:childTnLst>
                          </p:cTn>
                        </p:par>
                        <p:par>
                          <p:cTn id="166" presetID="10" presetClass="entr" presetSubtype="0" fill="hold" grpId="0" nodeType="afterEffect">
                            <p:stCondLst>
                              <p:cond delay="1320"/>
                            </p:stCondLst>
                            <p:childTnLst>
                              <p:set>
                                <p:cBhvr>
                                  <p:cTn id="167" dur="1" fill="hold">
                                    <p:stCondLst>
                                      <p:cond delay="0"/>
                                    </p:stCondLst>
                                  </p:cTn>
                                  <p:tgtEl>
                                    <p:spTgt spid="28"/>
                                  </p:tgtEl>
                                  <p:attrNameLst>
                                    <p:attrName>style.visibility</p:attrName>
                                  </p:attrNameLst>
                                </p:cBhvr>
                                <p:to>
                                  <p:strVal val="visible"/>
                                </p:to>
                              </p:set>
                              <p:anim calcmode="lin" valueType="num">
                                <p:cBhvr>
                                  <p:cTn id="168" dur="500"/>
                                  <p:tgtEl>
                                    <p:spTgt spid="28"/>
                                  </p:tgtEl>
                                  <p:attrNameLst>
                                    <p:attrName>style.opacity</p:attrName>
                                  </p:attrNameLst>
                                </p:cBhvr>
                                <p:tavLst>
                                  <p:tav tm="0">
                                    <p:val>
                                      <p:fltVal val="0"/>
                                    </p:val>
                                  </p:tav>
                                  <p:tav tm="100000">
                                    <p:val>
                                      <p:fltVal val="1"/>
                                    </p:val>
                                  </p:tav>
                                </p:tavLst>
                              </p:anim>
                            </p:childTnLst>
                          </p:cTn>
                        </p:par>
                        <p:par>
                          <p:cTn id="169" presetID="10" presetClass="entr" presetSubtype="0" fill="hold" grpId="0" nodeType="afterEffect">
                            <p:stCondLst>
                              <p:cond delay="1410"/>
                            </p:stCondLst>
                            <p:childTnLst>
                              <p:set>
                                <p:cBhvr>
                                  <p:cTn id="170" dur="1" fill="hold">
                                    <p:stCondLst>
                                      <p:cond delay="0"/>
                                    </p:stCondLst>
                                  </p:cTn>
                                  <p:tgtEl>
                                    <p:spTgt spid="29"/>
                                  </p:tgtEl>
                                  <p:attrNameLst>
                                    <p:attrName>style.visibility</p:attrName>
                                  </p:attrNameLst>
                                </p:cBhvr>
                                <p:to>
                                  <p:strVal val="visible"/>
                                </p:to>
                              </p:set>
                              <p:anim calcmode="lin" valueType="num">
                                <p:cBhvr>
                                  <p:cTn id="171" dur="500"/>
                                  <p:tgtEl>
                                    <p:spTgt spid="29"/>
                                  </p:tgtEl>
                                  <p:attrNameLst>
                                    <p:attrName>style.opacity</p:attrName>
                                  </p:attrNameLst>
                                </p:cBhvr>
                                <p:tavLst>
                                  <p:tav tm="0">
                                    <p:val>
                                      <p:fltVal val="0"/>
                                    </p:val>
                                  </p:tav>
                                  <p:tav tm="100000">
                                    <p:val>
                                      <p:fltVal val="1"/>
                                    </p:val>
                                  </p:tav>
                                </p:tavLst>
                              </p:anim>
                              <p:set>
                                <p:cBhvr>
                                  <p:cTn id="172" dur="1" fill="hold">
                                    <p:stCondLst>
                                      <p:cond delay="0"/>
                                    </p:stCondLst>
                                  </p:cTn>
                                  <p:tgtEl>
                                    <p:spTgt spid="30"/>
                                  </p:tgtEl>
                                  <p:attrNameLst>
                                    <p:attrName>style.visibility</p:attrName>
                                  </p:attrNameLst>
                                </p:cBhvr>
                                <p:to>
                                  <p:strVal val="visible"/>
                                </p:to>
                              </p:set>
                              <p:anim calcmode="lin" valueType="num">
                                <p:cBhvr>
                                  <p:cTn id="173" dur="500"/>
                                  <p:tgtEl>
                                    <p:spTgt spid="30"/>
                                  </p:tgtEl>
                                  <p:attrNameLst>
                                    <p:attrName>style.opacity</p:attrName>
                                  </p:attrNameLst>
                                </p:cBhvr>
                                <p:tavLst>
                                  <p:tav tm="0">
                                    <p:val>
                                      <p:fltVal val="0"/>
                                    </p:val>
                                  </p:tav>
                                  <p:tav tm="100000">
                                    <p:val>
                                      <p:fltVal val="1"/>
                                    </p:val>
                                  </p:tav>
                                </p:tavLst>
                              </p:anim>
                              <p:set>
                                <p:cBhvr>
                                  <p:cTn id="174" dur="1" fill="hold">
                                    <p:stCondLst>
                                      <p:cond delay="0"/>
                                    </p:stCondLst>
                                  </p:cTn>
                                  <p:tgtEl>
                                    <p:spTgt spid="31"/>
                                  </p:tgtEl>
                                  <p:attrNameLst>
                                    <p:attrName>style.visibility</p:attrName>
                                  </p:attrNameLst>
                                </p:cBhvr>
                                <p:to>
                                  <p:strVal val="visible"/>
                                </p:to>
                              </p:set>
                              <p:anim calcmode="lin" valueType="num">
                                <p:cBhvr>
                                  <p:cTn id="175" dur="500"/>
                                  <p:tgtEl>
                                    <p:spTgt spid="31"/>
                                  </p:tgtEl>
                                  <p:attrNameLst>
                                    <p:attrName>style.opacity</p:attrName>
                                  </p:attrNameLst>
                                </p:cBhvr>
                                <p:tavLst>
                                  <p:tav tm="0">
                                    <p:val>
                                      <p:fltVal val="0"/>
                                    </p:val>
                                  </p:tav>
                                  <p:tav tm="100000">
                                    <p:val>
                                      <p:fltVal val="1"/>
                                    </p:val>
                                  </p:tav>
                                </p:tavLst>
                              </p:anim>
                              <p:set>
                                <p:cBhvr>
                                  <p:cTn id="176" dur="1" fill="hold">
                                    <p:stCondLst>
                                      <p:cond delay="0"/>
                                    </p:stCondLst>
                                  </p:cTn>
                                  <p:tgtEl>
                                    <p:spTgt spid="32"/>
                                  </p:tgtEl>
                                  <p:attrNameLst>
                                    <p:attrName>style.visibility</p:attrName>
                                  </p:attrNameLst>
                                </p:cBhvr>
                                <p:to>
                                  <p:strVal val="visible"/>
                                </p:to>
                              </p:set>
                              <p:anim calcmode="lin" valueType="num">
                                <p:cBhvr>
                                  <p:cTn id="177" dur="500"/>
                                  <p:tgtEl>
                                    <p:spTgt spid="32"/>
                                  </p:tgtEl>
                                  <p:attrNameLst>
                                    <p:attrName>style.opacity</p:attrName>
                                  </p:attrNameLst>
                                </p:cBhvr>
                                <p:tavLst>
                                  <p:tav tm="0">
                                    <p:val>
                                      <p:fltVal val="0"/>
                                    </p:val>
                                  </p:tav>
                                  <p:tav tm="100000">
                                    <p:val>
                                      <p:fltVal val="1"/>
                                    </p:val>
                                  </p:tav>
                                </p:tavLst>
                              </p:anim>
                            </p:childTnLst>
                          </p:cTn>
                        </p:par>
                        <p:par>
                          <p:cTn id="178" presetID="10" presetClass="entr" presetSubtype="0" fill="hold" grpId="0" nodeType="afterEffect">
                            <p:stCondLst>
                              <p:cond delay="1500"/>
                            </p:stCondLst>
                            <p:childTnLst>
                              <p:set>
                                <p:cBhvr>
                                  <p:cTn id="179" dur="1" fill="hold">
                                    <p:stCondLst>
                                      <p:cond delay="0"/>
                                    </p:stCondLst>
                                  </p:cTn>
                                  <p:tgtEl>
                                    <p:spTgt spid="33"/>
                                  </p:tgtEl>
                                  <p:attrNameLst>
                                    <p:attrName>style.visibility</p:attrName>
                                  </p:attrNameLst>
                                </p:cBhvr>
                                <p:to>
                                  <p:strVal val="visible"/>
                                </p:to>
                              </p:set>
                              <p:anim calcmode="lin" valueType="num">
                                <p:cBhvr>
                                  <p:cTn id="180" dur="500"/>
                                  <p:tgtEl>
                                    <p:spTgt spid="33"/>
                                  </p:tgtEl>
                                  <p:attrNameLst>
                                    <p:attrName>style.opacity</p:attrName>
                                  </p:attrNameLst>
                                </p:cBhvr>
                                <p:tavLst>
                                  <p:tav tm="0">
                                    <p:val>
                                      <p:fltVal val="0"/>
                                    </p:val>
                                  </p:tav>
                                  <p:tav tm="100000">
                                    <p:val>
                                      <p:fltVal val="1"/>
                                    </p:val>
                                  </p:tav>
                                </p:tavLst>
                              </p:anim>
                              <p:set>
                                <p:cBhvr>
                                  <p:cTn id="181" dur="1" fill="hold">
                                    <p:stCondLst>
                                      <p:cond delay="0"/>
                                    </p:stCondLst>
                                  </p:cTn>
                                  <p:tgtEl>
                                    <p:spTgt spid="34"/>
                                  </p:tgtEl>
                                  <p:attrNameLst>
                                    <p:attrName>style.visibility</p:attrName>
                                  </p:attrNameLst>
                                </p:cBhvr>
                                <p:to>
                                  <p:strVal val="visible"/>
                                </p:to>
                              </p:set>
                              <p:anim calcmode="lin" valueType="num">
                                <p:cBhvr>
                                  <p:cTn id="182" dur="500"/>
                                  <p:tgtEl>
                                    <p:spTgt spid="34"/>
                                  </p:tgtEl>
                                  <p:attrNameLst>
                                    <p:attrName>style.opacity</p:attrName>
                                  </p:attrNameLst>
                                </p:cBhvr>
                                <p:tavLst>
                                  <p:tav tm="0">
                                    <p:val>
                                      <p:fltVal val="0"/>
                                    </p:val>
                                  </p:tav>
                                  <p:tav tm="100000">
                                    <p:val>
                                      <p:fltVal val="1"/>
                                    </p:val>
                                  </p:tav>
                                </p:tavLst>
                              </p:anim>
                              <p:set>
                                <p:cBhvr>
                                  <p:cTn id="183" dur="1" fill="hold">
                                    <p:stCondLst>
                                      <p:cond delay="0"/>
                                    </p:stCondLst>
                                  </p:cTn>
                                  <p:tgtEl>
                                    <p:spTgt spid="35"/>
                                  </p:tgtEl>
                                  <p:attrNameLst>
                                    <p:attrName>style.visibility</p:attrName>
                                  </p:attrNameLst>
                                </p:cBhvr>
                                <p:to>
                                  <p:strVal val="visible"/>
                                </p:to>
                              </p:set>
                              <p:anim calcmode="lin" valueType="num">
                                <p:cBhvr>
                                  <p:cTn id="184" dur="500"/>
                                  <p:tgtEl>
                                    <p:spTgt spid="35"/>
                                  </p:tgtEl>
                                  <p:attrNameLst>
                                    <p:attrName>style.opacity</p:attrName>
                                  </p:attrNameLst>
                                </p:cBhvr>
                                <p:tavLst>
                                  <p:tav tm="0">
                                    <p:val>
                                      <p:fltVal val="0"/>
                                    </p:val>
                                  </p:tav>
                                  <p:tav tm="100000">
                                    <p:val>
                                      <p:fltVal val="1"/>
                                    </p:val>
                                  </p:tav>
                                </p:tavLst>
                              </p:anim>
                            </p:childTnLst>
                          </p:cTn>
                        </p:par>
                        <p:par>
                          <p:cTn id="185" presetID="10" presetClass="entr" presetSubtype="0" fill="hold" grpId="0" nodeType="afterEffect">
                            <p:stCondLst>
                              <p:cond delay="1590"/>
                            </p:stCondLst>
                            <p:childTnLst>
                              <p:set>
                                <p:cBhvr>
                                  <p:cTn id="186" dur="1" fill="hold">
                                    <p:stCondLst>
                                      <p:cond delay="0"/>
                                    </p:stCondLst>
                                  </p:cTn>
                                  <p:tgtEl>
                                    <p:spTgt spid="36"/>
                                  </p:tgtEl>
                                  <p:attrNameLst>
                                    <p:attrName>style.visibility</p:attrName>
                                  </p:attrNameLst>
                                </p:cBhvr>
                                <p:to>
                                  <p:strVal val="visible"/>
                                </p:to>
                              </p:set>
                              <p:anim calcmode="lin" valueType="num">
                                <p:cBhvr>
                                  <p:cTn id="187" dur="500"/>
                                  <p:tgtEl>
                                    <p:spTgt spid="36"/>
                                  </p:tgtEl>
                                  <p:attrNameLst>
                                    <p:attrName>style.opacity</p:attrName>
                                  </p:attrNameLst>
                                </p:cBhvr>
                                <p:tavLst>
                                  <p:tav tm="0">
                                    <p:val>
                                      <p:fltVal val="0"/>
                                    </p:val>
                                  </p:tav>
                                  <p:tav tm="100000">
                                    <p:val>
                                      <p:fltVal val="1"/>
                                    </p:val>
                                  </p:tav>
                                </p:tavLst>
                              </p:anim>
                              <p:set>
                                <p:cBhvr>
                                  <p:cTn id="188" dur="1" fill="hold">
                                    <p:stCondLst>
                                      <p:cond delay="0"/>
                                    </p:stCondLst>
                                  </p:cTn>
                                  <p:tgtEl>
                                    <p:spTgt spid="37"/>
                                  </p:tgtEl>
                                  <p:attrNameLst>
                                    <p:attrName>style.visibility</p:attrName>
                                  </p:attrNameLst>
                                </p:cBhvr>
                                <p:to>
                                  <p:strVal val="visible"/>
                                </p:to>
                              </p:set>
                              <p:anim calcmode="lin" valueType="num">
                                <p:cBhvr>
                                  <p:cTn id="189" dur="500"/>
                                  <p:tgtEl>
                                    <p:spTgt spid="37"/>
                                  </p:tgtEl>
                                  <p:attrNameLst>
                                    <p:attrName>style.opacity</p:attrName>
                                  </p:attrNameLst>
                                </p:cBhvr>
                                <p:tavLst>
                                  <p:tav tm="0">
                                    <p:val>
                                      <p:fltVal val="0"/>
                                    </p:val>
                                  </p:tav>
                                  <p:tav tm="100000">
                                    <p:val>
                                      <p:fltVal val="1"/>
                                    </p:val>
                                  </p:tav>
                                </p:tavLst>
                              </p:anim>
                              <p:set>
                                <p:cBhvr>
                                  <p:cTn id="190" dur="1" fill="hold">
                                    <p:stCondLst>
                                      <p:cond delay="0"/>
                                    </p:stCondLst>
                                  </p:cTn>
                                  <p:tgtEl>
                                    <p:spTgt spid="38"/>
                                  </p:tgtEl>
                                  <p:attrNameLst>
                                    <p:attrName>style.visibility</p:attrName>
                                  </p:attrNameLst>
                                </p:cBhvr>
                                <p:to>
                                  <p:strVal val="visible"/>
                                </p:to>
                              </p:set>
                              <p:anim calcmode="lin" valueType="num">
                                <p:cBhvr>
                                  <p:cTn id="191" dur="500"/>
                                  <p:tgtEl>
                                    <p:spTgt spid="38"/>
                                  </p:tgtEl>
                                  <p:attrNameLst>
                                    <p:attrName>style.opacity</p:attrName>
                                  </p:attrNameLst>
                                </p:cBhvr>
                                <p:tavLst>
                                  <p:tav tm="0">
                                    <p:val>
                                      <p:fltVal val="0"/>
                                    </p:val>
                                  </p:tav>
                                  <p:tav tm="100000">
                                    <p:val>
                                      <p:fltVal val="1"/>
                                    </p:val>
                                  </p:tav>
                                </p:tavLst>
                              </p:anim>
                            </p:childTnLst>
                          </p:cTn>
                        </p:par>
                        <p:par>
                          <p:cTn id="192" presetID="10" presetClass="entr" presetSubtype="0" fill="hold" grpId="0" nodeType="afterEffect">
                            <p:stCondLst>
                              <p:cond delay="1680"/>
                            </p:stCondLst>
                            <p:childTnLst>
                              <p:set>
                                <p:cBhvr>
                                  <p:cTn id="193" dur="1" fill="hold">
                                    <p:stCondLst>
                                      <p:cond delay="0"/>
                                    </p:stCondLst>
                                  </p:cTn>
                                  <p:tgtEl>
                                    <p:spTgt spid="39"/>
                                  </p:tgtEl>
                                  <p:attrNameLst>
                                    <p:attrName>style.visibility</p:attrName>
                                  </p:attrNameLst>
                                </p:cBhvr>
                                <p:to>
                                  <p:strVal val="visible"/>
                                </p:to>
                              </p:set>
                              <p:anim calcmode="lin" valueType="num">
                                <p:cBhvr>
                                  <p:cTn id="194" dur="500"/>
                                  <p:tgtEl>
                                    <p:spTgt spid="39"/>
                                  </p:tgtEl>
                                  <p:attrNameLst>
                                    <p:attrName>style.opacity</p:attrName>
                                  </p:attrNameLst>
                                </p:cBhvr>
                                <p:tavLst>
                                  <p:tav tm="0">
                                    <p:val>
                                      <p:fltVal val="0"/>
                                    </p:val>
                                  </p:tav>
                                  <p:tav tm="100000">
                                    <p:val>
                                      <p:fltVal val="1"/>
                                    </p:val>
                                  </p:tav>
                                </p:tavLst>
                              </p:anim>
                              <p:set>
                                <p:cBhvr>
                                  <p:cTn id="195" dur="1" fill="hold">
                                    <p:stCondLst>
                                      <p:cond delay="0"/>
                                    </p:stCondLst>
                                  </p:cTn>
                                  <p:tgtEl>
                                    <p:spTgt spid="40"/>
                                  </p:tgtEl>
                                  <p:attrNameLst>
                                    <p:attrName>style.visibility</p:attrName>
                                  </p:attrNameLst>
                                </p:cBhvr>
                                <p:to>
                                  <p:strVal val="visible"/>
                                </p:to>
                              </p:set>
                              <p:anim calcmode="lin" valueType="num">
                                <p:cBhvr>
                                  <p:cTn id="196" dur="500"/>
                                  <p:tgtEl>
                                    <p:spTgt spid="40"/>
                                  </p:tgtEl>
                                  <p:attrNameLst>
                                    <p:attrName>style.opacity</p:attrName>
                                  </p:attrNameLst>
                                </p:cBhvr>
                                <p:tavLst>
                                  <p:tav tm="0">
                                    <p:val>
                                      <p:fltVal val="0"/>
                                    </p:val>
                                  </p:tav>
                                  <p:tav tm="100000">
                                    <p:val>
                                      <p:fltVal val="1"/>
                                    </p:val>
                                  </p:tav>
                                </p:tavLst>
                              </p:anim>
                              <p:set>
                                <p:cBhvr>
                                  <p:cTn id="197" dur="1" fill="hold">
                                    <p:stCondLst>
                                      <p:cond delay="0"/>
                                    </p:stCondLst>
                                  </p:cTn>
                                  <p:tgtEl>
                                    <p:spTgt spid="41"/>
                                  </p:tgtEl>
                                  <p:attrNameLst>
                                    <p:attrName>style.visibility</p:attrName>
                                  </p:attrNameLst>
                                </p:cBhvr>
                                <p:to>
                                  <p:strVal val="visible"/>
                                </p:to>
                              </p:set>
                              <p:anim calcmode="lin" valueType="num">
                                <p:cBhvr>
                                  <p:cTn id="198" dur="500"/>
                                  <p:tgtEl>
                                    <p:spTgt spid="41"/>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An AI Model Can Add Assistance Without Losing Control</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Used carefully, AI can help users draft, summarize, recommend, and search while keeping final decisions with people.</a:t>
            </a:r>
            <a:endParaRPr lang="en-US" sz="1050" dirty="0"/>
          </a:p>
        </p:txBody>
      </p:sp>
      <p:sp>
        <p:nvSpPr>
          <p:cNvPr id="5" name="Shape 3"/>
          <p:cNvSpPr/>
          <p:nvPr/>
        </p:nvSpPr>
        <p:spPr>
          <a:xfrm>
            <a:off x="80467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95097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6070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ASSIST</a:t>
            </a:r>
            <a:endParaRPr lang="en-US" sz="850" dirty="0"/>
          </a:p>
        </p:txBody>
      </p:sp>
      <p:sp>
        <p:nvSpPr>
          <p:cNvPr id="8" name="Text 6"/>
          <p:cNvSpPr/>
          <p:nvPr/>
        </p:nvSpPr>
        <p:spPr>
          <a:xfrm>
            <a:off x="96926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Smart drafting</a:t>
            </a:r>
            <a:endParaRPr lang="en-US" sz="1400" dirty="0"/>
          </a:p>
        </p:txBody>
      </p:sp>
      <p:sp>
        <p:nvSpPr>
          <p:cNvPr id="9" name="Text 7"/>
          <p:cNvSpPr/>
          <p:nvPr/>
        </p:nvSpPr>
        <p:spPr>
          <a:xfrm>
            <a:off x="96926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The model can generate first drafts for reports, messages, summaries, or routine responses.</a:t>
            </a:r>
            <a:endParaRPr lang="en-US" sz="950" dirty="0"/>
          </a:p>
        </p:txBody>
      </p:sp>
      <p:sp>
        <p:nvSpPr>
          <p:cNvPr id="10" name="Shape 8"/>
          <p:cNvSpPr/>
          <p:nvPr/>
        </p:nvSpPr>
        <p:spPr>
          <a:xfrm>
            <a:off x="391363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9"/>
          <p:cNvSpPr/>
          <p:nvPr/>
        </p:nvSpPr>
        <p:spPr>
          <a:xfrm>
            <a:off x="405993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12" name="Text 10"/>
          <p:cNvSpPr/>
          <p:nvPr/>
        </p:nvSpPr>
        <p:spPr>
          <a:xfrm>
            <a:off x="416966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SEARCH</a:t>
            </a:r>
            <a:endParaRPr lang="en-US" sz="850" dirty="0"/>
          </a:p>
        </p:txBody>
      </p:sp>
      <p:sp>
        <p:nvSpPr>
          <p:cNvPr id="13" name="Text 11"/>
          <p:cNvSpPr/>
          <p:nvPr/>
        </p:nvSpPr>
        <p:spPr>
          <a:xfrm>
            <a:off x="407822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Contextual recommendations</a:t>
            </a:r>
            <a:endParaRPr lang="en-US" sz="1400" dirty="0"/>
          </a:p>
        </p:txBody>
      </p:sp>
      <p:sp>
        <p:nvSpPr>
          <p:cNvPr id="14" name="Text 12"/>
          <p:cNvSpPr/>
          <p:nvPr/>
        </p:nvSpPr>
        <p:spPr>
          <a:xfrm>
            <a:off x="407822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It can suggest next actions, flag anomalies, or surface relevant records based on user context.</a:t>
            </a:r>
            <a:endParaRPr lang="en-US" sz="950" dirty="0"/>
          </a:p>
        </p:txBody>
      </p:sp>
      <p:sp>
        <p:nvSpPr>
          <p:cNvPr id="15" name="Shape 13"/>
          <p:cNvSpPr/>
          <p:nvPr/>
        </p:nvSpPr>
        <p:spPr>
          <a:xfrm>
            <a:off x="7022592" y="1554480"/>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6" name="Shape 14"/>
          <p:cNvSpPr/>
          <p:nvPr/>
        </p:nvSpPr>
        <p:spPr>
          <a:xfrm>
            <a:off x="7168896" y="1700784"/>
            <a:ext cx="1417320" cy="310896"/>
          </a:xfrm>
          <a:prstGeom prst="roundRect">
            <a:avLst>
              <a:gd name="adj" fmla="val 23529"/>
            </a:avLst>
          </a:prstGeom>
          <a:solidFill>
            <a:srgbClr val="EAF2FF"/>
          </a:solidFill>
          <a:ln w="12700">
            <a:solidFill>
              <a:srgbClr val="EAF2FF">
                <a:alpha val="0"/>
              </a:srgbClr>
            </a:solidFill>
            <a:prstDash val="solid"/>
          </a:ln>
        </p:spPr>
      </p:sp>
      <p:sp>
        <p:nvSpPr>
          <p:cNvPr id="17" name="Text 15"/>
          <p:cNvSpPr/>
          <p:nvPr/>
        </p:nvSpPr>
        <p:spPr>
          <a:xfrm>
            <a:off x="7278624" y="175107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GUIDE</a:t>
            </a:r>
            <a:endParaRPr lang="en-US" sz="850" dirty="0"/>
          </a:p>
        </p:txBody>
      </p:sp>
      <p:sp>
        <p:nvSpPr>
          <p:cNvPr id="18" name="Text 16"/>
          <p:cNvSpPr/>
          <p:nvPr/>
        </p:nvSpPr>
        <p:spPr>
          <a:xfrm>
            <a:off x="7187184" y="2103120"/>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Knowledge assistance</a:t>
            </a:r>
            <a:endParaRPr lang="en-US" sz="1400" dirty="0"/>
          </a:p>
        </p:txBody>
      </p:sp>
      <p:sp>
        <p:nvSpPr>
          <p:cNvPr id="19" name="Text 17"/>
          <p:cNvSpPr/>
          <p:nvPr/>
        </p:nvSpPr>
        <p:spPr>
          <a:xfrm>
            <a:off x="7187184" y="2505456"/>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Natural-language search lets users ask questions and retrieve platform information faster.</a:t>
            </a:r>
            <a:endParaRPr lang="en-US" sz="950" dirty="0"/>
          </a:p>
        </p:txBody>
      </p:sp>
      <p:sp>
        <p:nvSpPr>
          <p:cNvPr id="20" name="Shape 18"/>
          <p:cNvSpPr/>
          <p:nvPr/>
        </p:nvSpPr>
        <p:spPr>
          <a:xfrm>
            <a:off x="2359152" y="3767328"/>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Shape 19"/>
          <p:cNvSpPr/>
          <p:nvPr/>
        </p:nvSpPr>
        <p:spPr>
          <a:xfrm>
            <a:off x="2505456" y="3913632"/>
            <a:ext cx="1417320" cy="310896"/>
          </a:xfrm>
          <a:prstGeom prst="roundRect">
            <a:avLst>
              <a:gd name="adj" fmla="val 23529"/>
            </a:avLst>
          </a:prstGeom>
          <a:solidFill>
            <a:srgbClr val="EAF2FF"/>
          </a:solidFill>
          <a:ln w="12700">
            <a:solidFill>
              <a:srgbClr val="EAF2FF">
                <a:alpha val="0"/>
              </a:srgbClr>
            </a:solidFill>
            <a:prstDash val="solid"/>
          </a:ln>
        </p:spPr>
      </p:sp>
      <p:sp>
        <p:nvSpPr>
          <p:cNvPr id="22" name="Text 20"/>
          <p:cNvSpPr/>
          <p:nvPr/>
        </p:nvSpPr>
        <p:spPr>
          <a:xfrm>
            <a:off x="2615184" y="396392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SAFETY</a:t>
            </a:r>
            <a:endParaRPr lang="en-US" sz="850" dirty="0"/>
          </a:p>
        </p:txBody>
      </p:sp>
      <p:sp>
        <p:nvSpPr>
          <p:cNvPr id="23" name="Text 21"/>
          <p:cNvSpPr/>
          <p:nvPr/>
        </p:nvSpPr>
        <p:spPr>
          <a:xfrm>
            <a:off x="2523744" y="4315968"/>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Guardrails and review</a:t>
            </a:r>
            <a:endParaRPr lang="en-US" sz="1400" dirty="0"/>
          </a:p>
        </p:txBody>
      </p:sp>
      <p:sp>
        <p:nvSpPr>
          <p:cNvPr id="24" name="Text 22"/>
          <p:cNvSpPr/>
          <p:nvPr/>
        </p:nvSpPr>
        <p:spPr>
          <a:xfrm>
            <a:off x="2523744" y="4718304"/>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Human approval, prompt limits, and logging keep outputs governed and reviewable.</a:t>
            </a:r>
            <a:endParaRPr lang="en-US" sz="950" dirty="0"/>
          </a:p>
        </p:txBody>
      </p:sp>
      <p:sp>
        <p:nvSpPr>
          <p:cNvPr id="25" name="Shape 23"/>
          <p:cNvSpPr/>
          <p:nvPr/>
        </p:nvSpPr>
        <p:spPr>
          <a:xfrm>
            <a:off x="5468112" y="3767328"/>
            <a:ext cx="2606040" cy="1755648"/>
          </a:xfrm>
          <a:prstGeom prst="roundRect">
            <a:avLst>
              <a:gd name="adj" fmla="val 6250"/>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6" name="Shape 24"/>
          <p:cNvSpPr/>
          <p:nvPr/>
        </p:nvSpPr>
        <p:spPr>
          <a:xfrm>
            <a:off x="5614416" y="3913632"/>
            <a:ext cx="1417320" cy="310896"/>
          </a:xfrm>
          <a:prstGeom prst="roundRect">
            <a:avLst>
              <a:gd name="adj" fmla="val 23529"/>
            </a:avLst>
          </a:prstGeom>
          <a:solidFill>
            <a:srgbClr val="FFF1D6"/>
          </a:solidFill>
          <a:ln w="12700">
            <a:solidFill>
              <a:srgbClr val="FFF1D6">
                <a:alpha val="0"/>
              </a:srgbClr>
            </a:solidFill>
            <a:prstDash val="solid"/>
          </a:ln>
        </p:spPr>
      </p:sp>
      <p:sp>
        <p:nvSpPr>
          <p:cNvPr id="27" name="Text 25"/>
          <p:cNvSpPr/>
          <p:nvPr/>
        </p:nvSpPr>
        <p:spPr>
          <a:xfrm>
            <a:off x="5724144" y="396392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CONTROL</a:t>
            </a:r>
            <a:endParaRPr lang="en-US" sz="850" dirty="0"/>
          </a:p>
        </p:txBody>
      </p:sp>
      <p:sp>
        <p:nvSpPr>
          <p:cNvPr id="28" name="Text 26"/>
          <p:cNvSpPr/>
          <p:nvPr/>
        </p:nvSpPr>
        <p:spPr>
          <a:xfrm>
            <a:off x="5632704" y="4315968"/>
            <a:ext cx="227685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User trust and transparency</a:t>
            </a:r>
            <a:endParaRPr lang="en-US" sz="1400" dirty="0"/>
          </a:p>
        </p:txBody>
      </p:sp>
      <p:sp>
        <p:nvSpPr>
          <p:cNvPr id="29" name="Text 27"/>
          <p:cNvSpPr/>
          <p:nvPr/>
        </p:nvSpPr>
        <p:spPr>
          <a:xfrm>
            <a:off x="5632704" y="4718304"/>
            <a:ext cx="2276856" cy="676656"/>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Clear AI labels and opt-in behavior help users understand when automated help is being used.</a:t>
            </a:r>
            <a:endParaRPr lang="en-US" sz="950" dirty="0"/>
          </a:p>
        </p:txBody>
      </p:sp>
      <p:sp>
        <p:nvSpPr>
          <p:cNvPr id="30" name="Shape 28"/>
          <p:cNvSpPr/>
          <p:nvPr/>
        </p:nvSpPr>
        <p:spPr>
          <a:xfrm>
            <a:off x="9729216" y="1554480"/>
            <a:ext cx="1719072" cy="3968496"/>
          </a:xfrm>
          <a:prstGeom prst="roundRect">
            <a:avLst>
              <a:gd name="adj" fmla="val 6383"/>
            </a:avLst>
          </a:prstGeom>
          <a:solidFill>
            <a:srgbClr val="13233F"/>
          </a:solidFill>
          <a:ln w="12700">
            <a:solidFill>
              <a:srgbClr val="13233F"/>
            </a:solidFill>
            <a:prstDash val="solid"/>
          </a:ln>
          <a:effectLst>
            <a:outerShdw sx="100000" sy="100000" kx="0" ky="0" algn="bl" rotWithShape="0" blurRad="25400" dist="12700" dir="2700000">
              <a:srgbClr val="7C93B8">
                <a:alpha val="18000"/>
              </a:srgbClr>
            </a:outerShdw>
          </a:effectLst>
        </p:spPr>
      </p:sp>
      <p:sp>
        <p:nvSpPr>
          <p:cNvPr id="31" name="Text 29"/>
          <p:cNvSpPr/>
          <p:nvPr/>
        </p:nvSpPr>
        <p:spPr>
          <a:xfrm>
            <a:off x="9912096" y="1847088"/>
            <a:ext cx="1325880" cy="182880"/>
          </a:xfrm>
          <a:prstGeom prst="rect">
            <a:avLst/>
          </a:prstGeom>
          <a:noFill/>
          <a:ln/>
        </p:spPr>
        <p:txBody>
          <a:bodyPr wrap="square" lIns="0" tIns="0" rIns="0" bIns="0" rtlCol="0" anchor="ctr"/>
          <a:lstStyle/>
          <a:p>
            <a:pPr algn="ctr" indent="0" marL="0">
              <a:buNone/>
            </a:pPr>
            <a:r>
              <a:rPr lang="en-US" sz="880" b="1" dirty="0">
                <a:solidFill>
                  <a:srgbClr val="CFE0FF"/>
                </a:solidFill>
                <a:latin typeface="Liberation Mono" pitchFamily="34" charset="0"/>
                <a:ea typeface="Liberation Mono" pitchFamily="34" charset="-122"/>
                <a:cs typeface="Liberation Mono" pitchFamily="34" charset="-120"/>
              </a:rPr>
              <a:t>AI value</a:t>
            </a:r>
            <a:endParaRPr lang="en-US" sz="880" dirty="0"/>
          </a:p>
        </p:txBody>
      </p:sp>
      <p:sp>
        <p:nvSpPr>
          <p:cNvPr id="32" name="Text 30"/>
          <p:cNvSpPr/>
          <p:nvPr/>
        </p:nvSpPr>
        <p:spPr>
          <a:xfrm>
            <a:off x="9930384" y="2331720"/>
            <a:ext cx="1280160" cy="1920240"/>
          </a:xfrm>
          <a:prstGeom prst="rect">
            <a:avLst/>
          </a:prstGeom>
          <a:noFill/>
          <a:ln/>
        </p:spPr>
        <p:txBody>
          <a:bodyPr wrap="square" lIns="0" tIns="0" rIns="0" bIns="0" rtlCol="0" anchor="ct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Faster drafting</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Better discovery</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Consistent support</a:t>
            </a:r>
            <a:endParaRPr lang="en-US" sz="1500" dirty="0"/>
          </a:p>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Safer adoption</a:t>
            </a:r>
            <a:endParaRPr lang="en-US" sz="1500" dirty="0"/>
          </a:p>
        </p:txBody>
      </p:sp>
      <p:sp>
        <p:nvSpPr>
          <p:cNvPr id="33" name="Shape 31"/>
          <p:cNvSpPr/>
          <p:nvPr/>
        </p:nvSpPr>
        <p:spPr>
          <a:xfrm>
            <a:off x="548640" y="6446520"/>
            <a:ext cx="11064240" cy="0"/>
          </a:xfrm>
          <a:prstGeom prst="line">
            <a:avLst/>
          </a:prstGeom>
          <a:noFill/>
          <a:ln w="12700">
            <a:solidFill>
              <a:srgbClr val="C8D8F0"/>
            </a:solidFill>
            <a:prstDash val="solid"/>
          </a:ln>
        </p:spPr>
      </p:sp>
      <p:sp>
        <p:nvSpPr>
          <p:cNvPr id="34" name="Text 32"/>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5" name="Text 33"/>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12</a:t>
            </a:r>
            <a:endParaRPr lang="en-US" sz="850" dirty="0"/>
          </a:p>
        </p:txBody>
      </p:sp>
      <p:sp>
        <p:nvSpPr>
          <p:cNvPr id="38"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39" name="Swahilipot Logo"/>
          <p:cNvPicPr>
            <a:picLocks noChangeAspect="1"/>
          </p:cNvPicPr>
          <p:nvPr/>
        </p:nvPicPr>
        <p:blipFill>
          <a:blip r:embed="rId2"/>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45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60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5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5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5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500"/>
                                  <p:tgtEl>
                                    <p:spTgt spid="9"/>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750"/>
                            </p:stCondLst>
                            <p:childTnLst>
                              <p:set>
                                <p:cBhvr>
                                  <p:cTn id="122" dur="1" fill="hold">
                                    <p:stCondLst>
                                      <p:cond delay="0"/>
                                    </p:stCondLst>
                                  </p:cTn>
                                  <p:tgtEl>
                                    <p:spTgt spid="10"/>
                                  </p:tgtEl>
                                  <p:attrNameLst>
                                    <p:attrName>style.visibility</p:attrName>
                                  </p:attrNameLst>
                                </p:cBhvr>
                                <p:to>
                                  <p:strVal val="visible"/>
                                </p:to>
                              </p:set>
                              <p:anim calcmode="lin" valueType="num">
                                <p:cBhvr>
                                  <p:cTn id="123" dur="500"/>
                                  <p:tgtEl>
                                    <p:spTgt spid="10"/>
                                  </p:tgtEl>
                                  <p:attrNameLst>
                                    <p:attrName>style.opacity</p:attrName>
                                  </p:attrNameLst>
                                </p:cBhvr>
                                <p:tavLst>
                                  <p:tav tm="0">
                                    <p:val>
                                      <p:fltVal val="0"/>
                                    </p:val>
                                  </p:tav>
                                  <p:tav tm="100000">
                                    <p:val>
                                      <p:fltVal val="1"/>
                                    </p:val>
                                  </p:tav>
                                </p:tavLst>
                              </p:anim>
                              <p:set>
                                <p:cBhvr>
                                  <p:cTn id="124" dur="1" fill="hold">
                                    <p:stCondLst>
                                      <p:cond delay="0"/>
                                    </p:stCondLst>
                                  </p:cTn>
                                  <p:tgtEl>
                                    <p:spTgt spid="11"/>
                                  </p:tgtEl>
                                  <p:attrNameLst>
                                    <p:attrName>style.visibility</p:attrName>
                                  </p:attrNameLst>
                                </p:cBhvr>
                                <p:to>
                                  <p:strVal val="visible"/>
                                </p:to>
                              </p:set>
                              <p:anim calcmode="lin" valueType="num">
                                <p:cBhvr>
                                  <p:cTn id="125" dur="500"/>
                                  <p:tgtEl>
                                    <p:spTgt spid="11"/>
                                  </p:tgtEl>
                                  <p:attrNameLst>
                                    <p:attrName>style.opacity</p:attrName>
                                  </p:attrNameLst>
                                </p:cBhvr>
                                <p:tavLst>
                                  <p:tav tm="0">
                                    <p:val>
                                      <p:fltVal val="0"/>
                                    </p:val>
                                  </p:tav>
                                  <p:tav tm="100000">
                                    <p:val>
                                      <p:fltVal val="1"/>
                                    </p:val>
                                  </p:tav>
                                </p:tavLst>
                              </p:anim>
                              <p:set>
                                <p:cBhvr>
                                  <p:cTn id="126" dur="1" fill="hold">
                                    <p:stCondLst>
                                      <p:cond delay="0"/>
                                    </p:stCondLst>
                                  </p:cTn>
                                  <p:tgtEl>
                                    <p:spTgt spid="12"/>
                                  </p:tgtEl>
                                  <p:attrNameLst>
                                    <p:attrName>style.visibility</p:attrName>
                                  </p:attrNameLst>
                                </p:cBhvr>
                                <p:to>
                                  <p:strVal val="visible"/>
                                </p:to>
                              </p:set>
                              <p:anim calcmode="lin" valueType="num">
                                <p:cBhvr>
                                  <p:cTn id="127" dur="500"/>
                                  <p:tgtEl>
                                    <p:spTgt spid="12"/>
                                  </p:tgtEl>
                                  <p:attrNameLst>
                                    <p:attrName>style.opacity</p:attrName>
                                  </p:attrNameLst>
                                </p:cBhvr>
                                <p:tavLst>
                                  <p:tav tm="0">
                                    <p:val>
                                      <p:fltVal val="0"/>
                                    </p:val>
                                  </p:tav>
                                  <p:tav tm="100000">
                                    <p:val>
                                      <p:fltVal val="1"/>
                                    </p:val>
                                  </p:tav>
                                </p:tavLst>
                              </p:anim>
                              <p:set>
                                <p:cBhvr>
                                  <p:cTn id="128" dur="1" fill="hold">
                                    <p:stCondLst>
                                      <p:cond delay="0"/>
                                    </p:stCondLst>
                                  </p:cTn>
                                  <p:tgtEl>
                                    <p:spTgt spid="13"/>
                                  </p:tgtEl>
                                  <p:attrNameLst>
                                    <p:attrName>style.visibility</p:attrName>
                                  </p:attrNameLst>
                                </p:cBhvr>
                                <p:to>
                                  <p:strVal val="visible"/>
                                </p:to>
                              </p:set>
                              <p:anim calcmode="lin" valueType="num">
                                <p:cBhvr>
                                  <p:cTn id="129" dur="500"/>
                                  <p:tgtEl>
                                    <p:spTgt spid="13"/>
                                  </p:tgtEl>
                                  <p:attrNameLst>
                                    <p:attrName>style.opacity</p:attrName>
                                  </p:attrNameLst>
                                </p:cBhvr>
                                <p:tavLst>
                                  <p:tav tm="0">
                                    <p:val>
                                      <p:fltVal val="0"/>
                                    </p:val>
                                  </p:tav>
                                  <p:tav tm="100000">
                                    <p:val>
                                      <p:fltVal val="1"/>
                                    </p:val>
                                  </p:tav>
                                </p:tavLst>
                              </p:anim>
                              <p:set>
                                <p:cBhvr>
                                  <p:cTn id="130" dur="1" fill="hold">
                                    <p:stCondLst>
                                      <p:cond delay="0"/>
                                    </p:stCondLst>
                                  </p:cTn>
                                  <p:tgtEl>
                                    <p:spTgt spid="14"/>
                                  </p:tgtEl>
                                  <p:attrNameLst>
                                    <p:attrName>style.visibility</p:attrName>
                                  </p:attrNameLst>
                                </p:cBhvr>
                                <p:to>
                                  <p:strVal val="visible"/>
                                </p:to>
                              </p:set>
                              <p:anim calcmode="lin" valueType="num">
                                <p:cBhvr>
                                  <p:cTn id="131" dur="500"/>
                                  <p:tgtEl>
                                    <p:spTgt spid="14"/>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90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p:tgtEl>
                                    <p:spTgt spid="15"/>
                                  </p:tgtEl>
                                  <p:attrNameLst>
                                    <p:attrName>style.opacity</p:attrName>
                                  </p:attrNameLst>
                                </p:cBhvr>
                                <p:tavLst>
                                  <p:tav tm="0">
                                    <p:val>
                                      <p:fltVal val="0"/>
                                    </p:val>
                                  </p:tav>
                                  <p:tav tm="100000">
                                    <p:val>
                                      <p:fltVal val="1"/>
                                    </p:val>
                                  </p:tav>
                                </p:tavLst>
                              </p:anim>
                              <p:set>
                                <p:cBhvr>
                                  <p:cTn id="135" dur="1" fill="hold">
                                    <p:stCondLst>
                                      <p:cond delay="0"/>
                                    </p:stCondLst>
                                  </p:cTn>
                                  <p:tgtEl>
                                    <p:spTgt spid="16"/>
                                  </p:tgtEl>
                                  <p:attrNameLst>
                                    <p:attrName>style.visibility</p:attrName>
                                  </p:attrNameLst>
                                </p:cBhvr>
                                <p:to>
                                  <p:strVal val="visible"/>
                                </p:to>
                              </p:set>
                              <p:anim calcmode="lin" valueType="num">
                                <p:cBhvr>
                                  <p:cTn id="136" dur="500"/>
                                  <p:tgtEl>
                                    <p:spTgt spid="16"/>
                                  </p:tgtEl>
                                  <p:attrNameLst>
                                    <p:attrName>style.opacity</p:attrName>
                                  </p:attrNameLst>
                                </p:cBhvr>
                                <p:tavLst>
                                  <p:tav tm="0">
                                    <p:val>
                                      <p:fltVal val="0"/>
                                    </p:val>
                                  </p:tav>
                                  <p:tav tm="100000">
                                    <p:val>
                                      <p:fltVal val="1"/>
                                    </p:val>
                                  </p:tav>
                                </p:tavLst>
                              </p:anim>
                              <p:set>
                                <p:cBhvr>
                                  <p:cTn id="137" dur="1" fill="hold">
                                    <p:stCondLst>
                                      <p:cond delay="0"/>
                                    </p:stCondLst>
                                  </p:cTn>
                                  <p:tgtEl>
                                    <p:spTgt spid="17"/>
                                  </p:tgtEl>
                                  <p:attrNameLst>
                                    <p:attrName>style.visibility</p:attrName>
                                  </p:attrNameLst>
                                </p:cBhvr>
                                <p:to>
                                  <p:strVal val="visible"/>
                                </p:to>
                              </p:set>
                              <p:anim calcmode="lin" valueType="num">
                                <p:cBhvr>
                                  <p:cTn id="138" dur="500"/>
                                  <p:tgtEl>
                                    <p:spTgt spid="17"/>
                                  </p:tgtEl>
                                  <p:attrNameLst>
                                    <p:attrName>style.opacity</p:attrName>
                                  </p:attrNameLst>
                                </p:cBhvr>
                                <p:tavLst>
                                  <p:tav tm="0">
                                    <p:val>
                                      <p:fltVal val="0"/>
                                    </p:val>
                                  </p:tav>
                                  <p:tav tm="100000">
                                    <p:val>
                                      <p:fltVal val="1"/>
                                    </p:val>
                                  </p:tav>
                                </p:tavLst>
                              </p:anim>
                              <p:set>
                                <p:cBhvr>
                                  <p:cTn id="139" dur="1" fill="hold">
                                    <p:stCondLst>
                                      <p:cond delay="0"/>
                                    </p:stCondLst>
                                  </p:cTn>
                                  <p:tgtEl>
                                    <p:spTgt spid="18"/>
                                  </p:tgtEl>
                                  <p:attrNameLst>
                                    <p:attrName>style.visibility</p:attrName>
                                  </p:attrNameLst>
                                </p:cBhvr>
                                <p:to>
                                  <p:strVal val="visible"/>
                                </p:to>
                              </p:set>
                              <p:anim calcmode="lin" valueType="num">
                                <p:cBhvr>
                                  <p:cTn id="140" dur="500"/>
                                  <p:tgtEl>
                                    <p:spTgt spid="18"/>
                                  </p:tgtEl>
                                  <p:attrNameLst>
                                    <p:attrName>style.opacity</p:attrName>
                                  </p:attrNameLst>
                                </p:cBhvr>
                                <p:tavLst>
                                  <p:tav tm="0">
                                    <p:val>
                                      <p:fltVal val="0"/>
                                    </p:val>
                                  </p:tav>
                                  <p:tav tm="100000">
                                    <p:val>
                                      <p:fltVal val="1"/>
                                    </p:val>
                                  </p:tav>
                                </p:tavLst>
                              </p:anim>
                              <p:set>
                                <p:cBhvr>
                                  <p:cTn id="141" dur="1" fill="hold">
                                    <p:stCondLst>
                                      <p:cond delay="0"/>
                                    </p:stCondLst>
                                  </p:cTn>
                                  <p:tgtEl>
                                    <p:spTgt spid="19"/>
                                  </p:tgtEl>
                                  <p:attrNameLst>
                                    <p:attrName>style.visibility</p:attrName>
                                  </p:attrNameLst>
                                </p:cBhvr>
                                <p:to>
                                  <p:strVal val="visible"/>
                                </p:to>
                              </p:set>
                              <p:anim calcmode="lin" valueType="num">
                                <p:cBhvr>
                                  <p:cTn id="142" dur="500"/>
                                  <p:tgtEl>
                                    <p:spTgt spid="19"/>
                                  </p:tgtEl>
                                  <p:attrNameLst>
                                    <p:attrName>style.opacity</p:attrName>
                                  </p:attrNameLst>
                                </p:cBhvr>
                                <p:tavLst>
                                  <p:tav tm="0">
                                    <p:val>
                                      <p:fltVal val="0"/>
                                    </p:val>
                                  </p:tav>
                                  <p:tav tm="100000">
                                    <p:val>
                                      <p:fltVal val="1"/>
                                    </p:val>
                                  </p:tav>
                                </p:tavLst>
                              </p:anim>
                            </p:childTnLst>
                          </p:cTn>
                        </p:par>
                        <p:par>
                          <p:cTn id="143" presetID="10" presetClass="entr" presetSubtype="0" fill="hold" grpId="0" nodeType="afterEffect">
                            <p:stCondLst>
                              <p:cond delay="1050"/>
                            </p:stCondLst>
                            <p:childTnLst>
                              <p:set>
                                <p:cBhvr>
                                  <p:cTn id="144" dur="1" fill="hold">
                                    <p:stCondLst>
                                      <p:cond delay="0"/>
                                    </p:stCondLst>
                                  </p:cTn>
                                  <p:tgtEl>
                                    <p:spTgt spid="20"/>
                                  </p:tgtEl>
                                  <p:attrNameLst>
                                    <p:attrName>style.visibility</p:attrName>
                                  </p:attrNameLst>
                                </p:cBhvr>
                                <p:to>
                                  <p:strVal val="visible"/>
                                </p:to>
                              </p:set>
                              <p:anim calcmode="lin" valueType="num">
                                <p:cBhvr>
                                  <p:cTn id="145" dur="500"/>
                                  <p:tgtEl>
                                    <p:spTgt spid="20"/>
                                  </p:tgtEl>
                                  <p:attrNameLst>
                                    <p:attrName>style.opacity</p:attrName>
                                  </p:attrNameLst>
                                </p:cBhvr>
                                <p:tavLst>
                                  <p:tav tm="0">
                                    <p:val>
                                      <p:fltVal val="0"/>
                                    </p:val>
                                  </p:tav>
                                  <p:tav tm="100000">
                                    <p:val>
                                      <p:fltVal val="1"/>
                                    </p:val>
                                  </p:tav>
                                </p:tavLst>
                              </p:anim>
                              <p:set>
                                <p:cBhvr>
                                  <p:cTn id="146" dur="1" fill="hold">
                                    <p:stCondLst>
                                      <p:cond delay="0"/>
                                    </p:stCondLst>
                                  </p:cTn>
                                  <p:tgtEl>
                                    <p:spTgt spid="21"/>
                                  </p:tgtEl>
                                  <p:attrNameLst>
                                    <p:attrName>style.visibility</p:attrName>
                                  </p:attrNameLst>
                                </p:cBhvr>
                                <p:to>
                                  <p:strVal val="visible"/>
                                </p:to>
                              </p:set>
                              <p:anim calcmode="lin" valueType="num">
                                <p:cBhvr>
                                  <p:cTn id="147" dur="500"/>
                                  <p:tgtEl>
                                    <p:spTgt spid="21"/>
                                  </p:tgtEl>
                                  <p:attrNameLst>
                                    <p:attrName>style.opacity</p:attrName>
                                  </p:attrNameLst>
                                </p:cBhvr>
                                <p:tavLst>
                                  <p:tav tm="0">
                                    <p:val>
                                      <p:fltVal val="0"/>
                                    </p:val>
                                  </p:tav>
                                  <p:tav tm="100000">
                                    <p:val>
                                      <p:fltVal val="1"/>
                                    </p:val>
                                  </p:tav>
                                </p:tavLst>
                              </p:anim>
                              <p:set>
                                <p:cBhvr>
                                  <p:cTn id="148" dur="1" fill="hold">
                                    <p:stCondLst>
                                      <p:cond delay="0"/>
                                    </p:stCondLst>
                                  </p:cTn>
                                  <p:tgtEl>
                                    <p:spTgt spid="22"/>
                                  </p:tgtEl>
                                  <p:attrNameLst>
                                    <p:attrName>style.visibility</p:attrName>
                                  </p:attrNameLst>
                                </p:cBhvr>
                                <p:to>
                                  <p:strVal val="visible"/>
                                </p:to>
                              </p:set>
                              <p:anim calcmode="lin" valueType="num">
                                <p:cBhvr>
                                  <p:cTn id="149" dur="500"/>
                                  <p:tgtEl>
                                    <p:spTgt spid="22"/>
                                  </p:tgtEl>
                                  <p:attrNameLst>
                                    <p:attrName>style.opacity</p:attrName>
                                  </p:attrNameLst>
                                </p:cBhvr>
                                <p:tavLst>
                                  <p:tav tm="0">
                                    <p:val>
                                      <p:fltVal val="0"/>
                                    </p:val>
                                  </p:tav>
                                  <p:tav tm="100000">
                                    <p:val>
                                      <p:fltVal val="1"/>
                                    </p:val>
                                  </p:tav>
                                </p:tavLst>
                              </p:anim>
                              <p:set>
                                <p:cBhvr>
                                  <p:cTn id="150" dur="1" fill="hold">
                                    <p:stCondLst>
                                      <p:cond delay="0"/>
                                    </p:stCondLst>
                                  </p:cTn>
                                  <p:tgtEl>
                                    <p:spTgt spid="23"/>
                                  </p:tgtEl>
                                  <p:attrNameLst>
                                    <p:attrName>style.visibility</p:attrName>
                                  </p:attrNameLst>
                                </p:cBhvr>
                                <p:to>
                                  <p:strVal val="visible"/>
                                </p:to>
                              </p:set>
                              <p:anim calcmode="lin" valueType="num">
                                <p:cBhvr>
                                  <p:cTn id="151" dur="500"/>
                                  <p:tgtEl>
                                    <p:spTgt spid="23"/>
                                  </p:tgtEl>
                                  <p:attrNameLst>
                                    <p:attrName>style.opacity</p:attrName>
                                  </p:attrNameLst>
                                </p:cBhvr>
                                <p:tavLst>
                                  <p:tav tm="0">
                                    <p:val>
                                      <p:fltVal val="0"/>
                                    </p:val>
                                  </p:tav>
                                  <p:tav tm="100000">
                                    <p:val>
                                      <p:fltVal val="1"/>
                                    </p:val>
                                  </p:tav>
                                </p:tavLst>
                              </p:anim>
                              <p:set>
                                <p:cBhvr>
                                  <p:cTn id="152" dur="1" fill="hold">
                                    <p:stCondLst>
                                      <p:cond delay="0"/>
                                    </p:stCondLst>
                                  </p:cTn>
                                  <p:tgtEl>
                                    <p:spTgt spid="24"/>
                                  </p:tgtEl>
                                  <p:attrNameLst>
                                    <p:attrName>style.visibility</p:attrName>
                                  </p:attrNameLst>
                                </p:cBhvr>
                                <p:to>
                                  <p:strVal val="visible"/>
                                </p:to>
                              </p:set>
                              <p:anim calcmode="lin" valueType="num">
                                <p:cBhvr>
                                  <p:cTn id="153" dur="500"/>
                                  <p:tgtEl>
                                    <p:spTgt spid="24"/>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200"/>
                            </p:stCondLst>
                            <p:childTnLst>
                              <p:set>
                                <p:cBhvr>
                                  <p:cTn id="155" dur="1" fill="hold">
                                    <p:stCondLst>
                                      <p:cond delay="0"/>
                                    </p:stCondLst>
                                  </p:cTn>
                                  <p:tgtEl>
                                    <p:spTgt spid="25"/>
                                  </p:tgtEl>
                                  <p:attrNameLst>
                                    <p:attrName>style.visibility</p:attrName>
                                  </p:attrNameLst>
                                </p:cBhvr>
                                <p:to>
                                  <p:strVal val="visible"/>
                                </p:to>
                              </p:set>
                              <p:anim calcmode="lin" valueType="num">
                                <p:cBhvr>
                                  <p:cTn id="156" dur="500"/>
                                  <p:tgtEl>
                                    <p:spTgt spid="25"/>
                                  </p:tgtEl>
                                  <p:attrNameLst>
                                    <p:attrName>style.opacity</p:attrName>
                                  </p:attrNameLst>
                                </p:cBhvr>
                                <p:tavLst>
                                  <p:tav tm="0">
                                    <p:val>
                                      <p:fltVal val="0"/>
                                    </p:val>
                                  </p:tav>
                                  <p:tav tm="100000">
                                    <p:val>
                                      <p:fltVal val="1"/>
                                    </p:val>
                                  </p:tav>
                                </p:tavLst>
                              </p:anim>
                              <p:set>
                                <p:cBhvr>
                                  <p:cTn id="157" dur="1" fill="hold">
                                    <p:stCondLst>
                                      <p:cond delay="0"/>
                                    </p:stCondLst>
                                  </p:cTn>
                                  <p:tgtEl>
                                    <p:spTgt spid="26"/>
                                  </p:tgtEl>
                                  <p:attrNameLst>
                                    <p:attrName>style.visibility</p:attrName>
                                  </p:attrNameLst>
                                </p:cBhvr>
                                <p:to>
                                  <p:strVal val="visible"/>
                                </p:to>
                              </p:set>
                              <p:anim calcmode="lin" valueType="num">
                                <p:cBhvr>
                                  <p:cTn id="158" dur="500"/>
                                  <p:tgtEl>
                                    <p:spTgt spid="26"/>
                                  </p:tgtEl>
                                  <p:attrNameLst>
                                    <p:attrName>style.opacity</p:attrName>
                                  </p:attrNameLst>
                                </p:cBhvr>
                                <p:tavLst>
                                  <p:tav tm="0">
                                    <p:val>
                                      <p:fltVal val="0"/>
                                    </p:val>
                                  </p:tav>
                                  <p:tav tm="100000">
                                    <p:val>
                                      <p:fltVal val="1"/>
                                    </p:val>
                                  </p:tav>
                                </p:tavLst>
                              </p:anim>
                              <p:set>
                                <p:cBhvr>
                                  <p:cTn id="159" dur="1" fill="hold">
                                    <p:stCondLst>
                                      <p:cond delay="0"/>
                                    </p:stCondLst>
                                  </p:cTn>
                                  <p:tgtEl>
                                    <p:spTgt spid="27"/>
                                  </p:tgtEl>
                                  <p:attrNameLst>
                                    <p:attrName>style.visibility</p:attrName>
                                  </p:attrNameLst>
                                </p:cBhvr>
                                <p:to>
                                  <p:strVal val="visible"/>
                                </p:to>
                              </p:set>
                              <p:anim calcmode="lin" valueType="num">
                                <p:cBhvr>
                                  <p:cTn id="160" dur="500"/>
                                  <p:tgtEl>
                                    <p:spTgt spid="27"/>
                                  </p:tgtEl>
                                  <p:attrNameLst>
                                    <p:attrName>style.opacity</p:attrName>
                                  </p:attrNameLst>
                                </p:cBhvr>
                                <p:tavLst>
                                  <p:tav tm="0">
                                    <p:val>
                                      <p:fltVal val="0"/>
                                    </p:val>
                                  </p:tav>
                                  <p:tav tm="100000">
                                    <p:val>
                                      <p:fltVal val="1"/>
                                    </p:val>
                                  </p:tav>
                                </p:tavLst>
                              </p:anim>
                              <p:set>
                                <p:cBhvr>
                                  <p:cTn id="161" dur="1" fill="hold">
                                    <p:stCondLst>
                                      <p:cond delay="0"/>
                                    </p:stCondLst>
                                  </p:cTn>
                                  <p:tgtEl>
                                    <p:spTgt spid="28"/>
                                  </p:tgtEl>
                                  <p:attrNameLst>
                                    <p:attrName>style.visibility</p:attrName>
                                  </p:attrNameLst>
                                </p:cBhvr>
                                <p:to>
                                  <p:strVal val="visible"/>
                                </p:to>
                              </p:set>
                              <p:anim calcmode="lin" valueType="num">
                                <p:cBhvr>
                                  <p:cTn id="162" dur="500"/>
                                  <p:tgtEl>
                                    <p:spTgt spid="28"/>
                                  </p:tgtEl>
                                  <p:attrNameLst>
                                    <p:attrName>style.opacity</p:attrName>
                                  </p:attrNameLst>
                                </p:cBhvr>
                                <p:tavLst>
                                  <p:tav tm="0">
                                    <p:val>
                                      <p:fltVal val="0"/>
                                    </p:val>
                                  </p:tav>
                                  <p:tav tm="100000">
                                    <p:val>
                                      <p:fltVal val="1"/>
                                    </p:val>
                                  </p:tav>
                                </p:tavLst>
                              </p:anim>
                              <p:set>
                                <p:cBhvr>
                                  <p:cTn id="163" dur="1" fill="hold">
                                    <p:stCondLst>
                                      <p:cond delay="0"/>
                                    </p:stCondLst>
                                  </p:cTn>
                                  <p:tgtEl>
                                    <p:spTgt spid="29"/>
                                  </p:tgtEl>
                                  <p:attrNameLst>
                                    <p:attrName>style.visibility</p:attrName>
                                  </p:attrNameLst>
                                </p:cBhvr>
                                <p:to>
                                  <p:strVal val="visible"/>
                                </p:to>
                              </p:set>
                              <p:anim calcmode="lin" valueType="num">
                                <p:cBhvr>
                                  <p:cTn id="164" dur="500"/>
                                  <p:tgtEl>
                                    <p:spTgt spid="29"/>
                                  </p:tgtEl>
                                  <p:attrNameLst>
                                    <p:attrName>style.opacity</p:attrName>
                                  </p:attrNameLst>
                                </p:cBhvr>
                                <p:tavLst>
                                  <p:tav tm="0">
                                    <p:val>
                                      <p:fltVal val="0"/>
                                    </p:val>
                                  </p:tav>
                                  <p:tav tm="100000">
                                    <p:val>
                                      <p:fltVal val="1"/>
                                    </p:val>
                                  </p:tav>
                                </p:tavLst>
                              </p:anim>
                            </p:childTnLst>
                          </p:cTn>
                        </p:par>
                        <p:par>
                          <p:cTn id="165" presetID="10" presetClass="entr" presetSubtype="0" fill="hold" grpId="0" nodeType="afterEffect">
                            <p:stCondLst>
                              <p:cond delay="1350"/>
                            </p:stCondLst>
                            <p:childTnLst>
                              <p:set>
                                <p:cBhvr>
                                  <p:cTn id="166" dur="1" fill="hold">
                                    <p:stCondLst>
                                      <p:cond delay="0"/>
                                    </p:stCondLst>
                                  </p:cTn>
                                  <p:tgtEl>
                                    <p:spTgt spid="30"/>
                                  </p:tgtEl>
                                  <p:attrNameLst>
                                    <p:attrName>style.visibility</p:attrName>
                                  </p:attrNameLst>
                                </p:cBhvr>
                                <p:to>
                                  <p:strVal val="visible"/>
                                </p:to>
                              </p:set>
                              <p:anim calcmode="lin" valueType="num">
                                <p:cBhvr>
                                  <p:cTn id="167" dur="500"/>
                                  <p:tgtEl>
                                    <p:spTgt spid="30"/>
                                  </p:tgtEl>
                                  <p:attrNameLst>
                                    <p:attrName>style.opacity</p:attrName>
                                  </p:attrNameLst>
                                </p:cBhvr>
                                <p:tavLst>
                                  <p:tav tm="0">
                                    <p:val>
                                      <p:fltVal val="0"/>
                                    </p:val>
                                  </p:tav>
                                  <p:tav tm="100000">
                                    <p:val>
                                      <p:fltVal val="1"/>
                                    </p:val>
                                  </p:tav>
                                </p:tavLst>
                              </p:anim>
                              <p:set>
                                <p:cBhvr>
                                  <p:cTn id="168" dur="1" fill="hold">
                                    <p:stCondLst>
                                      <p:cond delay="0"/>
                                    </p:stCondLst>
                                  </p:cTn>
                                  <p:tgtEl>
                                    <p:spTgt spid="31"/>
                                  </p:tgtEl>
                                  <p:attrNameLst>
                                    <p:attrName>style.visibility</p:attrName>
                                  </p:attrNameLst>
                                </p:cBhvr>
                                <p:to>
                                  <p:strVal val="visible"/>
                                </p:to>
                              </p:set>
                              <p:anim calcmode="lin" valueType="num">
                                <p:cBhvr>
                                  <p:cTn id="169" dur="500"/>
                                  <p:tgtEl>
                                    <p:spTgt spid="31"/>
                                  </p:tgtEl>
                                  <p:attrNameLst>
                                    <p:attrName>style.opacity</p:attrName>
                                  </p:attrNameLst>
                                </p:cBhvr>
                                <p:tavLst>
                                  <p:tav tm="0">
                                    <p:val>
                                      <p:fltVal val="0"/>
                                    </p:val>
                                  </p:tav>
                                  <p:tav tm="100000">
                                    <p:val>
                                      <p:fltVal val="1"/>
                                    </p:val>
                                  </p:tav>
                                </p:tavLst>
                              </p:anim>
                              <p:set>
                                <p:cBhvr>
                                  <p:cTn id="170" dur="1" fill="hold">
                                    <p:stCondLst>
                                      <p:cond delay="0"/>
                                    </p:stCondLst>
                                  </p:cTn>
                                  <p:tgtEl>
                                    <p:spTgt spid="32"/>
                                  </p:tgtEl>
                                  <p:attrNameLst>
                                    <p:attrName>style.visibility</p:attrName>
                                  </p:attrNameLst>
                                </p:cBhvr>
                                <p:to>
                                  <p:strVal val="visible"/>
                                </p:to>
                              </p:set>
                              <p:anim calcmode="lin" valueType="num">
                                <p:cBhvr>
                                  <p:cTn id="171" dur="500"/>
                                  <p:tgtEl>
                                    <p:spTgt spid="32"/>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gradFill rotWithShape="1">
            <a:gsLst>
              <a:gs pos="0">
                <a:srgbClr val="1E40AF"/>
              </a:gs>
              <a:gs pos="55000">
                <a:srgbClr val="F59E0B"/>
              </a:gs>
              <a:gs pos="100000">
                <a:srgbClr val="FCD34D"/>
              </a:gs>
            </a:gsLst>
            <a:lin ang="0" scaled="1"/>
          </a:gradFill>
          <a:ln w="12700">
            <a:solidFill>
              <a:srgbClr val="F59E0B">
                <a:alpha val="0"/>
              </a:srgbClr>
            </a:solidFill>
            <a:prstDash val="solid"/>
          </a:ln>
        </p:spPr>
      </p:sp>
      <p:sp>
        <p:nvSpPr>
          <p:cNvPr id="3" name="Text 1"/>
          <p:cNvSpPr/>
          <p:nvPr/>
        </p:nvSpPr>
        <p:spPr>
          <a:xfrm>
            <a:off x="640080" y="411480"/>
            <a:ext cx="7955280" cy="411480"/>
          </a:xfrm>
          <a:prstGeom prst="rect">
            <a:avLst/>
          </a:prstGeom>
          <a:noFill/>
          <a:ln/>
        </p:spPr>
        <p:txBody>
          <a:bodyPr wrap="square" lIns="0" tIns="0" rIns="0" bIns="0" rtlCol="0" anchor="ctr"/>
          <a:lstStyle/>
          <a:p>
            <a:pPr indent="0" marL="0">
              <a:buNone/>
            </a:pPr>
            <a:r>
              <a:rPr lang="en-US" sz="2400" b="1" dirty="0">
                <a:solidFill>
                  <a:srgbClr val="1E40AF"/>
                </a:solidFill>
                <a:latin typeface="Liberation Sans" pitchFamily="34" charset="0"/>
                <a:ea typeface="Liberation Sans" pitchFamily="34" charset="-122"/>
                <a:cs typeface="Liberation Sans" pitchFamily="34" charset="-120"/>
              </a:rPr>
              <a:t>Website Preferences Let Users Shape Their Own Experience</a:t>
            </a:r>
            <a:endParaRPr lang="en-US" sz="2400" dirty="0"/>
          </a:p>
        </p:txBody>
      </p:sp>
      <p:sp>
        <p:nvSpPr>
          <p:cNvPr id="4" name="Text 2"/>
          <p:cNvSpPr/>
          <p:nvPr/>
        </p:nvSpPr>
        <p:spPr>
          <a:xfrm>
            <a:off x="658368" y="841248"/>
            <a:ext cx="8046720" cy="320040"/>
          </a:xfrm>
          <a:prstGeom prst="rect">
            <a:avLst/>
          </a:prstGeom>
          <a:noFill/>
          <a:ln/>
        </p:spPr>
        <p:txBody>
          <a:bodyPr wrap="square" lIns="0" tIns="0" rIns="0" bIns="0" rtlCol="0" anchor="ctr"/>
          <a:lstStyle/>
          <a:p>
            <a:pPr indent="0" marL="0">
              <a:buNone/>
            </a:pPr>
            <a:r>
              <a:rPr lang="en-US" sz="1050" dirty="0">
                <a:solidFill>
                  <a:srgbClr val="475569"/>
                </a:solidFill>
                <a:latin typeface="Liberation Sans" pitchFamily="34" charset="0"/>
                <a:ea typeface="Liberation Sans" pitchFamily="34" charset="-122"/>
                <a:cs typeface="Liberation Sans" pitchFamily="34" charset="-120"/>
              </a:rPr>
              <a:t>Preference settings improve usability by allowing each person to tailor how the website looks, behaves, and communicates.</a:t>
            </a:r>
            <a:endParaRPr lang="en-US" sz="1050" dirty="0"/>
          </a:p>
        </p:txBody>
      </p:sp>
      <p:sp>
        <p:nvSpPr>
          <p:cNvPr id="5" name="Shape 3"/>
          <p:cNvSpPr/>
          <p:nvPr/>
        </p:nvSpPr>
        <p:spPr>
          <a:xfrm>
            <a:off x="749808"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6" name="Shape 4"/>
          <p:cNvSpPr/>
          <p:nvPr/>
        </p:nvSpPr>
        <p:spPr>
          <a:xfrm>
            <a:off x="896112"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7" name="Text 5"/>
          <p:cNvSpPr/>
          <p:nvPr/>
        </p:nvSpPr>
        <p:spPr>
          <a:xfrm>
            <a:off x="1005840"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DISPLAY</a:t>
            </a:r>
            <a:endParaRPr lang="en-US" sz="850" dirty="0"/>
          </a:p>
        </p:txBody>
      </p:sp>
      <p:sp>
        <p:nvSpPr>
          <p:cNvPr id="8" name="Text 6"/>
          <p:cNvSpPr/>
          <p:nvPr/>
        </p:nvSpPr>
        <p:spPr>
          <a:xfrm>
            <a:off x="914400"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Theme and layout</a:t>
            </a:r>
            <a:endParaRPr lang="en-US" sz="1400" dirty="0"/>
          </a:p>
        </p:txBody>
      </p:sp>
      <p:sp>
        <p:nvSpPr>
          <p:cNvPr id="9" name="Text 7"/>
          <p:cNvSpPr/>
          <p:nvPr/>
        </p:nvSpPr>
        <p:spPr>
          <a:xfrm>
            <a:off x="914400"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Users can switch light or dark mode, control density, and choose a layout that suits their workflow.</a:t>
            </a:r>
            <a:endParaRPr lang="en-US" sz="950" dirty="0"/>
          </a:p>
        </p:txBody>
      </p:sp>
      <p:sp>
        <p:nvSpPr>
          <p:cNvPr id="10" name="Shape 8"/>
          <p:cNvSpPr/>
          <p:nvPr/>
        </p:nvSpPr>
        <p:spPr>
          <a:xfrm>
            <a:off x="3968496"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1" name="Shape 9"/>
          <p:cNvSpPr/>
          <p:nvPr/>
        </p:nvSpPr>
        <p:spPr>
          <a:xfrm>
            <a:off x="4114800"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12" name="Text 10"/>
          <p:cNvSpPr/>
          <p:nvPr/>
        </p:nvSpPr>
        <p:spPr>
          <a:xfrm>
            <a:off x="4224528"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NOTICES</a:t>
            </a:r>
            <a:endParaRPr lang="en-US" sz="850" dirty="0"/>
          </a:p>
        </p:txBody>
      </p:sp>
      <p:sp>
        <p:nvSpPr>
          <p:cNvPr id="13" name="Text 11"/>
          <p:cNvSpPr/>
          <p:nvPr/>
        </p:nvSpPr>
        <p:spPr>
          <a:xfrm>
            <a:off x="4133088"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Notification preferences</a:t>
            </a:r>
            <a:endParaRPr lang="en-US" sz="1400" dirty="0"/>
          </a:p>
        </p:txBody>
      </p:sp>
      <p:sp>
        <p:nvSpPr>
          <p:cNvPr id="14" name="Text 12"/>
          <p:cNvSpPr/>
          <p:nvPr/>
        </p:nvSpPr>
        <p:spPr>
          <a:xfrm>
            <a:off x="4133088"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Each user can choose which updates arrive in-app, by email, or by SMS.</a:t>
            </a:r>
            <a:endParaRPr lang="en-US" sz="950" dirty="0"/>
          </a:p>
        </p:txBody>
      </p:sp>
      <p:sp>
        <p:nvSpPr>
          <p:cNvPr id="15" name="Shape 13"/>
          <p:cNvSpPr/>
          <p:nvPr/>
        </p:nvSpPr>
        <p:spPr>
          <a:xfrm>
            <a:off x="7187184" y="1463040"/>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16" name="Shape 14"/>
          <p:cNvSpPr/>
          <p:nvPr/>
        </p:nvSpPr>
        <p:spPr>
          <a:xfrm>
            <a:off x="7333488" y="1609344"/>
            <a:ext cx="1417320" cy="310896"/>
          </a:xfrm>
          <a:prstGeom prst="roundRect">
            <a:avLst>
              <a:gd name="adj" fmla="val 23529"/>
            </a:avLst>
          </a:prstGeom>
          <a:solidFill>
            <a:srgbClr val="EAF2FF"/>
          </a:solidFill>
          <a:ln w="12700">
            <a:solidFill>
              <a:srgbClr val="EAF2FF">
                <a:alpha val="0"/>
              </a:srgbClr>
            </a:solidFill>
            <a:prstDash val="solid"/>
          </a:ln>
        </p:spPr>
      </p:sp>
      <p:sp>
        <p:nvSpPr>
          <p:cNvPr id="17" name="Text 15"/>
          <p:cNvSpPr/>
          <p:nvPr/>
        </p:nvSpPr>
        <p:spPr>
          <a:xfrm>
            <a:off x="7443216" y="1659636"/>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LANGUAGE</a:t>
            </a:r>
            <a:endParaRPr lang="en-US" sz="850" dirty="0"/>
          </a:p>
        </p:txBody>
      </p:sp>
      <p:sp>
        <p:nvSpPr>
          <p:cNvPr id="18" name="Text 16"/>
          <p:cNvSpPr/>
          <p:nvPr/>
        </p:nvSpPr>
        <p:spPr>
          <a:xfrm>
            <a:off x="7351776" y="2011680"/>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Language and region</a:t>
            </a:r>
            <a:endParaRPr lang="en-US" sz="1400" dirty="0"/>
          </a:p>
        </p:txBody>
      </p:sp>
      <p:sp>
        <p:nvSpPr>
          <p:cNvPr id="19" name="Text 17"/>
          <p:cNvSpPr/>
          <p:nvPr/>
        </p:nvSpPr>
        <p:spPr>
          <a:xfrm>
            <a:off x="7351776" y="2414016"/>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Language, timezone, and formatting settings help the interface feel local and easier to follow.</a:t>
            </a:r>
            <a:endParaRPr lang="en-US" sz="950" dirty="0"/>
          </a:p>
        </p:txBody>
      </p:sp>
      <p:sp>
        <p:nvSpPr>
          <p:cNvPr id="20" name="Shape 18"/>
          <p:cNvSpPr/>
          <p:nvPr/>
        </p:nvSpPr>
        <p:spPr>
          <a:xfrm>
            <a:off x="749808"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1" name="Shape 19"/>
          <p:cNvSpPr/>
          <p:nvPr/>
        </p:nvSpPr>
        <p:spPr>
          <a:xfrm>
            <a:off x="896112"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22" name="Text 20"/>
          <p:cNvSpPr/>
          <p:nvPr/>
        </p:nvSpPr>
        <p:spPr>
          <a:xfrm>
            <a:off x="1005840"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PRIVACY</a:t>
            </a:r>
            <a:endParaRPr lang="en-US" sz="850" dirty="0"/>
          </a:p>
        </p:txBody>
      </p:sp>
      <p:sp>
        <p:nvSpPr>
          <p:cNvPr id="23" name="Text 21"/>
          <p:cNvSpPr/>
          <p:nvPr/>
        </p:nvSpPr>
        <p:spPr>
          <a:xfrm>
            <a:off x="914400"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Privacy controls</a:t>
            </a:r>
            <a:endParaRPr lang="en-US" sz="1400" dirty="0"/>
          </a:p>
        </p:txBody>
      </p:sp>
      <p:sp>
        <p:nvSpPr>
          <p:cNvPr id="24" name="Text 22"/>
          <p:cNvSpPr/>
          <p:nvPr/>
        </p:nvSpPr>
        <p:spPr>
          <a:xfrm>
            <a:off x="914400"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Users can manage profile visibility, session behavior, and consent-related options.</a:t>
            </a:r>
            <a:endParaRPr lang="en-US" sz="950" dirty="0"/>
          </a:p>
        </p:txBody>
      </p:sp>
      <p:sp>
        <p:nvSpPr>
          <p:cNvPr id="25" name="Shape 23"/>
          <p:cNvSpPr/>
          <p:nvPr/>
        </p:nvSpPr>
        <p:spPr>
          <a:xfrm>
            <a:off x="3968496"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26" name="Shape 24"/>
          <p:cNvSpPr/>
          <p:nvPr/>
        </p:nvSpPr>
        <p:spPr>
          <a:xfrm>
            <a:off x="4114800"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27" name="Text 25"/>
          <p:cNvSpPr/>
          <p:nvPr/>
        </p:nvSpPr>
        <p:spPr>
          <a:xfrm>
            <a:off x="4224528"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AI</a:t>
            </a:r>
            <a:endParaRPr lang="en-US" sz="850" dirty="0"/>
          </a:p>
        </p:txBody>
      </p:sp>
      <p:sp>
        <p:nvSpPr>
          <p:cNvPr id="28" name="Text 26"/>
          <p:cNvSpPr/>
          <p:nvPr/>
        </p:nvSpPr>
        <p:spPr>
          <a:xfrm>
            <a:off x="4133088"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AI assistance settings</a:t>
            </a:r>
            <a:endParaRPr lang="en-US" sz="1400" dirty="0"/>
          </a:p>
        </p:txBody>
      </p:sp>
      <p:sp>
        <p:nvSpPr>
          <p:cNvPr id="29" name="Text 27"/>
          <p:cNvSpPr/>
          <p:nvPr/>
        </p:nvSpPr>
        <p:spPr>
          <a:xfrm>
            <a:off x="4133088"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People should be able to enable, limit, or mute AI suggestions depending on their comfort level.</a:t>
            </a:r>
            <a:endParaRPr lang="en-US" sz="950" dirty="0"/>
          </a:p>
        </p:txBody>
      </p:sp>
      <p:sp>
        <p:nvSpPr>
          <p:cNvPr id="30" name="Shape 28"/>
          <p:cNvSpPr/>
          <p:nvPr/>
        </p:nvSpPr>
        <p:spPr>
          <a:xfrm>
            <a:off x="7187184" y="3858768"/>
            <a:ext cx="2697480" cy="1993392"/>
          </a:xfrm>
          <a:prstGeom prst="roundRect">
            <a:avLst>
              <a:gd name="adj" fmla="val 5505"/>
            </a:avLst>
          </a:prstGeom>
          <a:solidFill>
            <a:srgbClr val="FFFFFF"/>
          </a:solidFill>
          <a:ln w="12700">
            <a:solidFill>
              <a:srgbClr val="C8D8F0"/>
            </a:solidFill>
            <a:prstDash val="solid"/>
          </a:ln>
          <a:effectLst>
            <a:outerShdw sx="100000" sy="100000" kx="0" ky="0" algn="bl" rotWithShape="0" blurRad="25400" dist="12700" dir="2700000">
              <a:srgbClr val="7C93B8">
                <a:alpha val="18000"/>
              </a:srgbClr>
            </a:outerShdw>
          </a:effectLst>
        </p:spPr>
      </p:sp>
      <p:sp>
        <p:nvSpPr>
          <p:cNvPr id="31" name="Shape 29"/>
          <p:cNvSpPr/>
          <p:nvPr/>
        </p:nvSpPr>
        <p:spPr>
          <a:xfrm>
            <a:off x="7333488" y="4005072"/>
            <a:ext cx="1417320" cy="310896"/>
          </a:xfrm>
          <a:prstGeom prst="roundRect">
            <a:avLst>
              <a:gd name="adj" fmla="val 23529"/>
            </a:avLst>
          </a:prstGeom>
          <a:solidFill>
            <a:srgbClr val="EAF2FF"/>
          </a:solidFill>
          <a:ln w="12700">
            <a:solidFill>
              <a:srgbClr val="EAF2FF">
                <a:alpha val="0"/>
              </a:srgbClr>
            </a:solidFill>
            <a:prstDash val="solid"/>
          </a:ln>
        </p:spPr>
      </p:sp>
      <p:sp>
        <p:nvSpPr>
          <p:cNvPr id="32" name="Text 30"/>
          <p:cNvSpPr/>
          <p:nvPr/>
        </p:nvSpPr>
        <p:spPr>
          <a:xfrm>
            <a:off x="7443216" y="4055364"/>
            <a:ext cx="1197864" cy="164592"/>
          </a:xfrm>
          <a:prstGeom prst="rect">
            <a:avLst/>
          </a:prstGeom>
          <a:noFill/>
          <a:ln/>
        </p:spPr>
        <p:txBody>
          <a:bodyPr wrap="square" lIns="0" tIns="0" rIns="0" bIns="0" rtlCol="0" anchor="ctr"/>
          <a:lstStyle/>
          <a:p>
            <a:pPr algn="ctr" indent="0" marL="0">
              <a:buNone/>
            </a:pPr>
            <a:r>
              <a:rPr lang="en-US" sz="850" b="1" dirty="0">
                <a:solidFill>
                  <a:srgbClr val="1E40AF"/>
                </a:solidFill>
                <a:latin typeface="Liberation Mono" pitchFamily="34" charset="0"/>
                <a:ea typeface="Liberation Mono" pitchFamily="34" charset="-122"/>
                <a:cs typeface="Liberation Mono" pitchFamily="34" charset="-120"/>
              </a:rPr>
              <a:t>ACCESS</a:t>
            </a:r>
            <a:endParaRPr lang="en-US" sz="850" dirty="0"/>
          </a:p>
        </p:txBody>
      </p:sp>
      <p:sp>
        <p:nvSpPr>
          <p:cNvPr id="33" name="Text 31"/>
          <p:cNvSpPr/>
          <p:nvPr/>
        </p:nvSpPr>
        <p:spPr>
          <a:xfrm>
            <a:off x="7351776" y="4407408"/>
            <a:ext cx="2368296" cy="384048"/>
          </a:xfrm>
          <a:prstGeom prst="rect">
            <a:avLst/>
          </a:prstGeom>
          <a:noFill/>
          <a:ln/>
        </p:spPr>
        <p:txBody>
          <a:bodyPr wrap="square" lIns="0" tIns="0" rIns="0" bIns="0" rtlCol="0" anchor="ctr"/>
          <a:lstStyle/>
          <a:p>
            <a:pPr indent="0" marL="0">
              <a:buNone/>
            </a:pPr>
            <a:r>
              <a:rPr lang="en-US" sz="1400" b="1" dirty="0">
                <a:solidFill>
                  <a:srgbClr val="13233F"/>
                </a:solidFill>
                <a:latin typeface="Liberation Sans" pitchFamily="34" charset="0"/>
                <a:ea typeface="Liberation Sans" pitchFamily="34" charset="-122"/>
                <a:cs typeface="Liberation Sans" pitchFamily="34" charset="-120"/>
              </a:rPr>
              <a:t>Accessibility options</a:t>
            </a:r>
            <a:endParaRPr lang="en-US" sz="1400" dirty="0"/>
          </a:p>
        </p:txBody>
      </p:sp>
      <p:sp>
        <p:nvSpPr>
          <p:cNvPr id="34" name="Text 32"/>
          <p:cNvSpPr/>
          <p:nvPr/>
        </p:nvSpPr>
        <p:spPr>
          <a:xfrm>
            <a:off x="7351776" y="4809744"/>
            <a:ext cx="2368296" cy="914400"/>
          </a:xfrm>
          <a:prstGeom prst="rect">
            <a:avLst/>
          </a:prstGeom>
          <a:noFill/>
          <a:ln/>
        </p:spPr>
        <p:txBody>
          <a:bodyPr wrap="square" lIns="0" tIns="0" rIns="0" bIns="0" rtlCol="0" anchor="t"/>
          <a:lstStyle/>
          <a:p>
            <a:pPr indent="0" marL="0">
              <a:buNone/>
            </a:pPr>
            <a:r>
              <a:rPr lang="en-US" sz="950" dirty="0">
                <a:solidFill>
                  <a:srgbClr val="475569"/>
                </a:solidFill>
                <a:latin typeface="Liberation Sans" pitchFamily="34" charset="0"/>
                <a:ea typeface="Liberation Sans" pitchFamily="34" charset="-122"/>
                <a:cs typeface="Liberation Sans" pitchFamily="34" charset="-120"/>
              </a:rPr>
              <a:t>Text size, contrast, reduced motion, and keyboard support make the website easier to use.</a:t>
            </a:r>
            <a:endParaRPr lang="en-US" sz="950" dirty="0"/>
          </a:p>
        </p:txBody>
      </p:sp>
      <p:sp>
        <p:nvSpPr>
          <p:cNvPr id="35" name="Shape 33"/>
          <p:cNvSpPr/>
          <p:nvPr/>
        </p:nvSpPr>
        <p:spPr>
          <a:xfrm>
            <a:off x="548640" y="6446520"/>
            <a:ext cx="11064240" cy="0"/>
          </a:xfrm>
          <a:prstGeom prst="line">
            <a:avLst/>
          </a:prstGeom>
          <a:noFill/>
          <a:ln w="12700">
            <a:solidFill>
              <a:srgbClr val="C8D8F0"/>
            </a:solidFill>
            <a:prstDash val="solid"/>
          </a:ln>
        </p:spPr>
      </p:sp>
      <p:sp>
        <p:nvSpPr>
          <p:cNvPr id="36" name="Text 34"/>
          <p:cNvSpPr/>
          <p:nvPr/>
        </p:nvSpPr>
        <p:spPr>
          <a:xfrm>
            <a:off x="548640" y="6473952"/>
            <a:ext cx="2926080" cy="164592"/>
          </a:xfrm>
          <a:prstGeom prst="rect">
            <a:avLst/>
          </a:prstGeom>
          <a:noFill/>
          <a:ln/>
        </p:spPr>
        <p:txBody>
          <a:bodyPr wrap="square" lIns="0" tIns="0" rIns="0" bIns="0" rtlCol="0" anchor="ctr"/>
          <a:lstStyle/>
          <a:p>
            <a:pPr indent="0" marL="0">
              <a:buNone/>
            </a:pPr>
            <a:r>
              <a:rPr lang="en-US" sz="850" dirty="0">
                <a:solidFill>
                  <a:srgbClr val="475569"/>
                </a:solidFill>
                <a:latin typeface="Liberation Mono" pitchFamily="34" charset="0"/>
                <a:ea typeface="Liberation Mono" pitchFamily="34" charset="-122"/>
                <a:cs typeface="Liberation Mono" pitchFamily="34" charset="-120"/>
              </a:rPr>
              <a:t>Swahilipot Management System</a:t>
            </a:r>
            <a:endParaRPr lang="en-US" sz="850" dirty="0"/>
          </a:p>
        </p:txBody>
      </p:sp>
      <p:sp>
        <p:nvSpPr>
          <p:cNvPr id="37" name="Text 35"/>
          <p:cNvSpPr/>
          <p:nvPr/>
        </p:nvSpPr>
        <p:spPr>
          <a:xfrm>
            <a:off x="11155680" y="6437376"/>
            <a:ext cx="411480" cy="182880"/>
          </a:xfrm>
          <a:prstGeom prst="rect">
            <a:avLst/>
          </a:prstGeom>
          <a:noFill/>
          <a:ln/>
        </p:spPr>
        <p:txBody>
          <a:bodyPr wrap="square" lIns="0" tIns="0" rIns="0" bIns="0" rtlCol="0" anchor="ctr"/>
          <a:lstStyle/>
          <a:p>
            <a:pPr algn="r" indent="0" marL="0">
              <a:buNone/>
            </a:pPr>
            <a:r>
              <a:rPr lang="en-US" sz="850" dirty="0">
                <a:solidFill>
                  <a:srgbClr val="475569"/>
                </a:solidFill>
                <a:latin typeface="Liberation Mono" pitchFamily="34" charset="0"/>
                <a:ea typeface="Liberation Mono" pitchFamily="34" charset="-122"/>
                <a:cs typeface="Liberation Mono" pitchFamily="34" charset="-120"/>
              </a:rPr>
              <a:t>13</a:t>
            </a:r>
            <a:endParaRPr lang="en-US" sz="850" dirty="0"/>
          </a:p>
        </p:txBody>
      </p:sp>
      <p:sp>
        <p:nvSpPr>
          <p:cNvPr id="40"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7C93B8">
                <a:alpha val="20000"/>
              </a:srgbClr>
            </a:outerShdw>
          </a:effectLst>
        </p:spPr>
      </p:sp>
      <p:pic>
        <p:nvPicPr>
          <p:cNvPr id="41" name="Swahilipot Logo"/>
          <p:cNvPicPr>
            <a:picLocks noChangeAspect="1"/>
          </p:cNvPicPr>
          <p:nvPr/>
        </p:nvPicPr>
        <p:blipFill>
          <a:blip r:embed="rId2"/>
          <a:stretch>
            <a:fillRect/>
          </a:stretch>
        </p:blipFill>
        <p:spPr>
          <a:xfrm>
            <a:off x="10060320" y="344328"/>
            <a:ext cx="1737360" cy="29326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par>
                          <p:cTn id="101" presetID="10" presetClass="entr" presetSubtype="0" fill="hold" grpId="0" nodeType="clickEffect">
                            <p:stCondLst>
                              <p:cond delay="150"/>
                            </p:stCondLst>
                            <p:childTnLst>
                              <p:set>
                                <p:cBhvr>
                                  <p:cTn id="102" dur="1" fill="hold">
                                    <p:stCondLst>
                                      <p:cond delay="0"/>
                                    </p:stCondLst>
                                  </p:cTn>
                                  <p:tgtEl>
                                    <p:spTgt spid="2"/>
                                  </p:tgtEl>
                                  <p:attrNameLst>
                                    <p:attrName>style.visibility</p:attrName>
                                  </p:attrNameLst>
                                </p:cBhvr>
                                <p:to>
                                  <p:strVal val="visible"/>
                                </p:to>
                              </p:set>
                              <p:anim calcmode="lin" valueType="num">
                                <p:cBhvr>
                                  <p:cTn id="103" dur="500"/>
                                  <p:tgtEl>
                                    <p:spTgt spid="2"/>
                                  </p:tgtEl>
                                  <p:attrNameLst>
                                    <p:attrName>style.opacity</p:attrName>
                                  </p:attrNameLst>
                                </p:cBhvr>
                                <p:tavLst>
                                  <p:tav tm="0">
                                    <p:val>
                                      <p:fltVal val="0"/>
                                    </p:val>
                                  </p:tav>
                                  <p:tav tm="100000">
                                    <p:val>
                                      <p:fltVal val="1"/>
                                    </p:val>
                                  </p:tav>
                                </p:tavLst>
                              </p:anim>
                            </p:childTnLst>
                          </p:cTn>
                        </p:par>
                        <p:par>
                          <p:cTn id="104" presetID="10" presetClass="entr" presetSubtype="0" fill="hold" grpId="0" nodeType="afterEffect">
                            <p:stCondLst>
                              <p:cond delay="300"/>
                            </p:stCondLst>
                            <p:childTnLst>
                              <p:set>
                                <p:cBhvr>
                                  <p:cTn id="105" dur="1" fill="hold">
                                    <p:stCondLst>
                                      <p:cond delay="0"/>
                                    </p:stCondLst>
                                  </p:cTn>
                                  <p:tgtEl>
                                    <p:spTgt spid="3"/>
                                  </p:tgtEl>
                                  <p:attrNameLst>
                                    <p:attrName>style.visibility</p:attrName>
                                  </p:attrNameLst>
                                </p:cBhvr>
                                <p:to>
                                  <p:strVal val="visible"/>
                                </p:to>
                              </p:set>
                              <p:anim calcmode="lin" valueType="num">
                                <p:cBhvr>
                                  <p:cTn id="106" dur="500"/>
                                  <p:tgtEl>
                                    <p:spTgt spid="3"/>
                                  </p:tgtEl>
                                  <p:attrNameLst>
                                    <p:attrName>style.opacity</p:attrName>
                                  </p:attrNameLst>
                                </p:cBhvr>
                                <p:tavLst>
                                  <p:tav tm="0">
                                    <p:val>
                                      <p:fltVal val="0"/>
                                    </p:val>
                                  </p:tav>
                                  <p:tav tm="100000">
                                    <p:val>
                                      <p:fltVal val="1"/>
                                    </p:val>
                                  </p:tav>
                                </p:tavLst>
                              </p:anim>
                            </p:childTnLst>
                          </p:cTn>
                        </p:par>
                        <p:par>
                          <p:cTn id="107" presetID="10" presetClass="entr" presetSubtype="0" fill="hold" grpId="0" nodeType="afterEffect">
                            <p:stCondLst>
                              <p:cond delay="450"/>
                            </p:stCondLst>
                            <p:childTnLst>
                              <p:set>
                                <p:cBhvr>
                                  <p:cTn id="108" dur="1" fill="hold">
                                    <p:stCondLst>
                                      <p:cond delay="0"/>
                                    </p:stCondLst>
                                  </p:cTn>
                                  <p:tgtEl>
                                    <p:spTgt spid="4"/>
                                  </p:tgtEl>
                                  <p:attrNameLst>
                                    <p:attrName>style.visibility</p:attrName>
                                  </p:attrNameLst>
                                </p:cBhvr>
                                <p:to>
                                  <p:strVal val="visible"/>
                                </p:to>
                              </p:set>
                              <p:anim calcmode="lin" valueType="num">
                                <p:cBhvr>
                                  <p:cTn id="109" dur="500"/>
                                  <p:tgtEl>
                                    <p:spTgt spid="4"/>
                                  </p:tgtEl>
                                  <p:attrNameLst>
                                    <p:attrName>style.opacity</p:attrName>
                                  </p:attrNameLst>
                                </p:cBhvr>
                                <p:tavLst>
                                  <p:tav tm="0">
                                    <p:val>
                                      <p:fltVal val="0"/>
                                    </p:val>
                                  </p:tav>
                                  <p:tav tm="100000">
                                    <p:val>
                                      <p:fltVal val="1"/>
                                    </p:val>
                                  </p:tav>
                                </p:tavLst>
                              </p:anim>
                            </p:childTnLst>
                          </p:cTn>
                        </p:par>
                        <p:par>
                          <p:cTn id="110" presetID="10" presetClass="entr" presetSubtype="0" fill="hold" grpId="0" nodeType="afterEffect">
                            <p:stCondLst>
                              <p:cond delay="60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5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5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5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5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500"/>
                                  <p:tgtEl>
                                    <p:spTgt spid="9"/>
                                  </p:tgtEl>
                                  <p:attrNameLst>
                                    <p:attrName>style.opacity</p:attrName>
                                  </p:attrNameLst>
                                </p:cBhvr>
                                <p:tavLst>
                                  <p:tav tm="0">
                                    <p:val>
                                      <p:fltVal val="0"/>
                                    </p:val>
                                  </p:tav>
                                  <p:tav tm="100000">
                                    <p:val>
                                      <p:fltVal val="1"/>
                                    </p:val>
                                  </p:tav>
                                </p:tavLst>
                              </p:anim>
                            </p:childTnLst>
                          </p:cTn>
                        </p:par>
                        <p:par>
                          <p:cTn id="121" presetID="10" presetClass="entr" presetSubtype="0" fill="hold" grpId="0" nodeType="afterEffect">
                            <p:stCondLst>
                              <p:cond delay="750"/>
                            </p:stCondLst>
                            <p:childTnLst>
                              <p:set>
                                <p:cBhvr>
                                  <p:cTn id="122" dur="1" fill="hold">
                                    <p:stCondLst>
                                      <p:cond delay="0"/>
                                    </p:stCondLst>
                                  </p:cTn>
                                  <p:tgtEl>
                                    <p:spTgt spid="10"/>
                                  </p:tgtEl>
                                  <p:attrNameLst>
                                    <p:attrName>style.visibility</p:attrName>
                                  </p:attrNameLst>
                                </p:cBhvr>
                                <p:to>
                                  <p:strVal val="visible"/>
                                </p:to>
                              </p:set>
                              <p:anim calcmode="lin" valueType="num">
                                <p:cBhvr>
                                  <p:cTn id="123" dur="500"/>
                                  <p:tgtEl>
                                    <p:spTgt spid="10"/>
                                  </p:tgtEl>
                                  <p:attrNameLst>
                                    <p:attrName>style.opacity</p:attrName>
                                  </p:attrNameLst>
                                </p:cBhvr>
                                <p:tavLst>
                                  <p:tav tm="0">
                                    <p:val>
                                      <p:fltVal val="0"/>
                                    </p:val>
                                  </p:tav>
                                  <p:tav tm="100000">
                                    <p:val>
                                      <p:fltVal val="1"/>
                                    </p:val>
                                  </p:tav>
                                </p:tavLst>
                              </p:anim>
                              <p:set>
                                <p:cBhvr>
                                  <p:cTn id="124" dur="1" fill="hold">
                                    <p:stCondLst>
                                      <p:cond delay="0"/>
                                    </p:stCondLst>
                                  </p:cTn>
                                  <p:tgtEl>
                                    <p:spTgt spid="11"/>
                                  </p:tgtEl>
                                  <p:attrNameLst>
                                    <p:attrName>style.visibility</p:attrName>
                                  </p:attrNameLst>
                                </p:cBhvr>
                                <p:to>
                                  <p:strVal val="visible"/>
                                </p:to>
                              </p:set>
                              <p:anim calcmode="lin" valueType="num">
                                <p:cBhvr>
                                  <p:cTn id="125" dur="500"/>
                                  <p:tgtEl>
                                    <p:spTgt spid="11"/>
                                  </p:tgtEl>
                                  <p:attrNameLst>
                                    <p:attrName>style.opacity</p:attrName>
                                  </p:attrNameLst>
                                </p:cBhvr>
                                <p:tavLst>
                                  <p:tav tm="0">
                                    <p:val>
                                      <p:fltVal val="0"/>
                                    </p:val>
                                  </p:tav>
                                  <p:tav tm="100000">
                                    <p:val>
                                      <p:fltVal val="1"/>
                                    </p:val>
                                  </p:tav>
                                </p:tavLst>
                              </p:anim>
                              <p:set>
                                <p:cBhvr>
                                  <p:cTn id="126" dur="1" fill="hold">
                                    <p:stCondLst>
                                      <p:cond delay="0"/>
                                    </p:stCondLst>
                                  </p:cTn>
                                  <p:tgtEl>
                                    <p:spTgt spid="12"/>
                                  </p:tgtEl>
                                  <p:attrNameLst>
                                    <p:attrName>style.visibility</p:attrName>
                                  </p:attrNameLst>
                                </p:cBhvr>
                                <p:to>
                                  <p:strVal val="visible"/>
                                </p:to>
                              </p:set>
                              <p:anim calcmode="lin" valueType="num">
                                <p:cBhvr>
                                  <p:cTn id="127" dur="500"/>
                                  <p:tgtEl>
                                    <p:spTgt spid="12"/>
                                  </p:tgtEl>
                                  <p:attrNameLst>
                                    <p:attrName>style.opacity</p:attrName>
                                  </p:attrNameLst>
                                </p:cBhvr>
                                <p:tavLst>
                                  <p:tav tm="0">
                                    <p:val>
                                      <p:fltVal val="0"/>
                                    </p:val>
                                  </p:tav>
                                  <p:tav tm="100000">
                                    <p:val>
                                      <p:fltVal val="1"/>
                                    </p:val>
                                  </p:tav>
                                </p:tavLst>
                              </p:anim>
                              <p:set>
                                <p:cBhvr>
                                  <p:cTn id="128" dur="1" fill="hold">
                                    <p:stCondLst>
                                      <p:cond delay="0"/>
                                    </p:stCondLst>
                                  </p:cTn>
                                  <p:tgtEl>
                                    <p:spTgt spid="13"/>
                                  </p:tgtEl>
                                  <p:attrNameLst>
                                    <p:attrName>style.visibility</p:attrName>
                                  </p:attrNameLst>
                                </p:cBhvr>
                                <p:to>
                                  <p:strVal val="visible"/>
                                </p:to>
                              </p:set>
                              <p:anim calcmode="lin" valueType="num">
                                <p:cBhvr>
                                  <p:cTn id="129" dur="500"/>
                                  <p:tgtEl>
                                    <p:spTgt spid="13"/>
                                  </p:tgtEl>
                                  <p:attrNameLst>
                                    <p:attrName>style.opacity</p:attrName>
                                  </p:attrNameLst>
                                </p:cBhvr>
                                <p:tavLst>
                                  <p:tav tm="0">
                                    <p:val>
                                      <p:fltVal val="0"/>
                                    </p:val>
                                  </p:tav>
                                  <p:tav tm="100000">
                                    <p:val>
                                      <p:fltVal val="1"/>
                                    </p:val>
                                  </p:tav>
                                </p:tavLst>
                              </p:anim>
                              <p:set>
                                <p:cBhvr>
                                  <p:cTn id="130" dur="1" fill="hold">
                                    <p:stCondLst>
                                      <p:cond delay="0"/>
                                    </p:stCondLst>
                                  </p:cTn>
                                  <p:tgtEl>
                                    <p:spTgt spid="14"/>
                                  </p:tgtEl>
                                  <p:attrNameLst>
                                    <p:attrName>style.visibility</p:attrName>
                                  </p:attrNameLst>
                                </p:cBhvr>
                                <p:to>
                                  <p:strVal val="visible"/>
                                </p:to>
                              </p:set>
                              <p:anim calcmode="lin" valueType="num">
                                <p:cBhvr>
                                  <p:cTn id="131" dur="500"/>
                                  <p:tgtEl>
                                    <p:spTgt spid="14"/>
                                  </p:tgtEl>
                                  <p:attrNameLst>
                                    <p:attrName>style.opacity</p:attrName>
                                  </p:attrNameLst>
                                </p:cBhvr>
                                <p:tavLst>
                                  <p:tav tm="0">
                                    <p:val>
                                      <p:fltVal val="0"/>
                                    </p:val>
                                  </p:tav>
                                  <p:tav tm="100000">
                                    <p:val>
                                      <p:fltVal val="1"/>
                                    </p:val>
                                  </p:tav>
                                </p:tavLst>
                              </p:anim>
                            </p:childTnLst>
                          </p:cTn>
                        </p:par>
                        <p:par>
                          <p:cTn id="132" presetID="10" presetClass="entr" presetSubtype="0" fill="hold" grpId="0" nodeType="afterEffect">
                            <p:stCondLst>
                              <p:cond delay="90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p:tgtEl>
                                    <p:spTgt spid="15"/>
                                  </p:tgtEl>
                                  <p:attrNameLst>
                                    <p:attrName>style.opacity</p:attrName>
                                  </p:attrNameLst>
                                </p:cBhvr>
                                <p:tavLst>
                                  <p:tav tm="0">
                                    <p:val>
                                      <p:fltVal val="0"/>
                                    </p:val>
                                  </p:tav>
                                  <p:tav tm="100000">
                                    <p:val>
                                      <p:fltVal val="1"/>
                                    </p:val>
                                  </p:tav>
                                </p:tavLst>
                              </p:anim>
                              <p:set>
                                <p:cBhvr>
                                  <p:cTn id="135" dur="1" fill="hold">
                                    <p:stCondLst>
                                      <p:cond delay="0"/>
                                    </p:stCondLst>
                                  </p:cTn>
                                  <p:tgtEl>
                                    <p:spTgt spid="16"/>
                                  </p:tgtEl>
                                  <p:attrNameLst>
                                    <p:attrName>style.visibility</p:attrName>
                                  </p:attrNameLst>
                                </p:cBhvr>
                                <p:to>
                                  <p:strVal val="visible"/>
                                </p:to>
                              </p:set>
                              <p:anim calcmode="lin" valueType="num">
                                <p:cBhvr>
                                  <p:cTn id="136" dur="500"/>
                                  <p:tgtEl>
                                    <p:spTgt spid="16"/>
                                  </p:tgtEl>
                                  <p:attrNameLst>
                                    <p:attrName>style.opacity</p:attrName>
                                  </p:attrNameLst>
                                </p:cBhvr>
                                <p:tavLst>
                                  <p:tav tm="0">
                                    <p:val>
                                      <p:fltVal val="0"/>
                                    </p:val>
                                  </p:tav>
                                  <p:tav tm="100000">
                                    <p:val>
                                      <p:fltVal val="1"/>
                                    </p:val>
                                  </p:tav>
                                </p:tavLst>
                              </p:anim>
                              <p:set>
                                <p:cBhvr>
                                  <p:cTn id="137" dur="1" fill="hold">
                                    <p:stCondLst>
                                      <p:cond delay="0"/>
                                    </p:stCondLst>
                                  </p:cTn>
                                  <p:tgtEl>
                                    <p:spTgt spid="17"/>
                                  </p:tgtEl>
                                  <p:attrNameLst>
                                    <p:attrName>style.visibility</p:attrName>
                                  </p:attrNameLst>
                                </p:cBhvr>
                                <p:to>
                                  <p:strVal val="visible"/>
                                </p:to>
                              </p:set>
                              <p:anim calcmode="lin" valueType="num">
                                <p:cBhvr>
                                  <p:cTn id="138" dur="500"/>
                                  <p:tgtEl>
                                    <p:spTgt spid="17"/>
                                  </p:tgtEl>
                                  <p:attrNameLst>
                                    <p:attrName>style.opacity</p:attrName>
                                  </p:attrNameLst>
                                </p:cBhvr>
                                <p:tavLst>
                                  <p:tav tm="0">
                                    <p:val>
                                      <p:fltVal val="0"/>
                                    </p:val>
                                  </p:tav>
                                  <p:tav tm="100000">
                                    <p:val>
                                      <p:fltVal val="1"/>
                                    </p:val>
                                  </p:tav>
                                </p:tavLst>
                              </p:anim>
                              <p:set>
                                <p:cBhvr>
                                  <p:cTn id="139" dur="1" fill="hold">
                                    <p:stCondLst>
                                      <p:cond delay="0"/>
                                    </p:stCondLst>
                                  </p:cTn>
                                  <p:tgtEl>
                                    <p:spTgt spid="18"/>
                                  </p:tgtEl>
                                  <p:attrNameLst>
                                    <p:attrName>style.visibility</p:attrName>
                                  </p:attrNameLst>
                                </p:cBhvr>
                                <p:to>
                                  <p:strVal val="visible"/>
                                </p:to>
                              </p:set>
                              <p:anim calcmode="lin" valueType="num">
                                <p:cBhvr>
                                  <p:cTn id="140" dur="500"/>
                                  <p:tgtEl>
                                    <p:spTgt spid="18"/>
                                  </p:tgtEl>
                                  <p:attrNameLst>
                                    <p:attrName>style.opacity</p:attrName>
                                  </p:attrNameLst>
                                </p:cBhvr>
                                <p:tavLst>
                                  <p:tav tm="0">
                                    <p:val>
                                      <p:fltVal val="0"/>
                                    </p:val>
                                  </p:tav>
                                  <p:tav tm="100000">
                                    <p:val>
                                      <p:fltVal val="1"/>
                                    </p:val>
                                  </p:tav>
                                </p:tavLst>
                              </p:anim>
                              <p:set>
                                <p:cBhvr>
                                  <p:cTn id="141" dur="1" fill="hold">
                                    <p:stCondLst>
                                      <p:cond delay="0"/>
                                    </p:stCondLst>
                                  </p:cTn>
                                  <p:tgtEl>
                                    <p:spTgt spid="19"/>
                                  </p:tgtEl>
                                  <p:attrNameLst>
                                    <p:attrName>style.visibility</p:attrName>
                                  </p:attrNameLst>
                                </p:cBhvr>
                                <p:to>
                                  <p:strVal val="visible"/>
                                </p:to>
                              </p:set>
                              <p:anim calcmode="lin" valueType="num">
                                <p:cBhvr>
                                  <p:cTn id="142" dur="500"/>
                                  <p:tgtEl>
                                    <p:spTgt spid="19"/>
                                  </p:tgtEl>
                                  <p:attrNameLst>
                                    <p:attrName>style.opacity</p:attrName>
                                  </p:attrNameLst>
                                </p:cBhvr>
                                <p:tavLst>
                                  <p:tav tm="0">
                                    <p:val>
                                      <p:fltVal val="0"/>
                                    </p:val>
                                  </p:tav>
                                  <p:tav tm="100000">
                                    <p:val>
                                      <p:fltVal val="1"/>
                                    </p:val>
                                  </p:tav>
                                </p:tavLst>
                              </p:anim>
                            </p:childTnLst>
                          </p:cTn>
                        </p:par>
                        <p:par>
                          <p:cTn id="143" presetID="10" presetClass="entr" presetSubtype="0" fill="hold" grpId="0" nodeType="afterEffect">
                            <p:stCondLst>
                              <p:cond delay="1050"/>
                            </p:stCondLst>
                            <p:childTnLst>
                              <p:set>
                                <p:cBhvr>
                                  <p:cTn id="144" dur="1" fill="hold">
                                    <p:stCondLst>
                                      <p:cond delay="0"/>
                                    </p:stCondLst>
                                  </p:cTn>
                                  <p:tgtEl>
                                    <p:spTgt spid="20"/>
                                  </p:tgtEl>
                                  <p:attrNameLst>
                                    <p:attrName>style.visibility</p:attrName>
                                  </p:attrNameLst>
                                </p:cBhvr>
                                <p:to>
                                  <p:strVal val="visible"/>
                                </p:to>
                              </p:set>
                              <p:anim calcmode="lin" valueType="num">
                                <p:cBhvr>
                                  <p:cTn id="145" dur="500"/>
                                  <p:tgtEl>
                                    <p:spTgt spid="20"/>
                                  </p:tgtEl>
                                  <p:attrNameLst>
                                    <p:attrName>style.opacity</p:attrName>
                                  </p:attrNameLst>
                                </p:cBhvr>
                                <p:tavLst>
                                  <p:tav tm="0">
                                    <p:val>
                                      <p:fltVal val="0"/>
                                    </p:val>
                                  </p:tav>
                                  <p:tav tm="100000">
                                    <p:val>
                                      <p:fltVal val="1"/>
                                    </p:val>
                                  </p:tav>
                                </p:tavLst>
                              </p:anim>
                              <p:set>
                                <p:cBhvr>
                                  <p:cTn id="146" dur="1" fill="hold">
                                    <p:stCondLst>
                                      <p:cond delay="0"/>
                                    </p:stCondLst>
                                  </p:cTn>
                                  <p:tgtEl>
                                    <p:spTgt spid="21"/>
                                  </p:tgtEl>
                                  <p:attrNameLst>
                                    <p:attrName>style.visibility</p:attrName>
                                  </p:attrNameLst>
                                </p:cBhvr>
                                <p:to>
                                  <p:strVal val="visible"/>
                                </p:to>
                              </p:set>
                              <p:anim calcmode="lin" valueType="num">
                                <p:cBhvr>
                                  <p:cTn id="147" dur="500"/>
                                  <p:tgtEl>
                                    <p:spTgt spid="21"/>
                                  </p:tgtEl>
                                  <p:attrNameLst>
                                    <p:attrName>style.opacity</p:attrName>
                                  </p:attrNameLst>
                                </p:cBhvr>
                                <p:tavLst>
                                  <p:tav tm="0">
                                    <p:val>
                                      <p:fltVal val="0"/>
                                    </p:val>
                                  </p:tav>
                                  <p:tav tm="100000">
                                    <p:val>
                                      <p:fltVal val="1"/>
                                    </p:val>
                                  </p:tav>
                                </p:tavLst>
                              </p:anim>
                              <p:set>
                                <p:cBhvr>
                                  <p:cTn id="148" dur="1" fill="hold">
                                    <p:stCondLst>
                                      <p:cond delay="0"/>
                                    </p:stCondLst>
                                  </p:cTn>
                                  <p:tgtEl>
                                    <p:spTgt spid="22"/>
                                  </p:tgtEl>
                                  <p:attrNameLst>
                                    <p:attrName>style.visibility</p:attrName>
                                  </p:attrNameLst>
                                </p:cBhvr>
                                <p:to>
                                  <p:strVal val="visible"/>
                                </p:to>
                              </p:set>
                              <p:anim calcmode="lin" valueType="num">
                                <p:cBhvr>
                                  <p:cTn id="149" dur="500"/>
                                  <p:tgtEl>
                                    <p:spTgt spid="22"/>
                                  </p:tgtEl>
                                  <p:attrNameLst>
                                    <p:attrName>style.opacity</p:attrName>
                                  </p:attrNameLst>
                                </p:cBhvr>
                                <p:tavLst>
                                  <p:tav tm="0">
                                    <p:val>
                                      <p:fltVal val="0"/>
                                    </p:val>
                                  </p:tav>
                                  <p:tav tm="100000">
                                    <p:val>
                                      <p:fltVal val="1"/>
                                    </p:val>
                                  </p:tav>
                                </p:tavLst>
                              </p:anim>
                              <p:set>
                                <p:cBhvr>
                                  <p:cTn id="150" dur="1" fill="hold">
                                    <p:stCondLst>
                                      <p:cond delay="0"/>
                                    </p:stCondLst>
                                  </p:cTn>
                                  <p:tgtEl>
                                    <p:spTgt spid="23"/>
                                  </p:tgtEl>
                                  <p:attrNameLst>
                                    <p:attrName>style.visibility</p:attrName>
                                  </p:attrNameLst>
                                </p:cBhvr>
                                <p:to>
                                  <p:strVal val="visible"/>
                                </p:to>
                              </p:set>
                              <p:anim calcmode="lin" valueType="num">
                                <p:cBhvr>
                                  <p:cTn id="151" dur="500"/>
                                  <p:tgtEl>
                                    <p:spTgt spid="23"/>
                                  </p:tgtEl>
                                  <p:attrNameLst>
                                    <p:attrName>style.opacity</p:attrName>
                                  </p:attrNameLst>
                                </p:cBhvr>
                                <p:tavLst>
                                  <p:tav tm="0">
                                    <p:val>
                                      <p:fltVal val="0"/>
                                    </p:val>
                                  </p:tav>
                                  <p:tav tm="100000">
                                    <p:val>
                                      <p:fltVal val="1"/>
                                    </p:val>
                                  </p:tav>
                                </p:tavLst>
                              </p:anim>
                              <p:set>
                                <p:cBhvr>
                                  <p:cTn id="152" dur="1" fill="hold">
                                    <p:stCondLst>
                                      <p:cond delay="0"/>
                                    </p:stCondLst>
                                  </p:cTn>
                                  <p:tgtEl>
                                    <p:spTgt spid="24"/>
                                  </p:tgtEl>
                                  <p:attrNameLst>
                                    <p:attrName>style.visibility</p:attrName>
                                  </p:attrNameLst>
                                </p:cBhvr>
                                <p:to>
                                  <p:strVal val="visible"/>
                                </p:to>
                              </p:set>
                              <p:anim calcmode="lin" valueType="num">
                                <p:cBhvr>
                                  <p:cTn id="153" dur="500"/>
                                  <p:tgtEl>
                                    <p:spTgt spid="24"/>
                                  </p:tgtEl>
                                  <p:attrNameLst>
                                    <p:attrName>style.opacity</p:attrName>
                                  </p:attrNameLst>
                                </p:cBhvr>
                                <p:tavLst>
                                  <p:tav tm="0">
                                    <p:val>
                                      <p:fltVal val="0"/>
                                    </p:val>
                                  </p:tav>
                                  <p:tav tm="100000">
                                    <p:val>
                                      <p:fltVal val="1"/>
                                    </p:val>
                                  </p:tav>
                                </p:tavLst>
                              </p:anim>
                            </p:childTnLst>
                          </p:cTn>
                        </p:par>
                        <p:par>
                          <p:cTn id="154" presetID="10" presetClass="entr" presetSubtype="0" fill="hold" grpId="0" nodeType="afterEffect">
                            <p:stCondLst>
                              <p:cond delay="1200"/>
                            </p:stCondLst>
                            <p:childTnLst>
                              <p:set>
                                <p:cBhvr>
                                  <p:cTn id="155" dur="1" fill="hold">
                                    <p:stCondLst>
                                      <p:cond delay="0"/>
                                    </p:stCondLst>
                                  </p:cTn>
                                  <p:tgtEl>
                                    <p:spTgt spid="25"/>
                                  </p:tgtEl>
                                  <p:attrNameLst>
                                    <p:attrName>style.visibility</p:attrName>
                                  </p:attrNameLst>
                                </p:cBhvr>
                                <p:to>
                                  <p:strVal val="visible"/>
                                </p:to>
                              </p:set>
                              <p:anim calcmode="lin" valueType="num">
                                <p:cBhvr>
                                  <p:cTn id="156" dur="500"/>
                                  <p:tgtEl>
                                    <p:spTgt spid="25"/>
                                  </p:tgtEl>
                                  <p:attrNameLst>
                                    <p:attrName>style.opacity</p:attrName>
                                  </p:attrNameLst>
                                </p:cBhvr>
                                <p:tavLst>
                                  <p:tav tm="0">
                                    <p:val>
                                      <p:fltVal val="0"/>
                                    </p:val>
                                  </p:tav>
                                  <p:tav tm="100000">
                                    <p:val>
                                      <p:fltVal val="1"/>
                                    </p:val>
                                  </p:tav>
                                </p:tavLst>
                              </p:anim>
                              <p:set>
                                <p:cBhvr>
                                  <p:cTn id="157" dur="1" fill="hold">
                                    <p:stCondLst>
                                      <p:cond delay="0"/>
                                    </p:stCondLst>
                                  </p:cTn>
                                  <p:tgtEl>
                                    <p:spTgt spid="26"/>
                                  </p:tgtEl>
                                  <p:attrNameLst>
                                    <p:attrName>style.visibility</p:attrName>
                                  </p:attrNameLst>
                                </p:cBhvr>
                                <p:to>
                                  <p:strVal val="visible"/>
                                </p:to>
                              </p:set>
                              <p:anim calcmode="lin" valueType="num">
                                <p:cBhvr>
                                  <p:cTn id="158" dur="500"/>
                                  <p:tgtEl>
                                    <p:spTgt spid="26"/>
                                  </p:tgtEl>
                                  <p:attrNameLst>
                                    <p:attrName>style.opacity</p:attrName>
                                  </p:attrNameLst>
                                </p:cBhvr>
                                <p:tavLst>
                                  <p:tav tm="0">
                                    <p:val>
                                      <p:fltVal val="0"/>
                                    </p:val>
                                  </p:tav>
                                  <p:tav tm="100000">
                                    <p:val>
                                      <p:fltVal val="1"/>
                                    </p:val>
                                  </p:tav>
                                </p:tavLst>
                              </p:anim>
                              <p:set>
                                <p:cBhvr>
                                  <p:cTn id="159" dur="1" fill="hold">
                                    <p:stCondLst>
                                      <p:cond delay="0"/>
                                    </p:stCondLst>
                                  </p:cTn>
                                  <p:tgtEl>
                                    <p:spTgt spid="27"/>
                                  </p:tgtEl>
                                  <p:attrNameLst>
                                    <p:attrName>style.visibility</p:attrName>
                                  </p:attrNameLst>
                                </p:cBhvr>
                                <p:to>
                                  <p:strVal val="visible"/>
                                </p:to>
                              </p:set>
                              <p:anim calcmode="lin" valueType="num">
                                <p:cBhvr>
                                  <p:cTn id="160" dur="500"/>
                                  <p:tgtEl>
                                    <p:spTgt spid="27"/>
                                  </p:tgtEl>
                                  <p:attrNameLst>
                                    <p:attrName>style.opacity</p:attrName>
                                  </p:attrNameLst>
                                </p:cBhvr>
                                <p:tavLst>
                                  <p:tav tm="0">
                                    <p:val>
                                      <p:fltVal val="0"/>
                                    </p:val>
                                  </p:tav>
                                  <p:tav tm="100000">
                                    <p:val>
                                      <p:fltVal val="1"/>
                                    </p:val>
                                  </p:tav>
                                </p:tavLst>
                              </p:anim>
                              <p:set>
                                <p:cBhvr>
                                  <p:cTn id="161" dur="1" fill="hold">
                                    <p:stCondLst>
                                      <p:cond delay="0"/>
                                    </p:stCondLst>
                                  </p:cTn>
                                  <p:tgtEl>
                                    <p:spTgt spid="28"/>
                                  </p:tgtEl>
                                  <p:attrNameLst>
                                    <p:attrName>style.visibility</p:attrName>
                                  </p:attrNameLst>
                                </p:cBhvr>
                                <p:to>
                                  <p:strVal val="visible"/>
                                </p:to>
                              </p:set>
                              <p:anim calcmode="lin" valueType="num">
                                <p:cBhvr>
                                  <p:cTn id="162" dur="500"/>
                                  <p:tgtEl>
                                    <p:spTgt spid="28"/>
                                  </p:tgtEl>
                                  <p:attrNameLst>
                                    <p:attrName>style.opacity</p:attrName>
                                  </p:attrNameLst>
                                </p:cBhvr>
                                <p:tavLst>
                                  <p:tav tm="0">
                                    <p:val>
                                      <p:fltVal val="0"/>
                                    </p:val>
                                  </p:tav>
                                  <p:tav tm="100000">
                                    <p:val>
                                      <p:fltVal val="1"/>
                                    </p:val>
                                  </p:tav>
                                </p:tavLst>
                              </p:anim>
                              <p:set>
                                <p:cBhvr>
                                  <p:cTn id="163" dur="1" fill="hold">
                                    <p:stCondLst>
                                      <p:cond delay="0"/>
                                    </p:stCondLst>
                                  </p:cTn>
                                  <p:tgtEl>
                                    <p:spTgt spid="29"/>
                                  </p:tgtEl>
                                  <p:attrNameLst>
                                    <p:attrName>style.visibility</p:attrName>
                                  </p:attrNameLst>
                                </p:cBhvr>
                                <p:to>
                                  <p:strVal val="visible"/>
                                </p:to>
                              </p:set>
                              <p:anim calcmode="lin" valueType="num">
                                <p:cBhvr>
                                  <p:cTn id="164" dur="500"/>
                                  <p:tgtEl>
                                    <p:spTgt spid="29"/>
                                  </p:tgtEl>
                                  <p:attrNameLst>
                                    <p:attrName>style.opacity</p:attrName>
                                  </p:attrNameLst>
                                </p:cBhvr>
                                <p:tavLst>
                                  <p:tav tm="0">
                                    <p:val>
                                      <p:fltVal val="0"/>
                                    </p:val>
                                  </p:tav>
                                  <p:tav tm="100000">
                                    <p:val>
                                      <p:fltVal val="1"/>
                                    </p:val>
                                  </p:tav>
                                </p:tavLst>
                              </p:anim>
                            </p:childTnLst>
                          </p:cTn>
                        </p:par>
                        <p:par>
                          <p:cTn id="165" presetID="10" presetClass="entr" presetSubtype="0" fill="hold" grpId="0" nodeType="afterEffect">
                            <p:stCondLst>
                              <p:cond delay="1350"/>
                            </p:stCondLst>
                            <p:childTnLst>
                              <p:set>
                                <p:cBhvr>
                                  <p:cTn id="166" dur="1" fill="hold">
                                    <p:stCondLst>
                                      <p:cond delay="0"/>
                                    </p:stCondLst>
                                  </p:cTn>
                                  <p:tgtEl>
                                    <p:spTgt spid="30"/>
                                  </p:tgtEl>
                                  <p:attrNameLst>
                                    <p:attrName>style.visibility</p:attrName>
                                  </p:attrNameLst>
                                </p:cBhvr>
                                <p:to>
                                  <p:strVal val="visible"/>
                                </p:to>
                              </p:set>
                              <p:anim calcmode="lin" valueType="num">
                                <p:cBhvr>
                                  <p:cTn id="167" dur="500"/>
                                  <p:tgtEl>
                                    <p:spTgt spid="30"/>
                                  </p:tgtEl>
                                  <p:attrNameLst>
                                    <p:attrName>style.opacity</p:attrName>
                                  </p:attrNameLst>
                                </p:cBhvr>
                                <p:tavLst>
                                  <p:tav tm="0">
                                    <p:val>
                                      <p:fltVal val="0"/>
                                    </p:val>
                                  </p:tav>
                                  <p:tav tm="100000">
                                    <p:val>
                                      <p:fltVal val="1"/>
                                    </p:val>
                                  </p:tav>
                                </p:tavLst>
                              </p:anim>
                              <p:set>
                                <p:cBhvr>
                                  <p:cTn id="168" dur="1" fill="hold">
                                    <p:stCondLst>
                                      <p:cond delay="0"/>
                                    </p:stCondLst>
                                  </p:cTn>
                                  <p:tgtEl>
                                    <p:spTgt spid="31"/>
                                  </p:tgtEl>
                                  <p:attrNameLst>
                                    <p:attrName>style.visibility</p:attrName>
                                  </p:attrNameLst>
                                </p:cBhvr>
                                <p:to>
                                  <p:strVal val="visible"/>
                                </p:to>
                              </p:set>
                              <p:anim calcmode="lin" valueType="num">
                                <p:cBhvr>
                                  <p:cTn id="169" dur="500"/>
                                  <p:tgtEl>
                                    <p:spTgt spid="31"/>
                                  </p:tgtEl>
                                  <p:attrNameLst>
                                    <p:attrName>style.opacity</p:attrName>
                                  </p:attrNameLst>
                                </p:cBhvr>
                                <p:tavLst>
                                  <p:tav tm="0">
                                    <p:val>
                                      <p:fltVal val="0"/>
                                    </p:val>
                                  </p:tav>
                                  <p:tav tm="100000">
                                    <p:val>
                                      <p:fltVal val="1"/>
                                    </p:val>
                                  </p:tav>
                                </p:tavLst>
                              </p:anim>
                              <p:set>
                                <p:cBhvr>
                                  <p:cTn id="170" dur="1" fill="hold">
                                    <p:stCondLst>
                                      <p:cond delay="0"/>
                                    </p:stCondLst>
                                  </p:cTn>
                                  <p:tgtEl>
                                    <p:spTgt spid="32"/>
                                  </p:tgtEl>
                                  <p:attrNameLst>
                                    <p:attrName>style.visibility</p:attrName>
                                  </p:attrNameLst>
                                </p:cBhvr>
                                <p:to>
                                  <p:strVal val="visible"/>
                                </p:to>
                              </p:set>
                              <p:anim calcmode="lin" valueType="num">
                                <p:cBhvr>
                                  <p:cTn id="171" dur="500"/>
                                  <p:tgtEl>
                                    <p:spTgt spid="32"/>
                                  </p:tgtEl>
                                  <p:attrNameLst>
                                    <p:attrName>style.opacity</p:attrName>
                                  </p:attrNameLst>
                                </p:cBhvr>
                                <p:tavLst>
                                  <p:tav tm="0">
                                    <p:val>
                                      <p:fltVal val="0"/>
                                    </p:val>
                                  </p:tav>
                                  <p:tav tm="100000">
                                    <p:val>
                                      <p:fltVal val="1"/>
                                    </p:val>
                                  </p:tav>
                                </p:tavLst>
                              </p:anim>
                              <p:set>
                                <p:cBhvr>
                                  <p:cTn id="172" dur="1" fill="hold">
                                    <p:stCondLst>
                                      <p:cond delay="0"/>
                                    </p:stCondLst>
                                  </p:cTn>
                                  <p:tgtEl>
                                    <p:spTgt spid="33"/>
                                  </p:tgtEl>
                                  <p:attrNameLst>
                                    <p:attrName>style.visibility</p:attrName>
                                  </p:attrNameLst>
                                </p:cBhvr>
                                <p:to>
                                  <p:strVal val="visible"/>
                                </p:to>
                              </p:set>
                              <p:anim calcmode="lin" valueType="num">
                                <p:cBhvr>
                                  <p:cTn id="173" dur="500"/>
                                  <p:tgtEl>
                                    <p:spTgt spid="33"/>
                                  </p:tgtEl>
                                  <p:attrNameLst>
                                    <p:attrName>style.opacity</p:attrName>
                                  </p:attrNameLst>
                                </p:cBhvr>
                                <p:tavLst>
                                  <p:tav tm="0">
                                    <p:val>
                                      <p:fltVal val="0"/>
                                    </p:val>
                                  </p:tav>
                                  <p:tav tm="100000">
                                    <p:val>
                                      <p:fltVal val="1"/>
                                    </p:val>
                                  </p:tav>
                                </p:tavLst>
                              </p:anim>
                              <p:set>
                                <p:cBhvr>
                                  <p:cTn id="174" dur="1" fill="hold">
                                    <p:stCondLst>
                                      <p:cond delay="0"/>
                                    </p:stCondLst>
                                  </p:cTn>
                                  <p:tgtEl>
                                    <p:spTgt spid="34"/>
                                  </p:tgtEl>
                                  <p:attrNameLst>
                                    <p:attrName>style.visibility</p:attrName>
                                  </p:attrNameLst>
                                </p:cBhvr>
                                <p:to>
                                  <p:strVal val="visible"/>
                                </p:to>
                              </p:set>
                              <p:anim calcmode="lin" valueType="num">
                                <p:cBhvr>
                                  <p:cTn id="175" dur="500"/>
                                  <p:tgtEl>
                                    <p:spTgt spid="34"/>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name="Opening - Group Circus">
    <p:bg>
      <p:bgPr>
        <a:solidFill>
          <a:srgbClr val="0B1220"/>
        </a:solidFill>
      </p:bgPr>
    </p:bg>
    <p:spTree>
      <p:nvGrpSpPr>
        <p:cNvPr id="1" name=""/>
        <p:cNvGrpSpPr/>
        <p:nvPr/>
      </p:nvGrpSpPr>
      <p:grpSpPr>
        <a:xfrm>
          <a:off x="0" y="0"/>
          <a:ext cx="0" cy="0"/>
          <a:chOff x="0" y="0"/>
          <a:chExt cx="0" cy="0"/>
        </a:xfrm>
      </p:grpSpPr>
      <p:sp>
        <p:nvSpPr>
          <p:cNvPr id="2" name="Spotlight Background"/>
          <p:cNvSpPr/>
          <p:nvPr/>
        </p:nvSpPr>
        <p:spPr>
          <a:xfrm>
            <a:off x="0" y="0"/>
            <a:ext cx="12192000" cy="6858000"/>
          </a:xfrm>
          <a:prstGeom prst="rect">
            <a:avLst/>
          </a:prstGeom>
          <a:gradFill rotWithShape="1">
            <a:gsLst>
              <a:gs pos="0">
                <a:srgbClr val="1E3A6B"/>
              </a:gs>
              <a:gs pos="55000">
                <a:srgbClr val="121C3A"/>
              </a:gs>
              <a:gs pos="100000">
                <a:srgbClr val="070B14"/>
              </a:gs>
            </a:gsLst>
            <a:path path="circle">
              <a:fillToRect l="50000" t="48000" r="50000" b="48000"/>
            </a:path>
          </a:gradFill>
          <a:ln>
            <a:noFill/>
          </a:ln>
        </p:spPr>
      </p:sp>
      <p:sp>
        <p:nvSpPr>
          <p:cNvPr id="3" name="Outer Ring"/>
          <p:cNvSpPr/>
          <p:nvPr/>
        </p:nvSpPr>
        <p:spPr>
          <a:xfrm>
            <a:off x="3352800" y="685800"/>
            <a:ext cx="5486400" cy="5486400"/>
          </a:xfrm>
          <a:prstGeom prst="ellipse">
            <a:avLst/>
          </a:prstGeom>
          <a:noFill/>
          <a:ln w="12700">
            <a:solidFill>
              <a:srgbClr val="F59E0B">
                <a:alpha val="42000"/>
              </a:srgbClr>
            </a:solidFill>
            <a:prstDash val="solid"/>
          </a:ln>
        </p:spPr>
      </p:sp>
      <p:sp>
        <p:nvSpPr>
          <p:cNvPr id="4" name="Inner Ring"/>
          <p:cNvSpPr/>
          <p:nvPr/>
        </p:nvSpPr>
        <p:spPr>
          <a:xfrm>
            <a:off x="4038600" y="1371600"/>
            <a:ext cx="4114800" cy="4114800"/>
          </a:xfrm>
          <a:prstGeom prst="ellipse">
            <a:avLst/>
          </a:prstGeom>
          <a:noFill/>
          <a:ln w="9525">
            <a:solidFill>
              <a:srgbClr val="FFFFFF">
                <a:alpha val="22000"/>
              </a:srgbClr>
            </a:solidFill>
            <a:prstDash val="solid"/>
          </a:ln>
        </p:spPr>
      </p:sp>
      <p:sp>
        <p:nvSpPr>
          <p:cNvPr id="5" name="Sparkle 1"/>
          <p:cNvSpPr/>
          <p:nvPr/>
        </p:nvSpPr>
        <p:spPr>
          <a:xfrm>
            <a:off x="620000" y="1050000"/>
            <a:ext cx="120000" cy="120000"/>
          </a:xfrm>
          <a:prstGeom prst="ellipse">
            <a:avLst/>
          </a:prstGeom>
          <a:solidFill>
            <a:srgbClr val="F59E0B">
              <a:alpha val="85000"/>
            </a:srgbClr>
          </a:solidFill>
          <a:ln>
            <a:noFill/>
          </a:ln>
        </p:spPr>
      </p:sp>
      <p:sp>
        <p:nvSpPr>
          <p:cNvPr id="6" name="Sparkle 2"/>
          <p:cNvSpPr/>
          <p:nvPr/>
        </p:nvSpPr>
        <p:spPr>
          <a:xfrm>
            <a:off x="10650000" y="1450000"/>
            <a:ext cx="150000" cy="150000"/>
          </a:xfrm>
          <a:prstGeom prst="ellipse">
            <a:avLst/>
          </a:prstGeom>
          <a:solidFill>
            <a:srgbClr val="FFFFFF">
              <a:alpha val="75000"/>
            </a:srgbClr>
          </a:solidFill>
          <a:ln>
            <a:noFill/>
          </a:ln>
        </p:spPr>
      </p:sp>
      <p:sp>
        <p:nvSpPr>
          <p:cNvPr id="7" name="Sparkle 3"/>
          <p:cNvSpPr/>
          <p:nvPr/>
        </p:nvSpPr>
        <p:spPr>
          <a:xfrm>
            <a:off x="880000" y="5320000"/>
            <a:ext cx="100000" cy="100000"/>
          </a:xfrm>
          <a:prstGeom prst="ellipse">
            <a:avLst/>
          </a:prstGeom>
          <a:solidFill>
            <a:srgbClr val="FFFFFF">
              <a:alpha val="80000"/>
            </a:srgbClr>
          </a:solidFill>
          <a:ln>
            <a:noFill/>
          </a:ln>
        </p:spPr>
      </p:sp>
      <p:sp>
        <p:nvSpPr>
          <p:cNvPr id="8" name="Sparkle 4"/>
          <p:cNvSpPr/>
          <p:nvPr/>
        </p:nvSpPr>
        <p:spPr>
          <a:xfrm>
            <a:off x="10480000" y="5420000"/>
            <a:ext cx="130000" cy="130000"/>
          </a:xfrm>
          <a:prstGeom prst="ellipse">
            <a:avLst/>
          </a:prstGeom>
          <a:solidFill>
            <a:srgbClr val="F59E0B">
              <a:alpha val="80000"/>
            </a:srgbClr>
          </a:solidFill>
          <a:ln>
            <a:noFill/>
          </a:ln>
        </p:spPr>
      </p:sp>
      <p:sp>
        <p:nvSpPr>
          <p:cNvPr id="9" name="Sparkle 5"/>
          <p:cNvSpPr/>
          <p:nvPr/>
        </p:nvSpPr>
        <p:spPr>
          <a:xfrm>
            <a:off x="430000" y="3370000"/>
            <a:ext cx="90000" cy="90000"/>
          </a:xfrm>
          <a:prstGeom prst="ellipse">
            <a:avLst/>
          </a:prstGeom>
          <a:solidFill>
            <a:srgbClr val="FFFFFF">
              <a:alpha val="70000"/>
            </a:srgbClr>
          </a:solidFill>
          <a:ln>
            <a:noFill/>
          </a:ln>
        </p:spPr>
      </p:sp>
      <p:sp>
        <p:nvSpPr>
          <p:cNvPr id="10" name="Sparkle 6"/>
          <p:cNvSpPr/>
          <p:nvPr/>
        </p:nvSpPr>
        <p:spPr>
          <a:xfrm>
            <a:off x="11280000" y="3370000"/>
            <a:ext cx="110000" cy="110000"/>
          </a:xfrm>
          <a:prstGeom prst="ellipse">
            <a:avLst/>
          </a:prstGeom>
          <a:solidFill>
            <a:srgbClr val="F59E0B">
              <a:alpha val="75000"/>
            </a:srgbClr>
          </a:solidFill>
          <a:ln>
            <a:noFill/>
          </a:ln>
        </p:spPr>
      </p:sp>
      <p:sp>
        <p:nvSpPr>
          <p:cNvPr id="11" name="Kicker Text"/>
          <p:cNvSpPr/>
          <p:nvPr/>
        </p:nvSpPr>
        <p:spPr>
          <a:xfrm>
            <a:off x="1096000" y="1754000"/>
            <a:ext cx="10000000" cy="300000"/>
          </a:xfrm>
          <a:prstGeom prst="rect">
            <a:avLst/>
          </a:prstGeom>
          <a:noFill/>
          <a:ln/>
        </p:spPr>
        <p:txBody>
          <a:bodyPr wrap="square" lIns="0" tIns="0" rIns="0" bIns="0" rtlCol="0" anchor="ctr"/>
          <a:lstStyle/>
          <a:p>
            <a:pPr algn="ctr" indent="0" marL="0">
              <a:buNone/>
            </a:pPr>
            <a:r>
              <a:rPr lang="en-US" sz="1400" b="1" spc="400" dirty="0">
                <a:solidFill>
                  <a:srgbClr val="F59E0B"/>
                </a:solidFill>
                <a:latin typeface="Liberation Sans" pitchFamily="34" charset="0"/>
                <a:ea typeface="Liberation Sans" pitchFamily="34" charset="-122"/>
                <a:cs typeface="Liberation Sans" pitchFamily="34" charset="-120"/>
              </a:rPr>
              <a:t>P R E S E N T S</a:t>
            </a:r>
            <a:endParaRPr lang="en-US" sz="1400" dirty="0"/>
          </a:p>
        </p:txBody>
      </p:sp>
      <p:sp>
        <p:nvSpPr>
          <p:cNvPr id="12" name="Group Text"/>
          <p:cNvSpPr/>
          <p:nvPr/>
        </p:nvSpPr>
        <p:spPr>
          <a:xfrm>
            <a:off x="1096000" y="2134000"/>
            <a:ext cx="10000000" cy="1000000"/>
          </a:xfrm>
          <a:prstGeom prst="rect">
            <a:avLst/>
          </a:prstGeom>
          <a:noFill/>
          <a:ln/>
        </p:spPr>
        <p:txBody>
          <a:bodyPr wrap="square" lIns="0" tIns="0" rIns="0" bIns="0" rtlCol="0" anchor="ctr"/>
          <a:lstStyle/>
          <a:p>
            <a:pPr algn="ctr" indent="0" marL="0">
              <a:buNone/>
            </a:pPr>
            <a:r>
              <a:rPr lang="en-US" sz="6000" b="1" spc="300" dirty="0">
                <a:solidFill>
                  <a:srgbClr val="FFFFFF"/>
                </a:solidFill>
                <a:latin typeface="Liberation Sans" pitchFamily="34" charset="0"/>
                <a:ea typeface="Liberation Sans" pitchFamily="34" charset="-122"/>
                <a:cs typeface="Liberation Sans" pitchFamily="34" charset="-120"/>
              </a:rPr>
              <a:t>GROUP</a:t>
            </a:r>
            <a:endParaRPr lang="en-US" sz="6000" dirty="0"/>
          </a:p>
        </p:txBody>
      </p:sp>
      <p:sp>
        <p:nvSpPr>
          <p:cNvPr id="13" name="Circus Text"/>
          <p:cNvSpPr/>
          <p:nvPr/>
        </p:nvSpPr>
        <p:spPr>
          <a:xfrm>
            <a:off x="1096000" y="3154000"/>
            <a:ext cx="10000000" cy="1500000"/>
          </a:xfrm>
          <a:prstGeom prst="rect">
            <a:avLst/>
          </a:prstGeom>
          <a:noFill/>
          <a:ln/>
        </p:spPr>
        <p:txBody>
          <a:bodyPr wrap="square" lIns="0" tIns="0" rIns="0" bIns="0" rtlCol="0" anchor="ctr"/>
          <a:lstStyle/>
          <a:p>
            <a:pPr algn="ctr" indent="0" marL="0">
              <a:buNone/>
            </a:pPr>
            <a:r>
              <a:rPr lang="en-US" sz="9600" b="1" spc="200" dirty="0">
                <a:solidFill>
                  <a:srgbClr val="F59E0B"/>
                </a:solidFill>
                <a:latin typeface="Liberation Sans" pitchFamily="34" charset="0"/>
                <a:ea typeface="Liberation Sans" pitchFamily="34" charset="-122"/>
                <a:cs typeface="Liberation Sans" pitchFamily="34" charset="-120"/>
              </a:rPr>
              <a:t>CIRCUS</a:t>
            </a:r>
            <a:endParaRPr lang="en-US" sz="9600" dirty="0"/>
          </a:p>
        </p:txBody>
      </p:sp>
      <p:sp>
        <p:nvSpPr>
          <p:cNvPr id="14" name="Tagline Text"/>
          <p:cNvSpPr/>
          <p:nvPr/>
        </p:nvSpPr>
        <p:spPr>
          <a:xfrm>
            <a:off x="1096000" y="4804000"/>
            <a:ext cx="10000000" cy="300000"/>
          </a:xfrm>
          <a:prstGeom prst="rect">
            <a:avLst/>
          </a:prstGeom>
          <a:noFill/>
          <a:ln/>
        </p:spPr>
        <p:txBody>
          <a:bodyPr wrap="square" lIns="0" tIns="0" rIns="0" bIns="0" rtlCol="0" anchor="ctr"/>
          <a:lstStyle/>
          <a:p>
            <a:pPr algn="ctr" indent="0" marL="0">
              <a:buNone/>
            </a:pPr>
            <a:r>
              <a:rPr lang="en-US" sz="1400" dirty="0">
                <a:solidFill>
                  <a:srgbClr val="D6E8FF"/>
                </a:solidFill>
                <a:latin typeface="Liberation Sans" pitchFamily="34" charset="0"/>
                <a:ea typeface="Liberation Sans" pitchFamily="34" charset="-122"/>
                <a:cs typeface="Liberation Sans" pitchFamily="34" charset="-120"/>
              </a:rPr>
              <a:t>Swahilipot Management System — Enhancement Documentation</a:t>
            </a:r>
            <a:endParaRPr lang="en-US" sz="1400" dirty="0"/>
          </a:p>
        </p:txBody>
      </p:sp>
      <p:sp>
        <p:nvSpPr>
          <p:cNvPr id="15" name="Logo Badge"/>
          <p:cNvSpPr/>
          <p:nvPr/>
        </p:nvSpPr>
        <p:spPr>
          <a:xfrm>
            <a:off x="9940320" y="274320"/>
            <a:ext cx="1977360" cy="433270"/>
          </a:xfrm>
          <a:prstGeom prst="roundRect">
            <a:avLst>
              <a:gd name="adj" fmla="val 20000"/>
            </a:avLst>
          </a:prstGeom>
          <a:solidFill>
            <a:srgbClr val="FFFFFF"/>
          </a:solidFill>
          <a:ln w="9525">
            <a:solidFill>
              <a:srgbClr val="C8D8F0"/>
            </a:solidFill>
            <a:prstDash val="solid"/>
          </a:ln>
          <a:effectLst>
            <a:outerShdw sx="100000" sy="100000" kx="0" ky="0" algn="bl" rotWithShape="0" blurRad="25400" dist="12700" dir="2700000">
              <a:srgbClr val="000000">
                <a:alpha val="35000"/>
              </a:srgbClr>
            </a:outerShdw>
          </a:effectLst>
        </p:spPr>
      </p:sp>
      <p:pic>
        <p:nvPicPr>
          <p:cNvPr id="16" name="Swahilipot Logo"/>
          <p:cNvPicPr>
            <a:picLocks noChangeAspect="1"/>
          </p:cNvPicPr>
          <p:nvPr/>
        </p:nvPicPr>
        <p:blipFill>
          <a:blip r:embed="rId2"/>
          <a:stretch>
            <a:fillRect/>
          </a:stretch>
        </p:blipFill>
        <p:spPr>
          <a:xfrm>
            <a:off x="10060320" y="344328"/>
            <a:ext cx="1737360" cy="29326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0"/>
                      </p:stCondLst>
                      <p:childTnLst>
                        <p:par>
                          <p:cTn id="100" presetID="5" presetClass="entr" presetSubtype="0" fill="hold" grpId="0" nodeType="clickEffect">
                            <p:stCondLst>
                              <p:cond delay="0"/>
                            </p:stCondLst>
                            <p:childTnLst>
                              <p:set>
                                <p:cBhvr>
                                  <p:cTn id="101" dur="1" fill="hold">
                                    <p:stCondLst>
                                      <p:cond delay="0"/>
                                    </p:stCondLst>
                                  </p:cTn>
                                  <p:tgtEl>
                                    <p:spTgt spid="3"/>
                                  </p:tgtEl>
                                  <p:attrNameLst>
                                    <p:attrName>style.visibility</p:attrName>
                                  </p:attrNameLst>
                                </p:cBhvr>
                                <p:to>
                                  <p:strVal val="visible"/>
                                </p:to>
                              </p:set>
                              <p:anim calcmode="lin" valueType="num">
                                <p:cBhvr>
                                  <p:cTn id="102" dur="900"/>
                                  <p:tgtEl>
                                    <p:spTgt spid="3"/>
                                  </p:tgtEl>
                                  <p:attrNameLst>
                                    <p:attrName>style.opacity</p:attrName>
                                  </p:attrNameLst>
                                </p:cBhvr>
                                <p:tavLst>
                                  <p:tav tm="0">
                                    <p:val>
                                      <p:fltVal val="0"/>
                                    </p:val>
                                  </p:tav>
                                  <p:tav tm="100000">
                                    <p:val>
                                      <p:fltVal val="1"/>
                                    </p:val>
                                  </p:tav>
                                </p:tavLst>
                              </p:anim>
                              <p:animScale>
                                <p:cBhvr>
                                  <p:cTn id="103" dur="900"/>
                                  <p:tgtEl>
                                    <p:spTgt spid="3"/>
                                  </p:tgtEl>
                                </p:cBhvr>
                                <p:from x="40000" y="40000"/>
                                <p:to x="100000" y="100000"/>
                              </p:animScale>
                              <p:set>
                                <p:cBhvr>
                                  <p:cTn id="104" dur="1" fill="hold">
                                    <p:stCondLst>
                                      <p:cond delay="0"/>
                                    </p:stCondLst>
                                  </p:cTn>
                                  <p:tgtEl>
                                    <p:spTgt spid="4"/>
                                  </p:tgtEl>
                                  <p:attrNameLst>
                                    <p:attrName>style.visibility</p:attrName>
                                  </p:attrNameLst>
                                </p:cBhvr>
                                <p:to>
                                  <p:strVal val="visible"/>
                                </p:to>
                              </p:set>
                              <p:anim calcmode="lin" valueType="num">
                                <p:cBhvr>
                                  <p:cTn id="105" dur="900"/>
                                  <p:tgtEl>
                                    <p:spTgt spid="4"/>
                                  </p:tgtEl>
                                  <p:attrNameLst>
                                    <p:attrName>style.opacity</p:attrName>
                                  </p:attrNameLst>
                                </p:cBhvr>
                                <p:tavLst>
                                  <p:tav tm="0">
                                    <p:val>
                                      <p:fltVal val="0"/>
                                    </p:val>
                                  </p:tav>
                                  <p:tav tm="100000">
                                    <p:val>
                                      <p:fltVal val="1"/>
                                    </p:val>
                                  </p:tav>
                                </p:tavLst>
                              </p:anim>
                              <p:animScale>
                                <p:cBhvr>
                                  <p:cTn id="106" dur="900"/>
                                  <p:tgtEl>
                                    <p:spTgt spid="4"/>
                                  </p:tgtEl>
                                </p:cBhvr>
                                <p:from x="40000" y="40000"/>
                                <p:to x="100000" y="100000"/>
                              </p:animScale>
                            </p:childTnLst>
                          </p:cTn>
                        </p:par>
                        <p:par>
                          <p:cTn id="110" presetID="10" presetClass="entr" presetSubtype="0" fill="hold" grpId="0" nodeType="afterEffect">
                            <p:stCondLst>
                              <p:cond delay="250"/>
                            </p:stCondLst>
                            <p:childTnLst>
                              <p:set>
                                <p:cBhvr>
                                  <p:cTn id="111" dur="1" fill="hold">
                                    <p:stCondLst>
                                      <p:cond delay="0"/>
                                    </p:stCondLst>
                                  </p:cTn>
                                  <p:tgtEl>
                                    <p:spTgt spid="5"/>
                                  </p:tgtEl>
                                  <p:attrNameLst>
                                    <p:attrName>style.visibility</p:attrName>
                                  </p:attrNameLst>
                                </p:cBhvr>
                                <p:to>
                                  <p:strVal val="visible"/>
                                </p:to>
                              </p:set>
                              <p:anim calcmode="lin" valueType="num">
                                <p:cBhvr>
                                  <p:cTn id="112" dur="1000"/>
                                  <p:tgtEl>
                                    <p:spTgt spid="5"/>
                                  </p:tgtEl>
                                  <p:attrNameLst>
                                    <p:attrName>style.opacity</p:attrName>
                                  </p:attrNameLst>
                                </p:cBhvr>
                                <p:tavLst>
                                  <p:tav tm="0">
                                    <p:val>
                                      <p:fltVal val="0"/>
                                    </p:val>
                                  </p:tav>
                                  <p:tav tm="100000">
                                    <p:val>
                                      <p:fltVal val="1"/>
                                    </p:val>
                                  </p:tav>
                                </p:tavLst>
                              </p:anim>
                              <p:set>
                                <p:cBhvr>
                                  <p:cTn id="113" dur="1" fill="hold">
                                    <p:stCondLst>
                                      <p:cond delay="0"/>
                                    </p:stCondLst>
                                  </p:cTn>
                                  <p:tgtEl>
                                    <p:spTgt spid="6"/>
                                  </p:tgtEl>
                                  <p:attrNameLst>
                                    <p:attrName>style.visibility</p:attrName>
                                  </p:attrNameLst>
                                </p:cBhvr>
                                <p:to>
                                  <p:strVal val="visible"/>
                                </p:to>
                              </p:set>
                              <p:anim calcmode="lin" valueType="num">
                                <p:cBhvr>
                                  <p:cTn id="114" dur="1000"/>
                                  <p:tgtEl>
                                    <p:spTgt spid="6"/>
                                  </p:tgtEl>
                                  <p:attrNameLst>
                                    <p:attrName>style.opacity</p:attrName>
                                  </p:attrNameLst>
                                </p:cBhvr>
                                <p:tavLst>
                                  <p:tav tm="0">
                                    <p:val>
                                      <p:fltVal val="0"/>
                                    </p:val>
                                  </p:tav>
                                  <p:tav tm="100000">
                                    <p:val>
                                      <p:fltVal val="1"/>
                                    </p:val>
                                  </p:tav>
                                </p:tavLst>
                              </p:anim>
                              <p:set>
                                <p:cBhvr>
                                  <p:cTn id="115" dur="1" fill="hold">
                                    <p:stCondLst>
                                      <p:cond delay="0"/>
                                    </p:stCondLst>
                                  </p:cTn>
                                  <p:tgtEl>
                                    <p:spTgt spid="7"/>
                                  </p:tgtEl>
                                  <p:attrNameLst>
                                    <p:attrName>style.visibility</p:attrName>
                                  </p:attrNameLst>
                                </p:cBhvr>
                                <p:to>
                                  <p:strVal val="visible"/>
                                </p:to>
                              </p:set>
                              <p:anim calcmode="lin" valueType="num">
                                <p:cBhvr>
                                  <p:cTn id="116" dur="1000"/>
                                  <p:tgtEl>
                                    <p:spTgt spid="7"/>
                                  </p:tgtEl>
                                  <p:attrNameLst>
                                    <p:attrName>style.opacity</p:attrName>
                                  </p:attrNameLst>
                                </p:cBhvr>
                                <p:tavLst>
                                  <p:tav tm="0">
                                    <p:val>
                                      <p:fltVal val="0"/>
                                    </p:val>
                                  </p:tav>
                                  <p:tav tm="100000">
                                    <p:val>
                                      <p:fltVal val="1"/>
                                    </p:val>
                                  </p:tav>
                                </p:tavLst>
                              </p:anim>
                              <p:set>
                                <p:cBhvr>
                                  <p:cTn id="117" dur="1" fill="hold">
                                    <p:stCondLst>
                                      <p:cond delay="0"/>
                                    </p:stCondLst>
                                  </p:cTn>
                                  <p:tgtEl>
                                    <p:spTgt spid="8"/>
                                  </p:tgtEl>
                                  <p:attrNameLst>
                                    <p:attrName>style.visibility</p:attrName>
                                  </p:attrNameLst>
                                </p:cBhvr>
                                <p:to>
                                  <p:strVal val="visible"/>
                                </p:to>
                              </p:set>
                              <p:anim calcmode="lin" valueType="num">
                                <p:cBhvr>
                                  <p:cTn id="118" dur="1000"/>
                                  <p:tgtEl>
                                    <p:spTgt spid="8"/>
                                  </p:tgtEl>
                                  <p:attrNameLst>
                                    <p:attrName>style.opacity</p:attrName>
                                  </p:attrNameLst>
                                </p:cBhvr>
                                <p:tavLst>
                                  <p:tav tm="0">
                                    <p:val>
                                      <p:fltVal val="0"/>
                                    </p:val>
                                  </p:tav>
                                  <p:tav tm="100000">
                                    <p:val>
                                      <p:fltVal val="1"/>
                                    </p:val>
                                  </p:tav>
                                </p:tavLst>
                              </p:anim>
                              <p:set>
                                <p:cBhvr>
                                  <p:cTn id="119" dur="1" fill="hold">
                                    <p:stCondLst>
                                      <p:cond delay="0"/>
                                    </p:stCondLst>
                                  </p:cTn>
                                  <p:tgtEl>
                                    <p:spTgt spid="9"/>
                                  </p:tgtEl>
                                  <p:attrNameLst>
                                    <p:attrName>style.visibility</p:attrName>
                                  </p:attrNameLst>
                                </p:cBhvr>
                                <p:to>
                                  <p:strVal val="visible"/>
                                </p:to>
                              </p:set>
                              <p:anim calcmode="lin" valueType="num">
                                <p:cBhvr>
                                  <p:cTn id="120" dur="1000"/>
                                  <p:tgtEl>
                                    <p:spTgt spid="9"/>
                                  </p:tgtEl>
                                  <p:attrNameLst>
                                    <p:attrName>style.opacity</p:attrName>
                                  </p:attrNameLst>
                                </p:cBhvr>
                                <p:tavLst>
                                  <p:tav tm="0">
                                    <p:val>
                                      <p:fltVal val="0"/>
                                    </p:val>
                                  </p:tav>
                                  <p:tav tm="100000">
                                    <p:val>
                                      <p:fltVal val="1"/>
                                    </p:val>
                                  </p:tav>
                                </p:tavLst>
                              </p:anim>
                              <p:set>
                                <p:cBhvr>
                                  <p:cTn id="121" dur="1" fill="hold">
                                    <p:stCondLst>
                                      <p:cond delay="0"/>
                                    </p:stCondLst>
                                  </p:cTn>
                                  <p:tgtEl>
                                    <p:spTgt spid="10"/>
                                  </p:tgtEl>
                                  <p:attrNameLst>
                                    <p:attrName>style.visibility</p:attrName>
                                  </p:attrNameLst>
                                </p:cBhvr>
                                <p:to>
                                  <p:strVal val="visible"/>
                                </p:to>
                              </p:set>
                              <p:anim calcmode="lin" valueType="num">
                                <p:cBhvr>
                                  <p:cTn id="122" dur="1000"/>
                                  <p:tgtEl>
                                    <p:spTgt spid="10"/>
                                  </p:tgtEl>
                                  <p:attrNameLst>
                                    <p:attrName>style.opacity</p:attrName>
                                  </p:attrNameLst>
                                </p:cBhvr>
                                <p:tavLst>
                                  <p:tav tm="0">
                                    <p:val>
                                      <p:fltVal val="0"/>
                                    </p:val>
                                  </p:tav>
                                  <p:tav tm="100000">
                                    <p:val>
                                      <p:fltVal val="1"/>
                                    </p:val>
                                  </p:tav>
                                </p:tavLst>
                              </p:anim>
                            </p:childTnLst>
                          </p:cTn>
                        </p:par>
                        <p:par>
                          <p:cTn id="130" presetID="10" presetClass="entr" presetSubtype="0" fill="hold" grpId="0" nodeType="afterEffect">
                            <p:stCondLst>
                              <p:cond delay="700"/>
                            </p:stCondLst>
                            <p:childTnLst>
                              <p:set>
                                <p:cBhvr>
                                  <p:cTn id="131" dur="1" fill="hold">
                                    <p:stCondLst>
                                      <p:cond delay="0"/>
                                    </p:stCondLst>
                                  </p:cTn>
                                  <p:tgtEl>
                                    <p:spTgt spid="11"/>
                                  </p:tgtEl>
                                  <p:attrNameLst>
                                    <p:attrName>style.visibility</p:attrName>
                                  </p:attrNameLst>
                                </p:cBhvr>
                                <p:to>
                                  <p:strVal val="visible"/>
                                </p:to>
                              </p:set>
                              <p:anim calcmode="lin" valueType="num">
                                <p:cBhvr>
                                  <p:cTn id="132" dur="500"/>
                                  <p:tgtEl>
                                    <p:spTgt spid="11"/>
                                  </p:tgtEl>
                                  <p:attrNameLst>
                                    <p:attrName>style.opacity</p:attrName>
                                  </p:attrNameLst>
                                </p:cBhvr>
                                <p:tavLst>
                                  <p:tav tm="0">
                                    <p:val>
                                      <p:fltVal val="0"/>
                                    </p:val>
                                  </p:tav>
                                  <p:tav tm="100000">
                                    <p:val>
                                      <p:fltVal val="1"/>
                                    </p:val>
                                  </p:tav>
                                </p:tavLst>
                              </p:anim>
                            </p:childTnLst>
                          </p:cTn>
                        </p:par>
                        <p:par>
                          <p:cTn id="140" presetID="5" presetClass="entr" presetSubtype="0" fill="hold" grpId="0" nodeType="afterEffect">
                            <p:stCondLst>
                              <p:cond delay="1000"/>
                            </p:stCondLst>
                            <p:childTnLst>
                              <p:set>
                                <p:cBhvr>
                                  <p:cTn id="141" dur="1" fill="hold">
                                    <p:stCondLst>
                                      <p:cond delay="0"/>
                                    </p:stCondLst>
                                  </p:cTn>
                                  <p:tgtEl>
                                    <p:spTgt spid="12"/>
                                  </p:tgtEl>
                                  <p:attrNameLst>
                                    <p:attrName>style.visibility</p:attrName>
                                  </p:attrNameLst>
                                </p:cBhvr>
                                <p:to>
                                  <p:strVal val="visible"/>
                                </p:to>
                              </p:set>
                              <p:anim calcmode="lin" valueType="num">
                                <p:cBhvr>
                                  <p:cTn id="142" dur="600"/>
                                  <p:tgtEl>
                                    <p:spTgt spid="12"/>
                                  </p:tgtEl>
                                  <p:attrNameLst>
                                    <p:attrName>style.opacity</p:attrName>
                                  </p:attrNameLst>
                                </p:cBhvr>
                                <p:tavLst>
                                  <p:tav tm="0">
                                    <p:val>
                                      <p:fltVal val="0"/>
                                    </p:val>
                                  </p:tav>
                                  <p:tav tm="100000">
                                    <p:val>
                                      <p:fltVal val="1"/>
                                    </p:val>
                                  </p:tav>
                                </p:tavLst>
                              </p:anim>
                              <p:animScale>
                                <p:cBhvr>
                                  <p:cTn id="143" dur="600"/>
                                  <p:tgtEl>
                                    <p:spTgt spid="12"/>
                                  </p:tgtEl>
                                </p:cBhvr>
                                <p:from x="70000" y="70000"/>
                                <p:to x="100000" y="100000"/>
                              </p:animScale>
                            </p:childTnLst>
                          </p:cTn>
                        </p:par>
                        <p:par>
                          <p:cTn id="150" presetID="5" presetClass="entr" presetSubtype="0" fill="hold" grpId="0" nodeType="afterEffect">
                            <p:stCondLst>
                              <p:cond delay="1400"/>
                            </p:stCondLst>
                            <p:childTnLst>
                              <p:set>
                                <p:cBhvr>
                                  <p:cTn id="151" dur="1" fill="hold">
                                    <p:stCondLst>
                                      <p:cond delay="0"/>
                                    </p:stCondLst>
                                  </p:cTn>
                                  <p:tgtEl>
                                    <p:spTgt spid="13"/>
                                  </p:tgtEl>
                                  <p:attrNameLst>
                                    <p:attrName>style.visibility</p:attrName>
                                  </p:attrNameLst>
                                </p:cBhvr>
                                <p:to>
                                  <p:strVal val="visible"/>
                                </p:to>
                              </p:set>
                              <p:anim calcmode="lin" valueType="num">
                                <p:cBhvr>
                                  <p:cTn id="152" dur="700"/>
                                  <p:tgtEl>
                                    <p:spTgt spid="13"/>
                                  </p:tgtEl>
                                  <p:attrNameLst>
                                    <p:attrName>style.opacity</p:attrName>
                                  </p:attrNameLst>
                                </p:cBhvr>
                                <p:tavLst>
                                  <p:tav tm="0">
                                    <p:val>
                                      <p:fltVal val="0"/>
                                    </p:val>
                                  </p:tav>
                                  <p:tav tm="100000">
                                    <p:val>
                                      <p:fltVal val="1"/>
                                    </p:val>
                                  </p:tav>
                                </p:tavLst>
                              </p:anim>
                              <p:animScale>
                                <p:cBhvr>
                                  <p:cTn id="153" dur="700"/>
                                  <p:tgtEl>
                                    <p:spTgt spid="13"/>
                                  </p:tgtEl>
                                </p:cBhvr>
                                <p:from x="60000" y="60000"/>
                                <p:to x="100000" y="100000"/>
                              </p:animScale>
                            </p:childTnLst>
                          </p:cTn>
                        </p:par>
                        <p:par>
                          <p:cTn id="160" presetID="10" presetClass="entr" presetSubtype="0" fill="hold" grpId="0" nodeType="afterEffect">
                            <p:stCondLst>
                              <p:cond delay="2200"/>
                            </p:stCondLst>
                            <p:childTnLst>
                              <p:set>
                                <p:cBhvr>
                                  <p:cTn id="161" dur="1" fill="hold">
                                    <p:stCondLst>
                                      <p:cond delay="0"/>
                                    </p:stCondLst>
                                  </p:cTn>
                                  <p:tgtEl>
                                    <p:spTgt spid="14"/>
                                  </p:tgtEl>
                                  <p:attrNameLst>
                                    <p:attrName>style.visibility</p:attrName>
                                  </p:attrNameLst>
                                </p:cBhvr>
                                <p:to>
                                  <p:strVal val="visible"/>
                                </p:to>
                              </p:set>
                              <p:anim calcmode="lin" valueType="num">
                                <p:cBhvr>
                                  <p:cTn id="162" dur="600"/>
                                  <p:tgtEl>
                                    <p:spTgt spid="14"/>
                                  </p:tgtEl>
                                  <p:attrNameLst>
                                    <p:attrName>style.opacity</p:attrName>
                                  </p:attrNameLst>
                                </p:cBhvr>
                                <p:tavLst>
                                  <p:tav tm="0">
                                    <p:val>
                                      <p:fltVal val="0"/>
                                    </p:val>
                                  </p:tav>
                                  <p:tav tm="100000">
                                    <p:val>
                                      <p:fltVal val="1"/>
                                    </p:val>
                                  </p:tav>
                                </p:tavLst>
                              </p:anim>
                            </p:childTnLst>
                          </p:cTn>
                        </p:par>
                        <p:par>
                          <p:cTn id="170" presetID="10" presetClass="entr" presetSubtype="0" fill="hold" grpId="0" nodeType="afterEffect">
                            <p:stCondLst>
                              <p:cond delay="2900"/>
                            </p:stCondLst>
                            <p:childTnLst>
                              <p:set>
                                <p:cBhvr>
                                  <p:cTn id="171" dur="1" fill="hold">
                                    <p:stCondLst>
                                      <p:cond delay="0"/>
                                    </p:stCondLst>
                                  </p:cTn>
                                  <p:tgtEl>
                                    <p:spTgt spid="15"/>
                                  </p:tgtEl>
                                  <p:attrNameLst>
                                    <p:attrName>style.visibility</p:attrName>
                                  </p:attrNameLst>
                                </p:cBhvr>
                                <p:to>
                                  <p:strVal val="visible"/>
                                </p:to>
                              </p:set>
                              <p:anim calcmode="lin" valueType="num">
                                <p:cBhvr>
                                  <p:cTn id="172" dur="500"/>
                                  <p:tgtEl>
                                    <p:spTgt spid="15"/>
                                  </p:tgtEl>
                                  <p:attrNameLst>
                                    <p:attrName>style.opacity</p:attrName>
                                  </p:attrNameLst>
                                </p:cBhvr>
                                <p:tavLst>
                                  <p:tav tm="0">
                                    <p:val>
                                      <p:fltVal val="0"/>
                                    </p:val>
                                  </p:tav>
                                  <p:tav tm="100000">
                                    <p:val>
                                      <p:fltVal val="1"/>
                                    </p:val>
                                  </p:tav>
                                </p:tavLst>
                              </p:anim>
                              <p:set>
                                <p:cBhvr>
                                  <p:cTn id="173" dur="1" fill="hold">
                                    <p:stCondLst>
                                      <p:cond delay="0"/>
                                    </p:stCondLst>
                                  </p:cTn>
                                  <p:tgtEl>
                                    <p:spTgt spid="16"/>
                                  </p:tgtEl>
                                  <p:attrNameLst>
                                    <p:attrName>style.visibility</p:attrName>
                                  </p:attrNameLst>
                                </p:cBhvr>
                                <p:to>
                                  <p:strVal val="visible"/>
                                </p:to>
                              </p:set>
                              <p:anim calcmode="lin" valueType="num">
                                <p:cBhvr>
                                  <p:cTn id="174" dur="500"/>
                                  <p:tgtEl>
                                    <p:spTgt spid="16"/>
                                  </p:tgtEl>
                                  <p:attrNameLst>
                                    <p:attrName>style.opacity</p:attrName>
                                  </p:attrNameLst>
                                </p:cBhvr>
                                <p:tavLst>
                                  <p:tav tm="0">
                                    <p:val>
                                      <p:fltVal val="0"/>
                                    </p:val>
                                  </p:tav>
                                  <p:tav tm="100000">
                                    <p:val>
                                      <p:fltVal val="1"/>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Swahilipot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Swahilipot Management System Enhancements</dc:title>
  <dc:subject>Swahilipot Management System Enhancement Presentation</dc:subject>
  <dc:creator>TRAE</dc:creator>
  <cp:lastModifiedBy>TRAE</cp:lastModifiedBy>
  <cp:revision>1</cp:revision>
  <dcterms:created xsi:type="dcterms:W3CDTF">2026-06-14T18:15:01Z</dcterms:created>
  <dcterms:modified xsi:type="dcterms:W3CDTF">2026-06-14T18:15:01Z</dcterms:modified>
</cp:coreProperties>
</file>